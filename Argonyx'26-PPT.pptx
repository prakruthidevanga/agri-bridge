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Lst>
  <p:sldSz cx="18288000" cy="10287000"/>
  <p:notesSz cx="6858000" cy="9144000"/>
  <p:embeddedFontLst>
    <p:embeddedFont>
      <p:font typeface="Mokoto" charset="1" panose="00000000000000000000"/>
      <p:regular r:id="rId15"/>
    </p:embeddedFont>
    <p:embeddedFont>
      <p:font typeface="Public Sans" charset="1" panose="00000000000000000000"/>
      <p:regular r:id="rId16"/>
    </p:embeddedFont>
    <p:embeddedFont>
      <p:font typeface="Public Sans Bold" charset="1" panose="00000000000000000000"/>
      <p:regular r:id="rId17"/>
    </p:embeddedFont>
    <p:embeddedFont>
      <p:font typeface="Montserrat Bold" charset="1" panose="00000800000000000000"/>
      <p:regular r:id="rId18"/>
    </p:embeddedFont>
    <p:embeddedFont>
      <p:font typeface="Bicubik" charset="1" panose="02000503020000020004"/>
      <p:regular r:id="rId19"/>
    </p:embeddedFont>
    <p:embeddedFont>
      <p:font typeface="Montserrat" charset="1" panose="00000500000000000000"/>
      <p:regular r:id="rId20"/>
    </p:embeddedFont>
    <p:embeddedFont>
      <p:font typeface="Glacial Indifference" charset="1" panose="00000000000000000000"/>
      <p:regular r:id="rId21"/>
    </p:embeddedFont>
    <p:embeddedFont>
      <p:font typeface="Glacial Indifference Bold" charset="1" panose="00000800000000000000"/>
      <p:regular r:id="rId22"/>
    </p:embeddedFont>
    <p:embeddedFont>
      <p:font typeface="Glacial Indifference Bold Italics" charset="1" panose="0000080000000000000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fonts/font15.fntdata" Type="http://schemas.openxmlformats.org/officeDocument/2006/relationships/font"/><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19" Target="fonts/font19.fntdata" Type="http://schemas.openxmlformats.org/officeDocument/2006/relationships/font"/><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7.png" Type="http://schemas.openxmlformats.org/officeDocument/2006/relationships/image"/><Relationship Id="rId4" Target="../media/image6.png" Type="http://schemas.openxmlformats.org/officeDocument/2006/relationships/image"/><Relationship Id="rId5" Target="../media/image3.png" Type="http://schemas.openxmlformats.org/officeDocument/2006/relationships/image"/><Relationship Id="rId6" Target="../media/image4.png" Type="http://schemas.openxmlformats.org/officeDocument/2006/relationships/image"/><Relationship Id="rId7" Target="../media/image5.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7.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7.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7.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7.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7.png" Type="http://schemas.openxmlformats.org/officeDocument/2006/relationships/image"/><Relationship Id="rId4" Target="../media/image3.pn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png" Type="http://schemas.openxmlformats.org/officeDocument/2006/relationships/image"/><Relationship Id="rId11" Target="../media/image6.png" Type="http://schemas.openxmlformats.org/officeDocument/2006/relationships/image"/><Relationship Id="rId2" Target="../media/image1.png" Type="http://schemas.openxmlformats.org/officeDocument/2006/relationships/image"/><Relationship Id="rId3" Target="../media/image7.pn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10.png" Type="http://schemas.openxmlformats.org/officeDocument/2006/relationships/image"/><Relationship Id="rId7" Target="../media/image3.png" Type="http://schemas.openxmlformats.org/officeDocument/2006/relationships/image"/><Relationship Id="rId8" Target="../media/image4.png" Type="http://schemas.openxmlformats.org/officeDocument/2006/relationships/image"/><Relationship Id="rId9" Target="../media/image5.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12.png" Type="http://schemas.openxmlformats.org/officeDocument/2006/relationships/image"/><Relationship Id="rId4" Target="../media/image8.png" Type="http://schemas.openxmlformats.org/officeDocument/2006/relationships/image"/><Relationship Id="rId5" Target="../media/image9.svg" Type="http://schemas.openxmlformats.org/officeDocument/2006/relationships/image"/><Relationship Id="rId6" Target="../media/image3.png" Type="http://schemas.openxmlformats.org/officeDocument/2006/relationships/image"/><Relationship Id="rId7" Target="../media/image4.png" Type="http://schemas.openxmlformats.org/officeDocument/2006/relationships/image"/><Relationship Id="rId8" Target="../media/image5.png" Type="http://schemas.openxmlformats.org/officeDocument/2006/relationships/image"/><Relationship Id="rId9" Target="../media/image6.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74252" cy="10279267"/>
          </a:xfrm>
          <a:custGeom>
            <a:avLst/>
            <a:gdLst/>
            <a:ahLst/>
            <a:cxnLst/>
            <a:rect r="r" b="b" t="t" l="l"/>
            <a:pathLst>
              <a:path h="10279267" w="18274252">
                <a:moveTo>
                  <a:pt x="0" y="0"/>
                </a:moveTo>
                <a:lnTo>
                  <a:pt x="18274252" y="0"/>
                </a:lnTo>
                <a:lnTo>
                  <a:pt x="18274252" y="10279267"/>
                </a:lnTo>
                <a:lnTo>
                  <a:pt x="0" y="10279267"/>
                </a:lnTo>
                <a:lnTo>
                  <a:pt x="0" y="0"/>
                </a:lnTo>
                <a:close/>
              </a:path>
            </a:pathLst>
          </a:custGeom>
          <a:blipFill>
            <a:blip r:embed="rId2"/>
            <a:stretch>
              <a:fillRect l="0" t="0" r="0" b="0"/>
            </a:stretch>
          </a:blipFill>
        </p:spPr>
      </p:sp>
      <p:grpSp>
        <p:nvGrpSpPr>
          <p:cNvPr name="Group 3" id="3"/>
          <p:cNvGrpSpPr/>
          <p:nvPr/>
        </p:nvGrpSpPr>
        <p:grpSpPr>
          <a:xfrm rot="0">
            <a:off x="1866184" y="2811693"/>
            <a:ext cx="14541884" cy="6485025"/>
            <a:chOff x="0" y="0"/>
            <a:chExt cx="3829961" cy="1707990"/>
          </a:xfrm>
        </p:grpSpPr>
        <p:sp>
          <p:nvSpPr>
            <p:cNvPr name="Freeform 4" id="4"/>
            <p:cNvSpPr/>
            <p:nvPr/>
          </p:nvSpPr>
          <p:spPr>
            <a:xfrm flipH="false" flipV="false" rot="0">
              <a:off x="0" y="0"/>
              <a:ext cx="3829961" cy="1707990"/>
            </a:xfrm>
            <a:custGeom>
              <a:avLst/>
              <a:gdLst/>
              <a:ahLst/>
              <a:cxnLst/>
              <a:rect r="r" b="b" t="t" l="l"/>
              <a:pathLst>
                <a:path h="1707990" w="3829961">
                  <a:moveTo>
                    <a:pt x="27152" y="0"/>
                  </a:moveTo>
                  <a:lnTo>
                    <a:pt x="3802809" y="0"/>
                  </a:lnTo>
                  <a:cubicBezTo>
                    <a:pt x="3810010" y="0"/>
                    <a:pt x="3816917" y="2861"/>
                    <a:pt x="3822009" y="7953"/>
                  </a:cubicBezTo>
                  <a:cubicBezTo>
                    <a:pt x="3827101" y="13045"/>
                    <a:pt x="3829961" y="19951"/>
                    <a:pt x="3829961" y="27152"/>
                  </a:cubicBezTo>
                  <a:lnTo>
                    <a:pt x="3829961" y="1680838"/>
                  </a:lnTo>
                  <a:cubicBezTo>
                    <a:pt x="3829961" y="1695834"/>
                    <a:pt x="3817805" y="1707990"/>
                    <a:pt x="3802809" y="1707990"/>
                  </a:cubicBezTo>
                  <a:lnTo>
                    <a:pt x="27152" y="1707990"/>
                  </a:lnTo>
                  <a:cubicBezTo>
                    <a:pt x="12156" y="1707990"/>
                    <a:pt x="0" y="1695834"/>
                    <a:pt x="0" y="1680838"/>
                  </a:cubicBezTo>
                  <a:lnTo>
                    <a:pt x="0" y="27152"/>
                  </a:lnTo>
                  <a:cubicBezTo>
                    <a:pt x="0" y="12156"/>
                    <a:pt x="12156" y="0"/>
                    <a:pt x="27152" y="0"/>
                  </a:cubicBezTo>
                  <a:close/>
                </a:path>
              </a:pathLst>
            </a:custGeom>
            <a:solidFill>
              <a:srgbClr val="C8A76A"/>
            </a:solidFill>
            <a:ln w="76200" cap="rnd">
              <a:solidFill>
                <a:srgbClr val="FFFFFF"/>
              </a:solidFill>
              <a:prstDash val="solid"/>
              <a:round/>
            </a:ln>
          </p:spPr>
        </p:sp>
        <p:sp>
          <p:nvSpPr>
            <p:cNvPr name="TextBox 5" id="5"/>
            <p:cNvSpPr txBox="true"/>
            <p:nvPr/>
          </p:nvSpPr>
          <p:spPr>
            <a:xfrm>
              <a:off x="0" y="-38100"/>
              <a:ext cx="3829961" cy="1746090"/>
            </a:xfrm>
            <a:prstGeom prst="rect">
              <a:avLst/>
            </a:prstGeom>
          </p:spPr>
          <p:txBody>
            <a:bodyPr anchor="ctr" rtlCol="false" tIns="50800" lIns="50800" bIns="50800" rIns="50800"/>
            <a:lstStyle/>
            <a:p>
              <a:pPr algn="ctr">
                <a:lnSpc>
                  <a:spcPts val="3499"/>
                </a:lnSpc>
              </a:pPr>
            </a:p>
          </p:txBody>
        </p:sp>
      </p:grpSp>
      <p:sp>
        <p:nvSpPr>
          <p:cNvPr name="TextBox 6" id="6"/>
          <p:cNvSpPr txBox="true"/>
          <p:nvPr/>
        </p:nvSpPr>
        <p:spPr>
          <a:xfrm rot="0">
            <a:off x="4015085" y="1032419"/>
            <a:ext cx="8933150" cy="1153798"/>
          </a:xfrm>
          <a:prstGeom prst="rect">
            <a:avLst/>
          </a:prstGeom>
        </p:spPr>
        <p:txBody>
          <a:bodyPr anchor="t" rtlCol="false" tIns="0" lIns="0" bIns="0" rIns="0">
            <a:spAutoFit/>
          </a:bodyPr>
          <a:lstStyle/>
          <a:p>
            <a:pPr algn="ctr">
              <a:lnSpc>
                <a:spcPts val="9379"/>
              </a:lnSpc>
              <a:spcBef>
                <a:spcPct val="0"/>
              </a:spcBef>
            </a:pPr>
            <a:r>
              <a:rPr lang="en-US" sz="6699">
                <a:solidFill>
                  <a:srgbClr val="182D36"/>
                </a:solidFill>
                <a:latin typeface="Mokoto"/>
                <a:ea typeface="Mokoto"/>
                <a:cs typeface="Mokoto"/>
                <a:sym typeface="Mokoto"/>
              </a:rPr>
              <a:t>Argonyx'26</a:t>
            </a:r>
          </a:p>
        </p:txBody>
      </p:sp>
      <p:sp>
        <p:nvSpPr>
          <p:cNvPr name="Freeform 7" id="7"/>
          <p:cNvSpPr/>
          <p:nvPr/>
        </p:nvSpPr>
        <p:spPr>
          <a:xfrm flipH="false" flipV="false" rot="0">
            <a:off x="0" y="9729858"/>
            <a:ext cx="18288000" cy="665866"/>
          </a:xfrm>
          <a:custGeom>
            <a:avLst/>
            <a:gdLst/>
            <a:ahLst/>
            <a:cxnLst/>
            <a:rect r="r" b="b" t="t" l="l"/>
            <a:pathLst>
              <a:path h="665866" w="18288000">
                <a:moveTo>
                  <a:pt x="0" y="0"/>
                </a:moveTo>
                <a:lnTo>
                  <a:pt x="18288000" y="0"/>
                </a:lnTo>
                <a:lnTo>
                  <a:pt x="18288000" y="665866"/>
                </a:lnTo>
                <a:lnTo>
                  <a:pt x="0" y="665866"/>
                </a:lnTo>
                <a:lnTo>
                  <a:pt x="0" y="0"/>
                </a:lnTo>
                <a:close/>
              </a:path>
            </a:pathLst>
          </a:custGeom>
          <a:blipFill>
            <a:blip r:embed="rId3"/>
            <a:stretch>
              <a:fillRect l="0" t="-20379" r="0" b="-20379"/>
            </a:stretch>
          </a:blipFill>
        </p:spPr>
      </p:sp>
      <p:sp>
        <p:nvSpPr>
          <p:cNvPr name="TextBox 8" id="8"/>
          <p:cNvSpPr txBox="true"/>
          <p:nvPr/>
        </p:nvSpPr>
        <p:spPr>
          <a:xfrm rot="0">
            <a:off x="4179997" y="2214792"/>
            <a:ext cx="8768239" cy="596901"/>
          </a:xfrm>
          <a:prstGeom prst="rect">
            <a:avLst/>
          </a:prstGeom>
        </p:spPr>
        <p:txBody>
          <a:bodyPr anchor="t" rtlCol="false" tIns="0" lIns="0" bIns="0" rIns="0">
            <a:spAutoFit/>
          </a:bodyPr>
          <a:lstStyle/>
          <a:p>
            <a:pPr algn="ctr">
              <a:lnSpc>
                <a:spcPts val="4899"/>
              </a:lnSpc>
              <a:spcBef>
                <a:spcPct val="0"/>
              </a:spcBef>
            </a:pPr>
            <a:r>
              <a:rPr lang="en-US" sz="3499">
                <a:solidFill>
                  <a:srgbClr val="182D36"/>
                </a:solidFill>
                <a:latin typeface="Mokoto"/>
                <a:ea typeface="Mokoto"/>
                <a:cs typeface="Mokoto"/>
                <a:sym typeface="Mokoto"/>
              </a:rPr>
              <a:t>PPT Submission Guidelines</a:t>
            </a:r>
          </a:p>
        </p:txBody>
      </p:sp>
      <p:sp>
        <p:nvSpPr>
          <p:cNvPr name="TextBox 9" id="9"/>
          <p:cNvSpPr txBox="true"/>
          <p:nvPr/>
        </p:nvSpPr>
        <p:spPr>
          <a:xfrm rot="0">
            <a:off x="2458122" y="2954561"/>
            <a:ext cx="7737748" cy="6142139"/>
          </a:xfrm>
          <a:prstGeom prst="rect">
            <a:avLst/>
          </a:prstGeom>
        </p:spPr>
        <p:txBody>
          <a:bodyPr anchor="t" rtlCol="false" tIns="0" lIns="0" bIns="0" rIns="0">
            <a:spAutoFit/>
          </a:bodyPr>
          <a:lstStyle/>
          <a:p>
            <a:pPr algn="l">
              <a:lnSpc>
                <a:spcPts val="3231"/>
              </a:lnSpc>
              <a:spcBef>
                <a:spcPct val="0"/>
              </a:spcBef>
            </a:pPr>
            <a:r>
              <a:rPr lang="en-US" sz="2308">
                <a:solidFill>
                  <a:srgbClr val="000000"/>
                </a:solidFill>
                <a:latin typeface="Public Sans"/>
                <a:ea typeface="Public Sans"/>
                <a:cs typeface="Public Sans"/>
                <a:sym typeface="Public Sans"/>
              </a:rPr>
              <a:t>1</a:t>
            </a:r>
            <a:r>
              <a:rPr lang="en-US" b="true" sz="2308">
                <a:solidFill>
                  <a:srgbClr val="000000"/>
                </a:solidFill>
                <a:latin typeface="Public Sans Bold"/>
                <a:ea typeface="Public Sans Bold"/>
                <a:cs typeface="Public Sans Bold"/>
                <a:sym typeface="Public Sans Bold"/>
              </a:rPr>
              <a:t>. Enter Team Details Carefully </a:t>
            </a:r>
          </a:p>
          <a:p>
            <a:pPr algn="l">
              <a:lnSpc>
                <a:spcPts val="3231"/>
              </a:lnSpc>
              <a:spcBef>
                <a:spcPct val="0"/>
              </a:spcBef>
            </a:pPr>
            <a:r>
              <a:rPr lang="en-US" sz="2308">
                <a:solidFill>
                  <a:srgbClr val="000000"/>
                </a:solidFill>
                <a:latin typeface="Public Sans"/>
                <a:ea typeface="Public Sans"/>
                <a:cs typeface="Public Sans"/>
                <a:sym typeface="Public Sans"/>
              </a:rPr>
              <a:t>Ensure correct team name, member info, and</a:t>
            </a:r>
          </a:p>
          <a:p>
            <a:pPr algn="l">
              <a:lnSpc>
                <a:spcPts val="3231"/>
              </a:lnSpc>
              <a:spcBef>
                <a:spcPct val="0"/>
              </a:spcBef>
            </a:pPr>
            <a:r>
              <a:rPr lang="en-US" sz="2308">
                <a:solidFill>
                  <a:srgbClr val="000000"/>
                </a:solidFill>
                <a:latin typeface="Public Sans"/>
                <a:ea typeface="Public Sans"/>
                <a:cs typeface="Public Sans"/>
                <a:sym typeface="Public Sans"/>
              </a:rPr>
              <a:t>contacts (used for communication &amp; shortlisting).</a:t>
            </a:r>
          </a:p>
          <a:p>
            <a:pPr algn="l">
              <a:lnSpc>
                <a:spcPts val="3231"/>
              </a:lnSpc>
              <a:spcBef>
                <a:spcPct val="0"/>
              </a:spcBef>
            </a:pPr>
          </a:p>
          <a:p>
            <a:pPr algn="l">
              <a:lnSpc>
                <a:spcPts val="3231"/>
              </a:lnSpc>
              <a:spcBef>
                <a:spcPct val="0"/>
              </a:spcBef>
            </a:pPr>
            <a:r>
              <a:rPr lang="en-US" b="true" sz="2308">
                <a:solidFill>
                  <a:srgbClr val="000000"/>
                </a:solidFill>
                <a:latin typeface="Public Sans Bold"/>
                <a:ea typeface="Public Sans Bold"/>
                <a:cs typeface="Public Sans Bold"/>
                <a:sym typeface="Public Sans Bold"/>
              </a:rPr>
              <a:t>2. Use the Given Template</a:t>
            </a:r>
          </a:p>
          <a:p>
            <a:pPr algn="l">
              <a:lnSpc>
                <a:spcPts val="3231"/>
              </a:lnSpc>
              <a:spcBef>
                <a:spcPct val="0"/>
              </a:spcBef>
            </a:pPr>
            <a:r>
              <a:rPr lang="en-US" sz="2308">
                <a:solidFill>
                  <a:srgbClr val="000000"/>
                </a:solidFill>
                <a:latin typeface="Public Sans"/>
                <a:ea typeface="Public Sans"/>
                <a:cs typeface="Public Sans"/>
                <a:sym typeface="Public Sans"/>
              </a:rPr>
              <a:t>Stick to 6 slides (Slides 1–6). No extra slides like</a:t>
            </a:r>
          </a:p>
          <a:p>
            <a:pPr algn="l">
              <a:lnSpc>
                <a:spcPts val="3231"/>
              </a:lnSpc>
              <a:spcBef>
                <a:spcPct val="0"/>
              </a:spcBef>
            </a:pPr>
            <a:r>
              <a:rPr lang="en-US" sz="2308">
                <a:solidFill>
                  <a:srgbClr val="000000"/>
                </a:solidFill>
                <a:latin typeface="Public Sans"/>
                <a:ea typeface="Public Sans"/>
                <a:cs typeface="Public Sans"/>
                <a:sym typeface="Public Sans"/>
              </a:rPr>
              <a:t>“Thank You.”</a:t>
            </a:r>
          </a:p>
          <a:p>
            <a:pPr algn="l">
              <a:lnSpc>
                <a:spcPts val="3231"/>
              </a:lnSpc>
              <a:spcBef>
                <a:spcPct val="0"/>
              </a:spcBef>
            </a:pPr>
          </a:p>
          <a:p>
            <a:pPr algn="l">
              <a:lnSpc>
                <a:spcPts val="3231"/>
              </a:lnSpc>
              <a:spcBef>
                <a:spcPct val="0"/>
              </a:spcBef>
            </a:pPr>
            <a:r>
              <a:rPr lang="en-US" b="true" sz="2308">
                <a:solidFill>
                  <a:srgbClr val="000000"/>
                </a:solidFill>
                <a:latin typeface="Public Sans Bold"/>
                <a:ea typeface="Public Sans Bold"/>
                <a:cs typeface="Public Sans Bold"/>
                <a:sym typeface="Public Sans Bold"/>
              </a:rPr>
              <a:t>3. Focus on Problem + Idea + Feasibility </a:t>
            </a:r>
          </a:p>
          <a:p>
            <a:pPr algn="l">
              <a:lnSpc>
                <a:spcPts val="3231"/>
              </a:lnSpc>
              <a:spcBef>
                <a:spcPct val="0"/>
              </a:spcBef>
            </a:pPr>
            <a:r>
              <a:rPr lang="en-US" sz="2308">
                <a:solidFill>
                  <a:srgbClr val="000000"/>
                </a:solidFill>
                <a:latin typeface="Public Sans"/>
                <a:ea typeface="Public Sans"/>
                <a:cs typeface="Public Sans"/>
                <a:sym typeface="Public Sans"/>
              </a:rPr>
              <a:t>Judges look for clear problem definition, meaningful idea,and realistic 15-hour execution.</a:t>
            </a:r>
          </a:p>
          <a:p>
            <a:pPr algn="l">
              <a:lnSpc>
                <a:spcPts val="3231"/>
              </a:lnSpc>
              <a:spcBef>
                <a:spcPct val="0"/>
              </a:spcBef>
            </a:pPr>
          </a:p>
          <a:p>
            <a:pPr algn="l">
              <a:lnSpc>
                <a:spcPts val="3231"/>
              </a:lnSpc>
              <a:spcBef>
                <a:spcPct val="0"/>
              </a:spcBef>
            </a:pPr>
            <a:r>
              <a:rPr lang="en-US" b="true" sz="2308">
                <a:solidFill>
                  <a:srgbClr val="000000"/>
                </a:solidFill>
                <a:latin typeface="Public Sans Bold"/>
                <a:ea typeface="Public Sans Bold"/>
                <a:cs typeface="Public Sans Bold"/>
                <a:sym typeface="Public Sans Bold"/>
              </a:rPr>
              <a:t>4. Add Visuals</a:t>
            </a:r>
          </a:p>
          <a:p>
            <a:pPr algn="l">
              <a:lnSpc>
                <a:spcPts val="3231"/>
              </a:lnSpc>
              <a:spcBef>
                <a:spcPct val="0"/>
              </a:spcBef>
            </a:pPr>
            <a:r>
              <a:rPr lang="en-US" sz="2308">
                <a:solidFill>
                  <a:srgbClr val="000000"/>
                </a:solidFill>
                <a:latin typeface="Public Sans"/>
                <a:ea typeface="Public Sans"/>
                <a:cs typeface="Public Sans"/>
                <a:sym typeface="Public Sans"/>
              </a:rPr>
              <a:t>At least one diagram/flow/mockup. Simple</a:t>
            </a:r>
          </a:p>
          <a:p>
            <a:pPr algn="l">
              <a:lnSpc>
                <a:spcPts val="3231"/>
              </a:lnSpc>
              <a:spcBef>
                <a:spcPct val="0"/>
              </a:spcBef>
            </a:pPr>
            <a:r>
              <a:rPr lang="en-US" sz="2308">
                <a:solidFill>
                  <a:srgbClr val="000000"/>
                </a:solidFill>
                <a:latin typeface="Public Sans"/>
                <a:ea typeface="Public Sans"/>
                <a:cs typeface="Public Sans"/>
                <a:sym typeface="Public Sans"/>
              </a:rPr>
              <a:t>sketches are fine and make the idea clear.</a:t>
            </a:r>
          </a:p>
        </p:txBody>
      </p:sp>
      <p:sp>
        <p:nvSpPr>
          <p:cNvPr name="TextBox 10" id="10"/>
          <p:cNvSpPr txBox="true"/>
          <p:nvPr/>
        </p:nvSpPr>
        <p:spPr>
          <a:xfrm rot="0">
            <a:off x="9947086" y="3326021"/>
            <a:ext cx="6002298" cy="5322951"/>
          </a:xfrm>
          <a:prstGeom prst="rect">
            <a:avLst/>
          </a:prstGeom>
        </p:spPr>
        <p:txBody>
          <a:bodyPr anchor="t" rtlCol="false" tIns="0" lIns="0" bIns="0" rIns="0">
            <a:spAutoFit/>
          </a:bodyPr>
          <a:lstStyle/>
          <a:p>
            <a:pPr algn="l">
              <a:lnSpc>
                <a:spcPts val="3234"/>
              </a:lnSpc>
            </a:pPr>
            <a:r>
              <a:rPr lang="en-US" b="true" sz="2310">
                <a:solidFill>
                  <a:srgbClr val="000000"/>
                </a:solidFill>
                <a:latin typeface="Public Sans Bold"/>
                <a:ea typeface="Public Sans Bold"/>
                <a:cs typeface="Public Sans Bold"/>
                <a:sym typeface="Public Sans Bold"/>
              </a:rPr>
              <a:t>5. Pitch, Don’t Dump</a:t>
            </a:r>
          </a:p>
          <a:p>
            <a:pPr algn="l">
              <a:lnSpc>
                <a:spcPts val="3234"/>
              </a:lnSpc>
            </a:pPr>
            <a:r>
              <a:rPr lang="en-US" sz="2310">
                <a:solidFill>
                  <a:srgbClr val="000000"/>
                </a:solidFill>
                <a:latin typeface="Public Sans"/>
                <a:ea typeface="Public Sans"/>
                <a:cs typeface="Public Sans"/>
                <a:sym typeface="Public Sans"/>
              </a:rPr>
              <a:t>Max 6 slides. Keep text minimal, use visuals,</a:t>
            </a:r>
          </a:p>
          <a:p>
            <a:pPr algn="l">
              <a:lnSpc>
                <a:spcPts val="3234"/>
              </a:lnSpc>
            </a:pPr>
            <a:r>
              <a:rPr lang="en-US" sz="2310">
                <a:solidFill>
                  <a:srgbClr val="000000"/>
                </a:solidFill>
                <a:latin typeface="Public Sans"/>
                <a:ea typeface="Public Sans"/>
                <a:cs typeface="Public Sans"/>
                <a:sym typeface="Public Sans"/>
              </a:rPr>
              <a:t>highlight only key points.</a:t>
            </a:r>
          </a:p>
          <a:p>
            <a:pPr algn="l">
              <a:lnSpc>
                <a:spcPts val="3234"/>
              </a:lnSpc>
            </a:pPr>
          </a:p>
          <a:p>
            <a:pPr algn="l">
              <a:lnSpc>
                <a:spcPts val="3234"/>
              </a:lnSpc>
            </a:pPr>
            <a:r>
              <a:rPr lang="en-US" b="true" sz="2310">
                <a:solidFill>
                  <a:srgbClr val="000000"/>
                </a:solidFill>
                <a:latin typeface="Public Sans Bold"/>
                <a:ea typeface="Public Sans Bold"/>
                <a:cs typeface="Public Sans Bold"/>
                <a:sym typeface="Public Sans Bold"/>
              </a:rPr>
              <a:t>6. Submission</a:t>
            </a:r>
          </a:p>
          <a:p>
            <a:pPr algn="l">
              <a:lnSpc>
                <a:spcPts val="3234"/>
              </a:lnSpc>
            </a:pPr>
            <a:r>
              <a:rPr lang="en-US" sz="2310">
                <a:solidFill>
                  <a:srgbClr val="000000"/>
                </a:solidFill>
                <a:latin typeface="Public Sans"/>
                <a:ea typeface="Public Sans"/>
                <a:cs typeface="Public Sans"/>
                <a:sym typeface="Public Sans"/>
              </a:rPr>
              <a:t>Submit as PDF. Rename as</a:t>
            </a:r>
          </a:p>
          <a:p>
            <a:pPr algn="l">
              <a:lnSpc>
                <a:spcPts val="3234"/>
              </a:lnSpc>
            </a:pPr>
            <a:r>
              <a:rPr lang="en-US" sz="2310">
                <a:solidFill>
                  <a:srgbClr val="000000"/>
                </a:solidFill>
                <a:latin typeface="Public Sans"/>
                <a:ea typeface="Public Sans"/>
                <a:cs typeface="Public Sans"/>
                <a:sym typeface="Public Sans"/>
              </a:rPr>
              <a:t>TeamName_TeamLeadFirstName.pdf before</a:t>
            </a:r>
          </a:p>
          <a:p>
            <a:pPr algn="l">
              <a:lnSpc>
                <a:spcPts val="3234"/>
              </a:lnSpc>
            </a:pPr>
            <a:r>
              <a:rPr lang="en-US" sz="2310">
                <a:solidFill>
                  <a:srgbClr val="000000"/>
                </a:solidFill>
                <a:latin typeface="Public Sans"/>
                <a:ea typeface="Public Sans"/>
                <a:cs typeface="Public Sans"/>
                <a:sym typeface="Public Sans"/>
              </a:rPr>
              <a:t>upload.</a:t>
            </a:r>
          </a:p>
          <a:p>
            <a:pPr algn="l">
              <a:lnSpc>
                <a:spcPts val="3234"/>
              </a:lnSpc>
            </a:pPr>
          </a:p>
          <a:p>
            <a:pPr algn="l">
              <a:lnSpc>
                <a:spcPts val="3234"/>
              </a:lnSpc>
            </a:pPr>
            <a:r>
              <a:rPr lang="en-US" b="true" sz="2310">
                <a:solidFill>
                  <a:srgbClr val="000000"/>
                </a:solidFill>
                <a:latin typeface="Public Sans Bold"/>
                <a:ea typeface="Public Sans Bold"/>
                <a:cs typeface="Public Sans Bold"/>
                <a:sym typeface="Public Sans Bold"/>
              </a:rPr>
              <a:t>7. Think Like a Founder</a:t>
            </a:r>
          </a:p>
          <a:p>
            <a:pPr algn="l">
              <a:lnSpc>
                <a:spcPts val="3234"/>
              </a:lnSpc>
            </a:pPr>
            <a:r>
              <a:rPr lang="en-US" sz="2310">
                <a:solidFill>
                  <a:srgbClr val="000000"/>
                </a:solidFill>
                <a:latin typeface="Public Sans"/>
                <a:ea typeface="Public Sans"/>
                <a:cs typeface="Public Sans"/>
                <a:sym typeface="Public Sans"/>
              </a:rPr>
              <a:t>Show why it matters, who it helps, and the</a:t>
            </a:r>
          </a:p>
          <a:p>
            <a:pPr algn="l">
              <a:lnSpc>
                <a:spcPts val="3234"/>
              </a:lnSpc>
            </a:pPr>
            <a:r>
              <a:rPr lang="en-US" sz="2310">
                <a:solidFill>
                  <a:srgbClr val="000000"/>
                </a:solidFill>
                <a:latin typeface="Public Sans"/>
                <a:ea typeface="Public Sans"/>
                <a:cs typeface="Public Sans"/>
                <a:sym typeface="Public Sans"/>
              </a:rPr>
              <a:t>impact. Combine creativity, feasibility, and</a:t>
            </a:r>
          </a:p>
          <a:p>
            <a:pPr algn="l">
              <a:lnSpc>
                <a:spcPts val="3234"/>
              </a:lnSpc>
            </a:pPr>
            <a:r>
              <a:rPr lang="en-US" sz="2310">
                <a:solidFill>
                  <a:srgbClr val="000000"/>
                </a:solidFill>
                <a:latin typeface="Public Sans"/>
                <a:ea typeface="Public Sans"/>
                <a:cs typeface="Public Sans"/>
                <a:sym typeface="Public Sans"/>
              </a:rPr>
              <a:t>vision.</a:t>
            </a:r>
          </a:p>
        </p:txBody>
      </p:sp>
      <p:sp>
        <p:nvSpPr>
          <p:cNvPr name="TextBox 11" id="11"/>
          <p:cNvSpPr txBox="true"/>
          <p:nvPr/>
        </p:nvSpPr>
        <p:spPr>
          <a:xfrm rot="0">
            <a:off x="4752947" y="9348213"/>
            <a:ext cx="8768358" cy="381645"/>
          </a:xfrm>
          <a:prstGeom prst="rect">
            <a:avLst/>
          </a:prstGeom>
        </p:spPr>
        <p:txBody>
          <a:bodyPr anchor="t" rtlCol="false" tIns="0" lIns="0" bIns="0" rIns="0">
            <a:spAutoFit/>
          </a:bodyPr>
          <a:lstStyle/>
          <a:p>
            <a:pPr algn="ctr">
              <a:lnSpc>
                <a:spcPts val="3114"/>
              </a:lnSpc>
              <a:spcBef>
                <a:spcPct val="0"/>
              </a:spcBef>
            </a:pPr>
            <a:r>
              <a:rPr lang="en-US" b="true" sz="2224">
                <a:solidFill>
                  <a:srgbClr val="FF3131"/>
                </a:solidFill>
                <a:latin typeface="Montserrat Bold"/>
                <a:ea typeface="Montserrat Bold"/>
                <a:cs typeface="Montserrat Bold"/>
                <a:sym typeface="Montserrat Bold"/>
              </a:rPr>
              <a:t>*Delete this slide bef</a:t>
            </a:r>
            <a:r>
              <a:rPr lang="en-US" b="true" sz="2224">
                <a:solidFill>
                  <a:srgbClr val="FF3131"/>
                </a:solidFill>
                <a:latin typeface="Montserrat Bold"/>
                <a:ea typeface="Montserrat Bold"/>
                <a:cs typeface="Montserrat Bold"/>
                <a:sym typeface="Montserrat Bold"/>
              </a:rPr>
              <a:t>ore submission; it is only for reference.</a:t>
            </a:r>
          </a:p>
        </p:txBody>
      </p:sp>
      <p:grpSp>
        <p:nvGrpSpPr>
          <p:cNvPr name="Group 12" id="12"/>
          <p:cNvGrpSpPr/>
          <p:nvPr/>
        </p:nvGrpSpPr>
        <p:grpSpPr>
          <a:xfrm rot="0">
            <a:off x="12685895" y="373031"/>
            <a:ext cx="5341043" cy="625068"/>
            <a:chOff x="0" y="0"/>
            <a:chExt cx="7121391" cy="833423"/>
          </a:xfrm>
        </p:grpSpPr>
        <p:sp>
          <p:nvSpPr>
            <p:cNvPr name="Freeform 13" id="13"/>
            <p:cNvSpPr/>
            <p:nvPr/>
          </p:nvSpPr>
          <p:spPr>
            <a:xfrm flipH="false" flipV="false" rot="0">
              <a:off x="4980572" y="0"/>
              <a:ext cx="2140819" cy="833423"/>
            </a:xfrm>
            <a:custGeom>
              <a:avLst/>
              <a:gdLst/>
              <a:ahLst/>
              <a:cxnLst/>
              <a:rect r="r" b="b" t="t" l="l"/>
              <a:pathLst>
                <a:path h="833423" w="2140819">
                  <a:moveTo>
                    <a:pt x="0" y="0"/>
                  </a:moveTo>
                  <a:lnTo>
                    <a:pt x="2140819" y="0"/>
                  </a:lnTo>
                  <a:lnTo>
                    <a:pt x="2140819" y="833423"/>
                  </a:lnTo>
                  <a:lnTo>
                    <a:pt x="0" y="833423"/>
                  </a:lnTo>
                  <a:lnTo>
                    <a:pt x="0" y="0"/>
                  </a:lnTo>
                  <a:close/>
                </a:path>
              </a:pathLst>
            </a:custGeom>
            <a:blipFill>
              <a:blip r:embed="rId4"/>
              <a:stretch>
                <a:fillRect l="0" t="-496" r="0" b="0"/>
              </a:stretch>
            </a:blipFill>
          </p:spPr>
        </p:sp>
        <p:sp>
          <p:nvSpPr>
            <p:cNvPr name="Freeform 14" id="14"/>
            <p:cNvSpPr/>
            <p:nvPr/>
          </p:nvSpPr>
          <p:spPr>
            <a:xfrm flipH="false" flipV="false" rot="0">
              <a:off x="0" y="0"/>
              <a:ext cx="1419945" cy="833423"/>
            </a:xfrm>
            <a:custGeom>
              <a:avLst/>
              <a:gdLst/>
              <a:ahLst/>
              <a:cxnLst/>
              <a:rect r="r" b="b" t="t" l="l"/>
              <a:pathLst>
                <a:path h="833423" w="1419945">
                  <a:moveTo>
                    <a:pt x="0" y="0"/>
                  </a:moveTo>
                  <a:lnTo>
                    <a:pt x="1419945" y="0"/>
                  </a:lnTo>
                  <a:lnTo>
                    <a:pt x="1419945" y="833423"/>
                  </a:lnTo>
                  <a:lnTo>
                    <a:pt x="0" y="833423"/>
                  </a:lnTo>
                  <a:lnTo>
                    <a:pt x="0" y="0"/>
                  </a:lnTo>
                  <a:close/>
                </a:path>
              </a:pathLst>
            </a:custGeom>
            <a:blipFill>
              <a:blip r:embed="rId5"/>
              <a:stretch>
                <a:fillRect l="-17178" t="-112928" r="-13043" b="-100926"/>
              </a:stretch>
            </a:blipFill>
          </p:spPr>
        </p:sp>
        <p:sp>
          <p:nvSpPr>
            <p:cNvPr name="Freeform 15" id="15"/>
            <p:cNvSpPr/>
            <p:nvPr/>
          </p:nvSpPr>
          <p:spPr>
            <a:xfrm flipH="false" flipV="false" rot="0">
              <a:off x="2007209" y="0"/>
              <a:ext cx="2391618" cy="833423"/>
            </a:xfrm>
            <a:custGeom>
              <a:avLst/>
              <a:gdLst/>
              <a:ahLst/>
              <a:cxnLst/>
              <a:rect r="r" b="b" t="t" l="l"/>
              <a:pathLst>
                <a:path h="833423" w="2391618">
                  <a:moveTo>
                    <a:pt x="0" y="0"/>
                  </a:moveTo>
                  <a:lnTo>
                    <a:pt x="2391618" y="0"/>
                  </a:lnTo>
                  <a:lnTo>
                    <a:pt x="2391618" y="833423"/>
                  </a:lnTo>
                  <a:lnTo>
                    <a:pt x="0" y="833423"/>
                  </a:lnTo>
                  <a:lnTo>
                    <a:pt x="0" y="0"/>
                  </a:lnTo>
                  <a:close/>
                </a:path>
              </a:pathLst>
            </a:custGeom>
            <a:blipFill>
              <a:blip r:embed="rId6"/>
              <a:stretch>
                <a:fillRect l="-11901" t="-120981" r="-6347" b="-118346"/>
              </a:stretch>
            </a:blipFill>
          </p:spPr>
        </p:sp>
        <p:sp>
          <p:nvSpPr>
            <p:cNvPr name="TextBox 16" id="16"/>
            <p:cNvSpPr txBox="true"/>
            <p:nvPr/>
          </p:nvSpPr>
          <p:spPr>
            <a:xfrm rot="0">
              <a:off x="1543820" y="241157"/>
              <a:ext cx="361740" cy="322535"/>
            </a:xfrm>
            <a:prstGeom prst="rect">
              <a:avLst/>
            </a:prstGeom>
          </p:spPr>
          <p:txBody>
            <a:bodyPr anchor="t" rtlCol="false" tIns="0" lIns="0" bIns="0" rIns="0">
              <a:spAutoFit/>
            </a:bodyPr>
            <a:lstStyle/>
            <a:p>
              <a:pPr algn="ctr">
                <a:lnSpc>
                  <a:spcPts val="2059"/>
                </a:lnSpc>
                <a:spcBef>
                  <a:spcPct val="0"/>
                </a:spcBef>
              </a:pPr>
              <a:r>
                <a:rPr lang="en-US" sz="1471">
                  <a:solidFill>
                    <a:srgbClr val="000000"/>
                  </a:solidFill>
                  <a:latin typeface="Bicubik"/>
                  <a:ea typeface="Bicubik"/>
                  <a:cs typeface="Bicubik"/>
                  <a:sym typeface="Bicubik"/>
                </a:rPr>
                <a:t>X</a:t>
              </a:r>
            </a:p>
          </p:txBody>
        </p:sp>
        <p:sp>
          <p:nvSpPr>
            <p:cNvPr name="TextBox 17" id="17"/>
            <p:cNvSpPr txBox="true"/>
            <p:nvPr/>
          </p:nvSpPr>
          <p:spPr>
            <a:xfrm rot="0">
              <a:off x="4398827" y="241157"/>
              <a:ext cx="361740" cy="322535"/>
            </a:xfrm>
            <a:prstGeom prst="rect">
              <a:avLst/>
            </a:prstGeom>
          </p:spPr>
          <p:txBody>
            <a:bodyPr anchor="t" rtlCol="false" tIns="0" lIns="0" bIns="0" rIns="0">
              <a:spAutoFit/>
            </a:bodyPr>
            <a:lstStyle/>
            <a:p>
              <a:pPr algn="ctr">
                <a:lnSpc>
                  <a:spcPts val="2059"/>
                </a:lnSpc>
                <a:spcBef>
                  <a:spcPct val="0"/>
                </a:spcBef>
              </a:pPr>
              <a:r>
                <a:rPr lang="en-US" sz="1471">
                  <a:solidFill>
                    <a:srgbClr val="000000"/>
                  </a:solidFill>
                  <a:latin typeface="Bicubik"/>
                  <a:ea typeface="Bicubik"/>
                  <a:cs typeface="Bicubik"/>
                  <a:sym typeface="Bicubik"/>
                </a:rPr>
                <a:t>X</a:t>
              </a:r>
            </a:p>
          </p:txBody>
        </p:sp>
      </p:grpSp>
      <p:sp>
        <p:nvSpPr>
          <p:cNvPr name="Freeform 18" id="18"/>
          <p:cNvSpPr/>
          <p:nvPr/>
        </p:nvSpPr>
        <p:spPr>
          <a:xfrm flipH="false" flipV="false" rot="0">
            <a:off x="168180" y="232318"/>
            <a:ext cx="2648848" cy="1379161"/>
          </a:xfrm>
          <a:custGeom>
            <a:avLst/>
            <a:gdLst/>
            <a:ahLst/>
            <a:cxnLst/>
            <a:rect r="r" b="b" t="t" l="l"/>
            <a:pathLst>
              <a:path h="1379161" w="2648848">
                <a:moveTo>
                  <a:pt x="0" y="0"/>
                </a:moveTo>
                <a:lnTo>
                  <a:pt x="2648848" y="0"/>
                </a:lnTo>
                <a:lnTo>
                  <a:pt x="2648848" y="1379162"/>
                </a:lnTo>
                <a:lnTo>
                  <a:pt x="0" y="1379162"/>
                </a:lnTo>
                <a:lnTo>
                  <a:pt x="0" y="0"/>
                </a:lnTo>
                <a:close/>
              </a:path>
            </a:pathLst>
          </a:custGeom>
          <a:blipFill>
            <a:blip r:embed="rId7"/>
            <a:stretch>
              <a:fillRect l="0" t="-9355"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74252" cy="10279267"/>
          </a:xfrm>
          <a:custGeom>
            <a:avLst/>
            <a:gdLst/>
            <a:ahLst/>
            <a:cxnLst/>
            <a:rect r="r" b="b" t="t" l="l"/>
            <a:pathLst>
              <a:path h="10279267" w="18274252">
                <a:moveTo>
                  <a:pt x="0" y="0"/>
                </a:moveTo>
                <a:lnTo>
                  <a:pt x="18274252" y="0"/>
                </a:lnTo>
                <a:lnTo>
                  <a:pt x="18274252" y="10279267"/>
                </a:lnTo>
                <a:lnTo>
                  <a:pt x="0" y="10279267"/>
                </a:lnTo>
                <a:lnTo>
                  <a:pt x="0" y="0"/>
                </a:lnTo>
                <a:close/>
              </a:path>
            </a:pathLst>
          </a:custGeom>
          <a:blipFill>
            <a:blip r:embed="rId2"/>
            <a:stretch>
              <a:fillRect l="0" t="0" r="0" b="0"/>
            </a:stretch>
          </a:blipFill>
        </p:spPr>
      </p:sp>
      <p:graphicFrame>
        <p:nvGraphicFramePr>
          <p:cNvPr name="Table 3" id="3"/>
          <p:cNvGraphicFramePr>
            <a:graphicFrameLocks noGrp="true"/>
          </p:cNvGraphicFramePr>
          <p:nvPr/>
        </p:nvGraphicFramePr>
        <p:xfrm>
          <a:off x="1827303" y="4671195"/>
          <a:ext cx="14619646" cy="5133975"/>
        </p:xfrm>
        <a:graphic>
          <a:graphicData uri="http://schemas.openxmlformats.org/drawingml/2006/table">
            <a:tbl>
              <a:tblPr/>
              <a:tblGrid>
                <a:gridCol w="3957774"/>
                <a:gridCol w="4140862"/>
                <a:gridCol w="6521010"/>
              </a:tblGrid>
              <a:tr h="1026795">
                <a:tc>
                  <a:txBody>
                    <a:bodyPr anchor="t" rtlCol="false"/>
                    <a:lstStyle/>
                    <a:p>
                      <a:pPr algn="ctr">
                        <a:lnSpc>
                          <a:spcPts val="2520"/>
                        </a:lnSpc>
                        <a:defRPr/>
                      </a:pPr>
                      <a:r>
                        <a:rPr lang="en-US" sz="1800" b="true">
                          <a:solidFill>
                            <a:srgbClr val="000000"/>
                          </a:solidFill>
                          <a:latin typeface="Montserrat Bold"/>
                          <a:ea typeface="Montserrat Bold"/>
                          <a:cs typeface="Montserrat Bold"/>
                          <a:sym typeface="Montserrat Bold"/>
                        </a:rPr>
                        <a:t>EMAIL</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CA863"/>
                    </a:solidFill>
                  </a:tcPr>
                </a:tc>
                <a:tc>
                  <a:txBody>
                    <a:bodyPr anchor="t" rtlCol="false"/>
                    <a:lstStyle/>
                    <a:p>
                      <a:pPr algn="ctr">
                        <a:lnSpc>
                          <a:spcPts val="2520"/>
                        </a:lnSpc>
                        <a:defRPr/>
                      </a:pPr>
                      <a:r>
                        <a:rPr lang="en-US" sz="1800" b="true">
                          <a:solidFill>
                            <a:srgbClr val="000000"/>
                          </a:solidFill>
                          <a:latin typeface="Montserrat Bold"/>
                          <a:ea typeface="Montserrat Bold"/>
                          <a:cs typeface="Montserrat Bold"/>
                          <a:sym typeface="Montserrat Bold"/>
                        </a:rPr>
                        <a:t>Name</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CA863"/>
                    </a:solidFill>
                  </a:tcPr>
                </a:tc>
                <a:tc>
                  <a:txBody>
                    <a:bodyPr anchor="t" rtlCol="false"/>
                    <a:lstStyle/>
                    <a:p>
                      <a:pPr algn="ctr">
                        <a:lnSpc>
                          <a:spcPts val="2520"/>
                        </a:lnSpc>
                        <a:defRPr/>
                      </a:pPr>
                      <a:r>
                        <a:rPr lang="en-US" sz="1800" b="true">
                          <a:solidFill>
                            <a:srgbClr val="000000"/>
                          </a:solidFill>
                          <a:latin typeface="Montserrat Bold"/>
                          <a:ea typeface="Montserrat Bold"/>
                          <a:cs typeface="Montserrat Bold"/>
                          <a:sym typeface="Montserrat Bold"/>
                        </a:rPr>
                        <a:t>USN</a:t>
                      </a: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CA863"/>
                    </a:solidFill>
                  </a:tcPr>
                </a:tc>
              </a:tr>
              <a:tr h="1026795">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CA863"/>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CA863"/>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CA863"/>
                    </a:solidFill>
                  </a:tcPr>
                </a:tc>
              </a:tr>
              <a:tr h="1026795">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CA863"/>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CA863"/>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CA863"/>
                    </a:solidFill>
                  </a:tcPr>
                </a:tc>
              </a:tr>
              <a:tr h="1026795">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CA863"/>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CA863"/>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CA863"/>
                    </a:solidFill>
                  </a:tcPr>
                </a:tc>
              </a:tr>
              <a:tr h="1026795">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CA863"/>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CA863"/>
                    </a:solidFill>
                  </a:tcPr>
                </a:tc>
                <a:tc>
                  <a:txBody>
                    <a:bodyPr anchor="t" rtlCol="false"/>
                    <a:lstStyle/>
                    <a:p>
                      <a:pPr algn="ctr">
                        <a:lnSpc>
                          <a:spcPts val="2520"/>
                        </a:lnSpc>
                        <a:defRPr/>
                      </a:pPr>
                      <a:endParaRPr lang="en-US" sz="1100"/>
                    </a:p>
                  </a:txBody>
                  <a:tcPr marL="190500" marR="190500" marT="190500" marB="190500" anchor="ctr">
                    <a:lnL cmpd="sng" algn="ctr" cap="flat" w="38100">
                      <a:solidFill>
                        <a:srgbClr val="000000"/>
                      </a:solidFill>
                      <a:prstDash val="solid"/>
                      <a:round/>
                      <a:headEnd type="none" w="med" len="med"/>
                      <a:tailEnd type="none" w="med" len="med"/>
                    </a:lnL>
                    <a:lnR cmpd="sng" algn="ctr" cap="flat" w="38100">
                      <a:solidFill>
                        <a:srgbClr val="000000"/>
                      </a:solidFill>
                      <a:prstDash val="solid"/>
                      <a:round/>
                      <a:headEnd type="none" w="med" len="med"/>
                      <a:tailEnd type="none" w="med" len="med"/>
                    </a:lnR>
                    <a:lnT cmpd="sng" algn="ctr" cap="flat" w="38100">
                      <a:solidFill>
                        <a:srgbClr val="000000"/>
                      </a:solidFill>
                      <a:prstDash val="solid"/>
                      <a:round/>
                      <a:headEnd type="none" w="med" len="med"/>
                      <a:tailEnd type="none" w="med" len="med"/>
                    </a:lnT>
                    <a:lnB cmpd="sng" algn="ctr" cap="flat" w="38100">
                      <a:solidFill>
                        <a:srgbClr val="000000"/>
                      </a:solidFill>
                      <a:prstDash val="solid"/>
                      <a:round/>
                      <a:headEnd type="none" w="med" len="med"/>
                      <a:tailEnd type="none" w="med" len="med"/>
                    </a:lnB>
                    <a:solidFill>
                      <a:srgbClr val="CCA863"/>
                    </a:solidFill>
                  </a:tcPr>
                </a:tc>
              </a:tr>
            </a:tbl>
          </a:graphicData>
        </a:graphic>
      </p:graphicFrame>
      <p:sp>
        <p:nvSpPr>
          <p:cNvPr name="Freeform 4" id="4"/>
          <p:cNvSpPr/>
          <p:nvPr/>
        </p:nvSpPr>
        <p:spPr>
          <a:xfrm flipH="false" flipV="false" rot="0">
            <a:off x="0" y="10092690"/>
            <a:ext cx="18288000" cy="194310"/>
          </a:xfrm>
          <a:custGeom>
            <a:avLst/>
            <a:gdLst/>
            <a:ahLst/>
            <a:cxnLst/>
            <a:rect r="r" b="b" t="t" l="l"/>
            <a:pathLst>
              <a:path h="194310" w="18288000">
                <a:moveTo>
                  <a:pt x="0" y="0"/>
                </a:moveTo>
                <a:lnTo>
                  <a:pt x="18288000" y="0"/>
                </a:lnTo>
                <a:lnTo>
                  <a:pt x="18288000" y="194310"/>
                </a:lnTo>
                <a:lnTo>
                  <a:pt x="0" y="194310"/>
                </a:lnTo>
                <a:lnTo>
                  <a:pt x="0" y="0"/>
                </a:lnTo>
                <a:close/>
              </a:path>
            </a:pathLst>
          </a:custGeom>
          <a:blipFill>
            <a:blip r:embed="rId3"/>
            <a:stretch>
              <a:fillRect l="0" t="0" r="0" b="0"/>
            </a:stretch>
          </a:blipFill>
        </p:spPr>
      </p:sp>
      <p:sp>
        <p:nvSpPr>
          <p:cNvPr name="TextBox 5" id="5"/>
          <p:cNvSpPr txBox="true"/>
          <p:nvPr/>
        </p:nvSpPr>
        <p:spPr>
          <a:xfrm rot="0">
            <a:off x="3541430" y="457682"/>
            <a:ext cx="7792440" cy="1153798"/>
          </a:xfrm>
          <a:prstGeom prst="rect">
            <a:avLst/>
          </a:prstGeom>
        </p:spPr>
        <p:txBody>
          <a:bodyPr anchor="t" rtlCol="false" tIns="0" lIns="0" bIns="0" rIns="0">
            <a:spAutoFit/>
          </a:bodyPr>
          <a:lstStyle/>
          <a:p>
            <a:pPr algn="ctr">
              <a:lnSpc>
                <a:spcPts val="9379"/>
              </a:lnSpc>
              <a:spcBef>
                <a:spcPct val="0"/>
              </a:spcBef>
            </a:pPr>
            <a:r>
              <a:rPr lang="en-US" sz="6699">
                <a:solidFill>
                  <a:srgbClr val="000000"/>
                </a:solidFill>
                <a:latin typeface="Mokoto"/>
                <a:ea typeface="Mokoto"/>
                <a:cs typeface="Mokoto"/>
                <a:sym typeface="Mokoto"/>
              </a:rPr>
              <a:t>Argonyx'26</a:t>
            </a:r>
          </a:p>
        </p:txBody>
      </p:sp>
      <p:sp>
        <p:nvSpPr>
          <p:cNvPr name="TextBox 6" id="6"/>
          <p:cNvSpPr txBox="true"/>
          <p:nvPr/>
        </p:nvSpPr>
        <p:spPr>
          <a:xfrm rot="0">
            <a:off x="3541430" y="1517413"/>
            <a:ext cx="5187434" cy="647187"/>
          </a:xfrm>
          <a:prstGeom prst="rect">
            <a:avLst/>
          </a:prstGeom>
        </p:spPr>
        <p:txBody>
          <a:bodyPr anchor="t" rtlCol="false" tIns="0" lIns="0" bIns="0" rIns="0">
            <a:spAutoFit/>
          </a:bodyPr>
          <a:lstStyle/>
          <a:p>
            <a:pPr algn="ctr" marL="0" indent="0" lvl="0">
              <a:lnSpc>
                <a:spcPts val="5278"/>
              </a:lnSpc>
              <a:spcBef>
                <a:spcPct val="0"/>
              </a:spcBef>
            </a:pPr>
            <a:r>
              <a:rPr lang="en-US" sz="3770" strike="noStrike" u="none">
                <a:solidFill>
                  <a:srgbClr val="000000"/>
                </a:solidFill>
                <a:latin typeface="Mokoto"/>
                <a:ea typeface="Mokoto"/>
                <a:cs typeface="Mokoto"/>
                <a:sym typeface="Mokoto"/>
              </a:rPr>
              <a:t>team &amp; Tittle</a:t>
            </a:r>
          </a:p>
        </p:txBody>
      </p:sp>
      <p:sp>
        <p:nvSpPr>
          <p:cNvPr name="TextBox 7" id="7"/>
          <p:cNvSpPr txBox="true"/>
          <p:nvPr/>
        </p:nvSpPr>
        <p:spPr>
          <a:xfrm rot="0">
            <a:off x="3541430" y="2259849"/>
            <a:ext cx="10101154" cy="2267585"/>
          </a:xfrm>
          <a:prstGeom prst="rect">
            <a:avLst/>
          </a:prstGeom>
        </p:spPr>
        <p:txBody>
          <a:bodyPr anchor="t" rtlCol="false" tIns="0" lIns="0" bIns="0" rIns="0">
            <a:spAutoFit/>
          </a:bodyPr>
          <a:lstStyle/>
          <a:p>
            <a:pPr algn="l">
              <a:lnSpc>
                <a:spcPts val="3639"/>
              </a:lnSpc>
            </a:pPr>
            <a:r>
              <a:rPr lang="en-US" sz="2599">
                <a:solidFill>
                  <a:srgbClr val="000000"/>
                </a:solidFill>
                <a:latin typeface="Montserrat"/>
                <a:ea typeface="Montserrat"/>
                <a:cs typeface="Montserrat"/>
                <a:sym typeface="Montserrat"/>
              </a:rPr>
              <a:t>Title of the project:</a:t>
            </a:r>
          </a:p>
          <a:p>
            <a:pPr algn="l">
              <a:lnSpc>
                <a:spcPts val="3639"/>
              </a:lnSpc>
            </a:pPr>
            <a:r>
              <a:rPr lang="en-US" sz="2599">
                <a:solidFill>
                  <a:srgbClr val="000000"/>
                </a:solidFill>
                <a:latin typeface="Montserrat"/>
                <a:ea typeface="Montserrat"/>
                <a:cs typeface="Montserrat"/>
                <a:sym typeface="Montserrat"/>
              </a:rPr>
              <a:t>Team Name: </a:t>
            </a:r>
          </a:p>
          <a:p>
            <a:pPr algn="l">
              <a:lnSpc>
                <a:spcPts val="3639"/>
              </a:lnSpc>
            </a:pPr>
            <a:r>
              <a:rPr lang="en-US" sz="2599">
                <a:solidFill>
                  <a:srgbClr val="000000"/>
                </a:solidFill>
                <a:latin typeface="Montserrat"/>
                <a:ea typeface="Montserrat"/>
                <a:cs typeface="Montserrat"/>
                <a:sym typeface="Montserrat"/>
              </a:rPr>
              <a:t>Team Lead:</a:t>
            </a:r>
          </a:p>
          <a:p>
            <a:pPr algn="l">
              <a:lnSpc>
                <a:spcPts val="3639"/>
              </a:lnSpc>
            </a:pPr>
            <a:r>
              <a:rPr lang="en-US" sz="2599">
                <a:solidFill>
                  <a:srgbClr val="000000"/>
                </a:solidFill>
                <a:latin typeface="Montserrat"/>
                <a:ea typeface="Montserrat"/>
                <a:cs typeface="Montserrat"/>
                <a:sym typeface="Montserrat"/>
              </a:rPr>
              <a:t>One‑line Tagline / Mission: “[We solve X for Y using Z]”</a:t>
            </a:r>
          </a:p>
          <a:p>
            <a:pPr algn="l">
              <a:lnSpc>
                <a:spcPts val="3639"/>
              </a:lnSpc>
            </a:pPr>
            <a:r>
              <a:rPr lang="en-US" sz="2599">
                <a:solidFill>
                  <a:srgbClr val="000000"/>
                </a:solidFill>
                <a:latin typeface="Montserrat"/>
                <a:ea typeface="Montserrat"/>
                <a:cs typeface="Montserrat"/>
                <a:sym typeface="Montserrat"/>
              </a:rPr>
              <a:t>In a table – All Team Member’s Name, USN, Email, Contact no</a:t>
            </a:r>
          </a:p>
        </p:txBody>
      </p:sp>
      <p:sp>
        <p:nvSpPr>
          <p:cNvPr name="Freeform 8" id="8"/>
          <p:cNvSpPr/>
          <p:nvPr/>
        </p:nvSpPr>
        <p:spPr>
          <a:xfrm flipH="false" flipV="false" rot="0">
            <a:off x="168180" y="232318"/>
            <a:ext cx="2648848" cy="1379161"/>
          </a:xfrm>
          <a:custGeom>
            <a:avLst/>
            <a:gdLst/>
            <a:ahLst/>
            <a:cxnLst/>
            <a:rect r="r" b="b" t="t" l="l"/>
            <a:pathLst>
              <a:path h="1379161" w="2648848">
                <a:moveTo>
                  <a:pt x="0" y="0"/>
                </a:moveTo>
                <a:lnTo>
                  <a:pt x="2648848" y="0"/>
                </a:lnTo>
                <a:lnTo>
                  <a:pt x="2648848" y="1379162"/>
                </a:lnTo>
                <a:lnTo>
                  <a:pt x="0" y="1379162"/>
                </a:lnTo>
                <a:lnTo>
                  <a:pt x="0" y="0"/>
                </a:lnTo>
                <a:close/>
              </a:path>
            </a:pathLst>
          </a:custGeom>
          <a:blipFill>
            <a:blip r:embed="rId4"/>
            <a:stretch>
              <a:fillRect l="0" t="-9355" r="0" b="0"/>
            </a:stretch>
          </a:blipFill>
        </p:spPr>
      </p:sp>
      <p:grpSp>
        <p:nvGrpSpPr>
          <p:cNvPr name="Group 9" id="9"/>
          <p:cNvGrpSpPr/>
          <p:nvPr/>
        </p:nvGrpSpPr>
        <p:grpSpPr>
          <a:xfrm rot="0">
            <a:off x="12685895" y="373031"/>
            <a:ext cx="5341043" cy="625068"/>
            <a:chOff x="0" y="0"/>
            <a:chExt cx="7121391" cy="833423"/>
          </a:xfrm>
        </p:grpSpPr>
        <p:sp>
          <p:nvSpPr>
            <p:cNvPr name="Freeform 10" id="10"/>
            <p:cNvSpPr/>
            <p:nvPr/>
          </p:nvSpPr>
          <p:spPr>
            <a:xfrm flipH="false" flipV="false" rot="0">
              <a:off x="4980572" y="0"/>
              <a:ext cx="2140819" cy="833423"/>
            </a:xfrm>
            <a:custGeom>
              <a:avLst/>
              <a:gdLst/>
              <a:ahLst/>
              <a:cxnLst/>
              <a:rect r="r" b="b" t="t" l="l"/>
              <a:pathLst>
                <a:path h="833423" w="2140819">
                  <a:moveTo>
                    <a:pt x="0" y="0"/>
                  </a:moveTo>
                  <a:lnTo>
                    <a:pt x="2140819" y="0"/>
                  </a:lnTo>
                  <a:lnTo>
                    <a:pt x="2140819" y="833423"/>
                  </a:lnTo>
                  <a:lnTo>
                    <a:pt x="0" y="833423"/>
                  </a:lnTo>
                  <a:lnTo>
                    <a:pt x="0" y="0"/>
                  </a:lnTo>
                  <a:close/>
                </a:path>
              </a:pathLst>
            </a:custGeom>
            <a:blipFill>
              <a:blip r:embed="rId5"/>
              <a:stretch>
                <a:fillRect l="0" t="-496" r="0" b="0"/>
              </a:stretch>
            </a:blipFill>
          </p:spPr>
        </p:sp>
        <p:sp>
          <p:nvSpPr>
            <p:cNvPr name="Freeform 11" id="11"/>
            <p:cNvSpPr/>
            <p:nvPr/>
          </p:nvSpPr>
          <p:spPr>
            <a:xfrm flipH="false" flipV="false" rot="0">
              <a:off x="0" y="0"/>
              <a:ext cx="1419945" cy="833423"/>
            </a:xfrm>
            <a:custGeom>
              <a:avLst/>
              <a:gdLst/>
              <a:ahLst/>
              <a:cxnLst/>
              <a:rect r="r" b="b" t="t" l="l"/>
              <a:pathLst>
                <a:path h="833423" w="1419945">
                  <a:moveTo>
                    <a:pt x="0" y="0"/>
                  </a:moveTo>
                  <a:lnTo>
                    <a:pt x="1419945" y="0"/>
                  </a:lnTo>
                  <a:lnTo>
                    <a:pt x="1419945" y="833423"/>
                  </a:lnTo>
                  <a:lnTo>
                    <a:pt x="0" y="833423"/>
                  </a:lnTo>
                  <a:lnTo>
                    <a:pt x="0" y="0"/>
                  </a:lnTo>
                  <a:close/>
                </a:path>
              </a:pathLst>
            </a:custGeom>
            <a:blipFill>
              <a:blip r:embed="rId6"/>
              <a:stretch>
                <a:fillRect l="-17178" t="-112928" r="-13043" b="-100926"/>
              </a:stretch>
            </a:blipFill>
          </p:spPr>
        </p:sp>
        <p:sp>
          <p:nvSpPr>
            <p:cNvPr name="Freeform 12" id="12"/>
            <p:cNvSpPr/>
            <p:nvPr/>
          </p:nvSpPr>
          <p:spPr>
            <a:xfrm flipH="false" flipV="false" rot="0">
              <a:off x="2007209" y="0"/>
              <a:ext cx="2391618" cy="833423"/>
            </a:xfrm>
            <a:custGeom>
              <a:avLst/>
              <a:gdLst/>
              <a:ahLst/>
              <a:cxnLst/>
              <a:rect r="r" b="b" t="t" l="l"/>
              <a:pathLst>
                <a:path h="833423" w="2391618">
                  <a:moveTo>
                    <a:pt x="0" y="0"/>
                  </a:moveTo>
                  <a:lnTo>
                    <a:pt x="2391618" y="0"/>
                  </a:lnTo>
                  <a:lnTo>
                    <a:pt x="2391618" y="833423"/>
                  </a:lnTo>
                  <a:lnTo>
                    <a:pt x="0" y="833423"/>
                  </a:lnTo>
                  <a:lnTo>
                    <a:pt x="0" y="0"/>
                  </a:lnTo>
                  <a:close/>
                </a:path>
              </a:pathLst>
            </a:custGeom>
            <a:blipFill>
              <a:blip r:embed="rId7"/>
              <a:stretch>
                <a:fillRect l="-11901" t="-120981" r="-6347" b="-118346"/>
              </a:stretch>
            </a:blipFill>
          </p:spPr>
        </p:sp>
        <p:sp>
          <p:nvSpPr>
            <p:cNvPr name="TextBox 13" id="13"/>
            <p:cNvSpPr txBox="true"/>
            <p:nvPr/>
          </p:nvSpPr>
          <p:spPr>
            <a:xfrm rot="0">
              <a:off x="1543820" y="241157"/>
              <a:ext cx="361740" cy="322535"/>
            </a:xfrm>
            <a:prstGeom prst="rect">
              <a:avLst/>
            </a:prstGeom>
          </p:spPr>
          <p:txBody>
            <a:bodyPr anchor="t" rtlCol="false" tIns="0" lIns="0" bIns="0" rIns="0">
              <a:spAutoFit/>
            </a:bodyPr>
            <a:lstStyle/>
            <a:p>
              <a:pPr algn="ctr">
                <a:lnSpc>
                  <a:spcPts val="2059"/>
                </a:lnSpc>
                <a:spcBef>
                  <a:spcPct val="0"/>
                </a:spcBef>
              </a:pPr>
              <a:r>
                <a:rPr lang="en-US" sz="1471">
                  <a:solidFill>
                    <a:srgbClr val="000000"/>
                  </a:solidFill>
                  <a:latin typeface="Bicubik"/>
                  <a:ea typeface="Bicubik"/>
                  <a:cs typeface="Bicubik"/>
                  <a:sym typeface="Bicubik"/>
                </a:rPr>
                <a:t>X</a:t>
              </a:r>
            </a:p>
          </p:txBody>
        </p:sp>
        <p:sp>
          <p:nvSpPr>
            <p:cNvPr name="TextBox 14" id="14"/>
            <p:cNvSpPr txBox="true"/>
            <p:nvPr/>
          </p:nvSpPr>
          <p:spPr>
            <a:xfrm rot="0">
              <a:off x="4398827" y="241157"/>
              <a:ext cx="361740" cy="322535"/>
            </a:xfrm>
            <a:prstGeom prst="rect">
              <a:avLst/>
            </a:prstGeom>
          </p:spPr>
          <p:txBody>
            <a:bodyPr anchor="t" rtlCol="false" tIns="0" lIns="0" bIns="0" rIns="0">
              <a:spAutoFit/>
            </a:bodyPr>
            <a:lstStyle/>
            <a:p>
              <a:pPr algn="ctr">
                <a:lnSpc>
                  <a:spcPts val="2059"/>
                </a:lnSpc>
                <a:spcBef>
                  <a:spcPct val="0"/>
                </a:spcBef>
              </a:pPr>
              <a:r>
                <a:rPr lang="en-US" sz="1471">
                  <a:solidFill>
                    <a:srgbClr val="000000"/>
                  </a:solidFill>
                  <a:latin typeface="Bicubik"/>
                  <a:ea typeface="Bicubik"/>
                  <a:cs typeface="Bicubik"/>
                  <a:sym typeface="Bicubik"/>
                </a:rPr>
                <a:t>X</a:t>
              </a:r>
            </a:p>
          </p:txBody>
        </p:sp>
      </p:gr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89422"/>
            <a:ext cx="18274252" cy="10279267"/>
          </a:xfrm>
          <a:custGeom>
            <a:avLst/>
            <a:gdLst/>
            <a:ahLst/>
            <a:cxnLst/>
            <a:rect r="r" b="b" t="t" l="l"/>
            <a:pathLst>
              <a:path h="10279267" w="18274252">
                <a:moveTo>
                  <a:pt x="0" y="0"/>
                </a:moveTo>
                <a:lnTo>
                  <a:pt x="18274252" y="0"/>
                </a:lnTo>
                <a:lnTo>
                  <a:pt x="18274252" y="10279267"/>
                </a:lnTo>
                <a:lnTo>
                  <a:pt x="0" y="10279267"/>
                </a:lnTo>
                <a:lnTo>
                  <a:pt x="0" y="0"/>
                </a:lnTo>
                <a:close/>
              </a:path>
            </a:pathLst>
          </a:custGeom>
          <a:blipFill>
            <a:blip r:embed="rId2"/>
            <a:stretch>
              <a:fillRect l="0" t="0" r="0" b="0"/>
            </a:stretch>
          </a:blipFill>
        </p:spPr>
      </p:sp>
      <p:grpSp>
        <p:nvGrpSpPr>
          <p:cNvPr name="Group 3" id="3"/>
          <p:cNvGrpSpPr/>
          <p:nvPr/>
        </p:nvGrpSpPr>
        <p:grpSpPr>
          <a:xfrm rot="0">
            <a:off x="1465128" y="3635783"/>
            <a:ext cx="15593317" cy="5144901"/>
            <a:chOff x="0" y="0"/>
            <a:chExt cx="4106882" cy="1355036"/>
          </a:xfrm>
        </p:grpSpPr>
        <p:sp>
          <p:nvSpPr>
            <p:cNvPr name="Freeform 4" id="4"/>
            <p:cNvSpPr/>
            <p:nvPr/>
          </p:nvSpPr>
          <p:spPr>
            <a:xfrm flipH="false" flipV="false" rot="0">
              <a:off x="0" y="0"/>
              <a:ext cx="4106882" cy="1355036"/>
            </a:xfrm>
            <a:custGeom>
              <a:avLst/>
              <a:gdLst/>
              <a:ahLst/>
              <a:cxnLst/>
              <a:rect r="r" b="b" t="t" l="l"/>
              <a:pathLst>
                <a:path h="1355036" w="4106882">
                  <a:moveTo>
                    <a:pt x="25321" y="0"/>
                  </a:moveTo>
                  <a:lnTo>
                    <a:pt x="4081561" y="0"/>
                  </a:lnTo>
                  <a:cubicBezTo>
                    <a:pt x="4088276" y="0"/>
                    <a:pt x="4094717" y="2668"/>
                    <a:pt x="4099466" y="7416"/>
                  </a:cubicBezTo>
                  <a:cubicBezTo>
                    <a:pt x="4104214" y="12165"/>
                    <a:pt x="4106882" y="18605"/>
                    <a:pt x="4106882" y="25321"/>
                  </a:cubicBezTo>
                  <a:lnTo>
                    <a:pt x="4106882" y="1329715"/>
                  </a:lnTo>
                  <a:cubicBezTo>
                    <a:pt x="4106882" y="1336430"/>
                    <a:pt x="4104214" y="1342871"/>
                    <a:pt x="4099466" y="1347619"/>
                  </a:cubicBezTo>
                  <a:cubicBezTo>
                    <a:pt x="4094717" y="1352368"/>
                    <a:pt x="4088276" y="1355036"/>
                    <a:pt x="4081561" y="1355036"/>
                  </a:cubicBezTo>
                  <a:lnTo>
                    <a:pt x="25321" y="1355036"/>
                  </a:lnTo>
                  <a:cubicBezTo>
                    <a:pt x="11337" y="1355036"/>
                    <a:pt x="0" y="1343699"/>
                    <a:pt x="0" y="1329715"/>
                  </a:cubicBezTo>
                  <a:lnTo>
                    <a:pt x="0" y="25321"/>
                  </a:lnTo>
                  <a:cubicBezTo>
                    <a:pt x="0" y="18605"/>
                    <a:pt x="2668" y="12165"/>
                    <a:pt x="7416" y="7416"/>
                  </a:cubicBezTo>
                  <a:cubicBezTo>
                    <a:pt x="12165" y="2668"/>
                    <a:pt x="18605" y="0"/>
                    <a:pt x="25321" y="0"/>
                  </a:cubicBezTo>
                  <a:close/>
                </a:path>
              </a:pathLst>
            </a:custGeom>
            <a:solidFill>
              <a:srgbClr val="D1A85B"/>
            </a:solidFill>
          </p:spPr>
        </p:sp>
        <p:sp>
          <p:nvSpPr>
            <p:cNvPr name="TextBox 5" id="5"/>
            <p:cNvSpPr txBox="true"/>
            <p:nvPr/>
          </p:nvSpPr>
          <p:spPr>
            <a:xfrm>
              <a:off x="0" y="-38100"/>
              <a:ext cx="4106882" cy="1393136"/>
            </a:xfrm>
            <a:prstGeom prst="rect">
              <a:avLst/>
            </a:prstGeom>
          </p:spPr>
          <p:txBody>
            <a:bodyPr anchor="ctr" rtlCol="false" tIns="50800" lIns="50800" bIns="50800" rIns="50800"/>
            <a:lstStyle/>
            <a:p>
              <a:pPr algn="just">
                <a:lnSpc>
                  <a:spcPts val="3499"/>
                </a:lnSpc>
              </a:pPr>
            </a:p>
          </p:txBody>
        </p:sp>
      </p:grpSp>
      <p:sp>
        <p:nvSpPr>
          <p:cNvPr name="TextBox 6" id="6"/>
          <p:cNvSpPr txBox="true"/>
          <p:nvPr/>
        </p:nvSpPr>
        <p:spPr>
          <a:xfrm rot="0">
            <a:off x="2554702" y="4027915"/>
            <a:ext cx="13164849" cy="4303487"/>
          </a:xfrm>
          <a:prstGeom prst="rect">
            <a:avLst/>
          </a:prstGeom>
        </p:spPr>
        <p:txBody>
          <a:bodyPr anchor="t" rtlCol="false" tIns="0" lIns="0" bIns="0" rIns="0">
            <a:spAutoFit/>
          </a:bodyPr>
          <a:lstStyle/>
          <a:p>
            <a:pPr algn="just">
              <a:lnSpc>
                <a:spcPts val="3848"/>
              </a:lnSpc>
              <a:spcBef>
                <a:spcPct val="0"/>
              </a:spcBef>
            </a:pPr>
            <a:r>
              <a:rPr lang="en-US" b="true" sz="2749">
                <a:solidFill>
                  <a:srgbClr val="000000"/>
                </a:solidFill>
                <a:latin typeface="Montserrat Bold"/>
                <a:ea typeface="Montserrat Bold"/>
                <a:cs typeface="Montserrat Bold"/>
                <a:sym typeface="Montserrat Bold"/>
              </a:rPr>
              <a:t>Write one short paragraph (max 250 words) covering:</a:t>
            </a:r>
          </a:p>
          <a:p>
            <a:pPr algn="just">
              <a:lnSpc>
                <a:spcPts val="3848"/>
              </a:lnSpc>
            </a:pPr>
          </a:p>
          <a:p>
            <a:pPr algn="just" marL="593562" indent="-296781" lvl="1">
              <a:lnSpc>
                <a:spcPts val="3848"/>
              </a:lnSpc>
              <a:buFont typeface="Arial"/>
              <a:buChar char="•"/>
            </a:pPr>
            <a:r>
              <a:rPr lang="en-US" sz="2749">
                <a:solidFill>
                  <a:srgbClr val="000000"/>
                </a:solidFill>
                <a:latin typeface="Montserrat"/>
                <a:ea typeface="Montserrat"/>
                <a:cs typeface="Montserrat"/>
                <a:sym typeface="Montserrat"/>
              </a:rPr>
              <a:t>Problem Statement – challenge your project addresses​</a:t>
            </a:r>
          </a:p>
          <a:p>
            <a:pPr algn="just" marL="593562" indent="-296781" lvl="1">
              <a:lnSpc>
                <a:spcPts val="3848"/>
              </a:lnSpc>
              <a:buFont typeface="Arial"/>
              <a:buChar char="•"/>
            </a:pPr>
            <a:r>
              <a:rPr lang="en-US" sz="2749">
                <a:solidFill>
                  <a:srgbClr val="000000"/>
                </a:solidFill>
                <a:latin typeface="Montserrat"/>
                <a:ea typeface="Montserrat"/>
                <a:cs typeface="Montserrat"/>
                <a:sym typeface="Montserrat"/>
              </a:rPr>
              <a:t>Objective – main goal of your project​</a:t>
            </a:r>
          </a:p>
          <a:p>
            <a:pPr algn="just" marL="593562" indent="-296781" lvl="1">
              <a:lnSpc>
                <a:spcPts val="3848"/>
              </a:lnSpc>
              <a:buFont typeface="Arial"/>
              <a:buChar char="•"/>
            </a:pPr>
            <a:r>
              <a:rPr lang="en-US" sz="2749">
                <a:solidFill>
                  <a:srgbClr val="000000"/>
                </a:solidFill>
                <a:latin typeface="Montserrat"/>
                <a:ea typeface="Montserrat"/>
                <a:cs typeface="Montserrat"/>
                <a:sym typeface="Montserrat"/>
              </a:rPr>
              <a:t>Proposed Solution/Approach – your idea or method​</a:t>
            </a:r>
          </a:p>
          <a:p>
            <a:pPr algn="just" marL="593562" indent="-296781" lvl="1">
              <a:lnSpc>
                <a:spcPts val="3848"/>
              </a:lnSpc>
              <a:buFont typeface="Arial"/>
              <a:buChar char="•"/>
            </a:pPr>
            <a:r>
              <a:rPr lang="en-US" sz="2749">
                <a:solidFill>
                  <a:srgbClr val="000000"/>
                </a:solidFill>
                <a:latin typeface="Montserrat"/>
                <a:ea typeface="Montserrat"/>
                <a:cs typeface="Montserrat"/>
                <a:sym typeface="Montserrat"/>
              </a:rPr>
              <a:t>Expected Outcome – what you aim to achieve (prototype, results, demo)</a:t>
            </a:r>
            <a:r>
              <a:rPr lang="en-US" b="true" sz="2749">
                <a:solidFill>
                  <a:srgbClr val="000000"/>
                </a:solidFill>
                <a:latin typeface="Montserrat Bold"/>
                <a:ea typeface="Montserrat Bold"/>
                <a:cs typeface="Montserrat Bold"/>
                <a:sym typeface="Montserrat Bold"/>
              </a:rPr>
              <a:t>​</a:t>
            </a:r>
          </a:p>
          <a:p>
            <a:pPr algn="just">
              <a:lnSpc>
                <a:spcPts val="3700"/>
              </a:lnSpc>
              <a:spcBef>
                <a:spcPct val="0"/>
              </a:spcBef>
            </a:pPr>
          </a:p>
          <a:p>
            <a:pPr algn="just">
              <a:lnSpc>
                <a:spcPts val="3700"/>
              </a:lnSpc>
              <a:spcBef>
                <a:spcPct val="0"/>
              </a:spcBef>
            </a:pPr>
            <a:r>
              <a:rPr lang="en-US" b="true" sz="2643">
                <a:solidFill>
                  <a:srgbClr val="FF3131"/>
                </a:solidFill>
                <a:latin typeface="Montserrat Bold"/>
                <a:ea typeface="Montserrat Bold"/>
                <a:cs typeface="Montserrat Bold"/>
                <a:sym typeface="Montserrat Bold"/>
              </a:rPr>
              <a:t>#Instruction: Must be written as a single paragraph, not bullets.​</a:t>
            </a:r>
          </a:p>
          <a:p>
            <a:pPr algn="just">
              <a:lnSpc>
                <a:spcPts val="3700"/>
              </a:lnSpc>
              <a:spcBef>
                <a:spcPct val="0"/>
              </a:spcBef>
            </a:pPr>
          </a:p>
        </p:txBody>
      </p:sp>
      <p:sp>
        <p:nvSpPr>
          <p:cNvPr name="TextBox 7" id="7"/>
          <p:cNvSpPr txBox="true"/>
          <p:nvPr/>
        </p:nvSpPr>
        <p:spPr>
          <a:xfrm rot="0">
            <a:off x="5887959" y="1763425"/>
            <a:ext cx="6498335" cy="1130300"/>
          </a:xfrm>
          <a:prstGeom prst="rect">
            <a:avLst/>
          </a:prstGeom>
        </p:spPr>
        <p:txBody>
          <a:bodyPr anchor="t" rtlCol="false" tIns="0" lIns="0" bIns="0" rIns="0">
            <a:spAutoFit/>
          </a:bodyPr>
          <a:lstStyle/>
          <a:p>
            <a:pPr algn="ctr">
              <a:lnSpc>
                <a:spcPts val="9100"/>
              </a:lnSpc>
              <a:spcBef>
                <a:spcPct val="0"/>
              </a:spcBef>
            </a:pPr>
            <a:r>
              <a:rPr lang="en-US" sz="6500">
                <a:solidFill>
                  <a:srgbClr val="182D36"/>
                </a:solidFill>
                <a:latin typeface="Mokoto"/>
                <a:ea typeface="Mokoto"/>
                <a:cs typeface="Mokoto"/>
                <a:sym typeface="Mokoto"/>
              </a:rPr>
              <a:t>Abstract</a:t>
            </a:r>
          </a:p>
        </p:txBody>
      </p:sp>
      <p:sp>
        <p:nvSpPr>
          <p:cNvPr name="Freeform 8" id="8"/>
          <p:cNvSpPr/>
          <p:nvPr/>
        </p:nvSpPr>
        <p:spPr>
          <a:xfrm flipH="false" flipV="false" rot="0">
            <a:off x="0" y="10092690"/>
            <a:ext cx="18288000" cy="194310"/>
          </a:xfrm>
          <a:custGeom>
            <a:avLst/>
            <a:gdLst/>
            <a:ahLst/>
            <a:cxnLst/>
            <a:rect r="r" b="b" t="t" l="l"/>
            <a:pathLst>
              <a:path h="194310" w="18288000">
                <a:moveTo>
                  <a:pt x="0" y="0"/>
                </a:moveTo>
                <a:lnTo>
                  <a:pt x="18288000" y="0"/>
                </a:lnTo>
                <a:lnTo>
                  <a:pt x="18288000" y="194310"/>
                </a:lnTo>
                <a:lnTo>
                  <a:pt x="0" y="194310"/>
                </a:lnTo>
                <a:lnTo>
                  <a:pt x="0" y="0"/>
                </a:lnTo>
                <a:close/>
              </a:path>
            </a:pathLst>
          </a:custGeom>
          <a:blipFill>
            <a:blip r:embed="rId3"/>
            <a:stretch>
              <a:fillRect l="0" t="0" r="0" b="0"/>
            </a:stretch>
          </a:blipFill>
        </p:spPr>
      </p:sp>
      <p:grpSp>
        <p:nvGrpSpPr>
          <p:cNvPr name="Group 9" id="9"/>
          <p:cNvGrpSpPr/>
          <p:nvPr/>
        </p:nvGrpSpPr>
        <p:grpSpPr>
          <a:xfrm rot="0">
            <a:off x="12685895" y="373031"/>
            <a:ext cx="5341043" cy="625068"/>
            <a:chOff x="0" y="0"/>
            <a:chExt cx="7121391" cy="833423"/>
          </a:xfrm>
        </p:grpSpPr>
        <p:sp>
          <p:nvSpPr>
            <p:cNvPr name="Freeform 10" id="10"/>
            <p:cNvSpPr/>
            <p:nvPr/>
          </p:nvSpPr>
          <p:spPr>
            <a:xfrm flipH="false" flipV="false" rot="0">
              <a:off x="4980572" y="0"/>
              <a:ext cx="2140819" cy="833423"/>
            </a:xfrm>
            <a:custGeom>
              <a:avLst/>
              <a:gdLst/>
              <a:ahLst/>
              <a:cxnLst/>
              <a:rect r="r" b="b" t="t" l="l"/>
              <a:pathLst>
                <a:path h="833423" w="2140819">
                  <a:moveTo>
                    <a:pt x="0" y="0"/>
                  </a:moveTo>
                  <a:lnTo>
                    <a:pt x="2140819" y="0"/>
                  </a:lnTo>
                  <a:lnTo>
                    <a:pt x="2140819" y="833423"/>
                  </a:lnTo>
                  <a:lnTo>
                    <a:pt x="0" y="833423"/>
                  </a:lnTo>
                  <a:lnTo>
                    <a:pt x="0" y="0"/>
                  </a:lnTo>
                  <a:close/>
                </a:path>
              </a:pathLst>
            </a:custGeom>
            <a:blipFill>
              <a:blip r:embed="rId4"/>
              <a:stretch>
                <a:fillRect l="0" t="-496" r="0" b="0"/>
              </a:stretch>
            </a:blipFill>
          </p:spPr>
        </p:sp>
        <p:sp>
          <p:nvSpPr>
            <p:cNvPr name="Freeform 11" id="11"/>
            <p:cNvSpPr/>
            <p:nvPr/>
          </p:nvSpPr>
          <p:spPr>
            <a:xfrm flipH="false" flipV="false" rot="0">
              <a:off x="0" y="0"/>
              <a:ext cx="1419945" cy="833423"/>
            </a:xfrm>
            <a:custGeom>
              <a:avLst/>
              <a:gdLst/>
              <a:ahLst/>
              <a:cxnLst/>
              <a:rect r="r" b="b" t="t" l="l"/>
              <a:pathLst>
                <a:path h="833423" w="1419945">
                  <a:moveTo>
                    <a:pt x="0" y="0"/>
                  </a:moveTo>
                  <a:lnTo>
                    <a:pt x="1419945" y="0"/>
                  </a:lnTo>
                  <a:lnTo>
                    <a:pt x="1419945" y="833423"/>
                  </a:lnTo>
                  <a:lnTo>
                    <a:pt x="0" y="833423"/>
                  </a:lnTo>
                  <a:lnTo>
                    <a:pt x="0" y="0"/>
                  </a:lnTo>
                  <a:close/>
                </a:path>
              </a:pathLst>
            </a:custGeom>
            <a:blipFill>
              <a:blip r:embed="rId5"/>
              <a:stretch>
                <a:fillRect l="-17178" t="-112928" r="-13043" b="-100926"/>
              </a:stretch>
            </a:blipFill>
          </p:spPr>
        </p:sp>
        <p:sp>
          <p:nvSpPr>
            <p:cNvPr name="Freeform 12" id="12"/>
            <p:cNvSpPr/>
            <p:nvPr/>
          </p:nvSpPr>
          <p:spPr>
            <a:xfrm flipH="false" flipV="false" rot="0">
              <a:off x="2007209" y="0"/>
              <a:ext cx="2391618" cy="833423"/>
            </a:xfrm>
            <a:custGeom>
              <a:avLst/>
              <a:gdLst/>
              <a:ahLst/>
              <a:cxnLst/>
              <a:rect r="r" b="b" t="t" l="l"/>
              <a:pathLst>
                <a:path h="833423" w="2391618">
                  <a:moveTo>
                    <a:pt x="0" y="0"/>
                  </a:moveTo>
                  <a:lnTo>
                    <a:pt x="2391618" y="0"/>
                  </a:lnTo>
                  <a:lnTo>
                    <a:pt x="2391618" y="833423"/>
                  </a:lnTo>
                  <a:lnTo>
                    <a:pt x="0" y="833423"/>
                  </a:lnTo>
                  <a:lnTo>
                    <a:pt x="0" y="0"/>
                  </a:lnTo>
                  <a:close/>
                </a:path>
              </a:pathLst>
            </a:custGeom>
            <a:blipFill>
              <a:blip r:embed="rId6"/>
              <a:stretch>
                <a:fillRect l="-11901" t="-120981" r="-6347" b="-118346"/>
              </a:stretch>
            </a:blipFill>
          </p:spPr>
        </p:sp>
        <p:sp>
          <p:nvSpPr>
            <p:cNvPr name="TextBox 13" id="13"/>
            <p:cNvSpPr txBox="true"/>
            <p:nvPr/>
          </p:nvSpPr>
          <p:spPr>
            <a:xfrm rot="0">
              <a:off x="1543820" y="241157"/>
              <a:ext cx="361740" cy="322535"/>
            </a:xfrm>
            <a:prstGeom prst="rect">
              <a:avLst/>
            </a:prstGeom>
          </p:spPr>
          <p:txBody>
            <a:bodyPr anchor="t" rtlCol="false" tIns="0" lIns="0" bIns="0" rIns="0">
              <a:spAutoFit/>
            </a:bodyPr>
            <a:lstStyle/>
            <a:p>
              <a:pPr algn="ctr">
                <a:lnSpc>
                  <a:spcPts val="2059"/>
                </a:lnSpc>
                <a:spcBef>
                  <a:spcPct val="0"/>
                </a:spcBef>
              </a:pPr>
              <a:r>
                <a:rPr lang="en-US" sz="1471">
                  <a:solidFill>
                    <a:srgbClr val="000000"/>
                  </a:solidFill>
                  <a:latin typeface="Bicubik"/>
                  <a:ea typeface="Bicubik"/>
                  <a:cs typeface="Bicubik"/>
                  <a:sym typeface="Bicubik"/>
                </a:rPr>
                <a:t>X</a:t>
              </a:r>
            </a:p>
          </p:txBody>
        </p:sp>
        <p:sp>
          <p:nvSpPr>
            <p:cNvPr name="TextBox 14" id="14"/>
            <p:cNvSpPr txBox="true"/>
            <p:nvPr/>
          </p:nvSpPr>
          <p:spPr>
            <a:xfrm rot="0">
              <a:off x="4398827" y="241157"/>
              <a:ext cx="361740" cy="322535"/>
            </a:xfrm>
            <a:prstGeom prst="rect">
              <a:avLst/>
            </a:prstGeom>
          </p:spPr>
          <p:txBody>
            <a:bodyPr anchor="t" rtlCol="false" tIns="0" lIns="0" bIns="0" rIns="0">
              <a:spAutoFit/>
            </a:bodyPr>
            <a:lstStyle/>
            <a:p>
              <a:pPr algn="ctr">
                <a:lnSpc>
                  <a:spcPts val="2059"/>
                </a:lnSpc>
                <a:spcBef>
                  <a:spcPct val="0"/>
                </a:spcBef>
              </a:pPr>
              <a:r>
                <a:rPr lang="en-US" sz="1471">
                  <a:solidFill>
                    <a:srgbClr val="000000"/>
                  </a:solidFill>
                  <a:latin typeface="Bicubik"/>
                  <a:ea typeface="Bicubik"/>
                  <a:cs typeface="Bicubik"/>
                  <a:sym typeface="Bicubik"/>
                </a:rPr>
                <a:t>X</a:t>
              </a:r>
            </a:p>
          </p:txBody>
        </p:sp>
      </p:grpSp>
      <p:sp>
        <p:nvSpPr>
          <p:cNvPr name="Freeform 15" id="15"/>
          <p:cNvSpPr/>
          <p:nvPr/>
        </p:nvSpPr>
        <p:spPr>
          <a:xfrm flipH="false" flipV="false" rot="0">
            <a:off x="168180" y="232318"/>
            <a:ext cx="2648848" cy="1379161"/>
          </a:xfrm>
          <a:custGeom>
            <a:avLst/>
            <a:gdLst/>
            <a:ahLst/>
            <a:cxnLst/>
            <a:rect r="r" b="b" t="t" l="l"/>
            <a:pathLst>
              <a:path h="1379161" w="2648848">
                <a:moveTo>
                  <a:pt x="0" y="0"/>
                </a:moveTo>
                <a:lnTo>
                  <a:pt x="2648848" y="0"/>
                </a:lnTo>
                <a:lnTo>
                  <a:pt x="2648848" y="1379162"/>
                </a:lnTo>
                <a:lnTo>
                  <a:pt x="0" y="1379162"/>
                </a:lnTo>
                <a:lnTo>
                  <a:pt x="0" y="0"/>
                </a:lnTo>
                <a:close/>
              </a:path>
            </a:pathLst>
          </a:custGeom>
          <a:blipFill>
            <a:blip r:embed="rId7"/>
            <a:stretch>
              <a:fillRect l="0" t="-9355"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3748" y="-89422"/>
            <a:ext cx="18274252" cy="10279267"/>
          </a:xfrm>
          <a:custGeom>
            <a:avLst/>
            <a:gdLst/>
            <a:ahLst/>
            <a:cxnLst/>
            <a:rect r="r" b="b" t="t" l="l"/>
            <a:pathLst>
              <a:path h="10279267" w="18274252">
                <a:moveTo>
                  <a:pt x="0" y="0"/>
                </a:moveTo>
                <a:lnTo>
                  <a:pt x="18274252" y="0"/>
                </a:lnTo>
                <a:lnTo>
                  <a:pt x="18274252" y="10279267"/>
                </a:lnTo>
                <a:lnTo>
                  <a:pt x="0" y="10279267"/>
                </a:lnTo>
                <a:lnTo>
                  <a:pt x="0" y="0"/>
                </a:lnTo>
                <a:close/>
              </a:path>
            </a:pathLst>
          </a:custGeom>
          <a:blipFill>
            <a:blip r:embed="rId2"/>
            <a:stretch>
              <a:fillRect l="0" t="0" r="0" b="0"/>
            </a:stretch>
          </a:blipFill>
        </p:spPr>
      </p:sp>
      <p:sp>
        <p:nvSpPr>
          <p:cNvPr name="TextBox 3" id="3"/>
          <p:cNvSpPr txBox="true"/>
          <p:nvPr/>
        </p:nvSpPr>
        <p:spPr>
          <a:xfrm rot="0">
            <a:off x="3263943" y="7518368"/>
            <a:ext cx="6498335" cy="1153798"/>
          </a:xfrm>
          <a:prstGeom prst="rect">
            <a:avLst/>
          </a:prstGeom>
        </p:spPr>
        <p:txBody>
          <a:bodyPr anchor="t" rtlCol="false" tIns="0" lIns="0" bIns="0" rIns="0">
            <a:spAutoFit/>
          </a:bodyPr>
          <a:lstStyle/>
          <a:p>
            <a:pPr algn="ctr">
              <a:lnSpc>
                <a:spcPts val="9379"/>
              </a:lnSpc>
              <a:spcBef>
                <a:spcPct val="0"/>
              </a:spcBef>
            </a:pPr>
            <a:r>
              <a:rPr lang="en-US" sz="6699">
                <a:solidFill>
                  <a:srgbClr val="000000"/>
                </a:solidFill>
                <a:latin typeface="Bicubik"/>
                <a:ea typeface="Bicubik"/>
                <a:cs typeface="Bicubik"/>
                <a:sym typeface="Bicubik"/>
              </a:rPr>
              <a:t>Argonyx'26</a:t>
            </a:r>
          </a:p>
        </p:txBody>
      </p:sp>
      <p:grpSp>
        <p:nvGrpSpPr>
          <p:cNvPr name="Group 4" id="4"/>
          <p:cNvGrpSpPr/>
          <p:nvPr/>
        </p:nvGrpSpPr>
        <p:grpSpPr>
          <a:xfrm rot="0">
            <a:off x="1354215" y="3466235"/>
            <a:ext cx="15593317" cy="5144901"/>
            <a:chOff x="0" y="0"/>
            <a:chExt cx="4106882" cy="1355036"/>
          </a:xfrm>
        </p:grpSpPr>
        <p:sp>
          <p:nvSpPr>
            <p:cNvPr name="Freeform 5" id="5"/>
            <p:cNvSpPr/>
            <p:nvPr/>
          </p:nvSpPr>
          <p:spPr>
            <a:xfrm flipH="false" flipV="false" rot="0">
              <a:off x="0" y="0"/>
              <a:ext cx="4106882" cy="1355036"/>
            </a:xfrm>
            <a:custGeom>
              <a:avLst/>
              <a:gdLst/>
              <a:ahLst/>
              <a:cxnLst/>
              <a:rect r="r" b="b" t="t" l="l"/>
              <a:pathLst>
                <a:path h="1355036" w="4106882">
                  <a:moveTo>
                    <a:pt x="25321" y="0"/>
                  </a:moveTo>
                  <a:lnTo>
                    <a:pt x="4081561" y="0"/>
                  </a:lnTo>
                  <a:cubicBezTo>
                    <a:pt x="4088276" y="0"/>
                    <a:pt x="4094717" y="2668"/>
                    <a:pt x="4099466" y="7416"/>
                  </a:cubicBezTo>
                  <a:cubicBezTo>
                    <a:pt x="4104214" y="12165"/>
                    <a:pt x="4106882" y="18605"/>
                    <a:pt x="4106882" y="25321"/>
                  </a:cubicBezTo>
                  <a:lnTo>
                    <a:pt x="4106882" y="1329715"/>
                  </a:lnTo>
                  <a:cubicBezTo>
                    <a:pt x="4106882" y="1336430"/>
                    <a:pt x="4104214" y="1342871"/>
                    <a:pt x="4099466" y="1347619"/>
                  </a:cubicBezTo>
                  <a:cubicBezTo>
                    <a:pt x="4094717" y="1352368"/>
                    <a:pt x="4088276" y="1355036"/>
                    <a:pt x="4081561" y="1355036"/>
                  </a:cubicBezTo>
                  <a:lnTo>
                    <a:pt x="25321" y="1355036"/>
                  </a:lnTo>
                  <a:cubicBezTo>
                    <a:pt x="11337" y="1355036"/>
                    <a:pt x="0" y="1343699"/>
                    <a:pt x="0" y="1329715"/>
                  </a:cubicBezTo>
                  <a:lnTo>
                    <a:pt x="0" y="25321"/>
                  </a:lnTo>
                  <a:cubicBezTo>
                    <a:pt x="0" y="18605"/>
                    <a:pt x="2668" y="12165"/>
                    <a:pt x="7416" y="7416"/>
                  </a:cubicBezTo>
                  <a:cubicBezTo>
                    <a:pt x="12165" y="2668"/>
                    <a:pt x="18605" y="0"/>
                    <a:pt x="25321" y="0"/>
                  </a:cubicBezTo>
                  <a:close/>
                </a:path>
              </a:pathLst>
            </a:custGeom>
            <a:solidFill>
              <a:srgbClr val="D1A85B"/>
            </a:solidFill>
          </p:spPr>
        </p:sp>
        <p:sp>
          <p:nvSpPr>
            <p:cNvPr name="TextBox 6" id="6"/>
            <p:cNvSpPr txBox="true"/>
            <p:nvPr/>
          </p:nvSpPr>
          <p:spPr>
            <a:xfrm>
              <a:off x="0" y="-38100"/>
              <a:ext cx="4106882" cy="1393136"/>
            </a:xfrm>
            <a:prstGeom prst="rect">
              <a:avLst/>
            </a:prstGeom>
          </p:spPr>
          <p:txBody>
            <a:bodyPr anchor="ctr" rtlCol="false" tIns="50800" lIns="50800" bIns="50800" rIns="50800"/>
            <a:lstStyle/>
            <a:p>
              <a:pPr algn="just">
                <a:lnSpc>
                  <a:spcPts val="3499"/>
                </a:lnSpc>
              </a:pPr>
            </a:p>
          </p:txBody>
        </p:sp>
      </p:grpSp>
      <p:sp>
        <p:nvSpPr>
          <p:cNvPr name="TextBox 7" id="7"/>
          <p:cNvSpPr txBox="true"/>
          <p:nvPr/>
        </p:nvSpPr>
        <p:spPr>
          <a:xfrm rot="0">
            <a:off x="2126707" y="4388935"/>
            <a:ext cx="13543793" cy="3004226"/>
          </a:xfrm>
          <a:prstGeom prst="rect">
            <a:avLst/>
          </a:prstGeom>
        </p:spPr>
        <p:txBody>
          <a:bodyPr anchor="t" rtlCol="false" tIns="0" lIns="0" bIns="0" rIns="0">
            <a:spAutoFit/>
          </a:bodyPr>
          <a:lstStyle/>
          <a:p>
            <a:pPr algn="l" marL="929207" indent="-464603" lvl="1">
              <a:lnSpc>
                <a:spcPts val="8134"/>
              </a:lnSpc>
              <a:buFont typeface="Arial"/>
              <a:buChar char="•"/>
            </a:pPr>
            <a:r>
              <a:rPr lang="en-US" sz="4303">
                <a:solidFill>
                  <a:srgbClr val="000000"/>
                </a:solidFill>
                <a:latin typeface="Glacial Indifference"/>
                <a:ea typeface="Glacial Indifference"/>
                <a:cs typeface="Glacial Indifference"/>
                <a:sym typeface="Glacial Indifference"/>
              </a:rPr>
              <a:t>What is your idea, and how does it solve the problem?</a:t>
            </a:r>
          </a:p>
          <a:p>
            <a:pPr algn="l" marL="929207" indent="-464603" lvl="1">
              <a:lnSpc>
                <a:spcPts val="8134"/>
              </a:lnSpc>
              <a:buFont typeface="Arial"/>
              <a:buChar char="•"/>
            </a:pPr>
            <a:r>
              <a:rPr lang="en-US" sz="4303">
                <a:solidFill>
                  <a:srgbClr val="000000"/>
                </a:solidFill>
                <a:latin typeface="Glacial Indifference"/>
                <a:ea typeface="Glacial Indifference"/>
                <a:cs typeface="Glacial Indifference"/>
                <a:sym typeface="Glacial Indifference"/>
              </a:rPr>
              <a:t>Key features (top 2–3 only).​</a:t>
            </a:r>
          </a:p>
          <a:p>
            <a:pPr algn="l">
              <a:lnSpc>
                <a:spcPts val="8134"/>
              </a:lnSpc>
            </a:pPr>
          </a:p>
        </p:txBody>
      </p:sp>
      <p:sp>
        <p:nvSpPr>
          <p:cNvPr name="Freeform 8" id="8"/>
          <p:cNvSpPr/>
          <p:nvPr/>
        </p:nvSpPr>
        <p:spPr>
          <a:xfrm flipH="false" flipV="false" rot="0">
            <a:off x="0" y="10092690"/>
            <a:ext cx="18288000" cy="194310"/>
          </a:xfrm>
          <a:custGeom>
            <a:avLst/>
            <a:gdLst/>
            <a:ahLst/>
            <a:cxnLst/>
            <a:rect r="r" b="b" t="t" l="l"/>
            <a:pathLst>
              <a:path h="194310" w="18288000">
                <a:moveTo>
                  <a:pt x="0" y="0"/>
                </a:moveTo>
                <a:lnTo>
                  <a:pt x="18288000" y="0"/>
                </a:lnTo>
                <a:lnTo>
                  <a:pt x="18288000" y="194310"/>
                </a:lnTo>
                <a:lnTo>
                  <a:pt x="0" y="194310"/>
                </a:lnTo>
                <a:lnTo>
                  <a:pt x="0" y="0"/>
                </a:lnTo>
                <a:close/>
              </a:path>
            </a:pathLst>
          </a:custGeom>
          <a:blipFill>
            <a:blip r:embed="rId3"/>
            <a:stretch>
              <a:fillRect l="0" t="0" r="0" b="0"/>
            </a:stretch>
          </a:blipFill>
        </p:spPr>
      </p:sp>
      <p:sp>
        <p:nvSpPr>
          <p:cNvPr name="TextBox 9" id="9"/>
          <p:cNvSpPr txBox="true"/>
          <p:nvPr/>
        </p:nvSpPr>
        <p:spPr>
          <a:xfrm rot="0">
            <a:off x="5047493" y="1964460"/>
            <a:ext cx="8206762" cy="1111250"/>
          </a:xfrm>
          <a:prstGeom prst="rect">
            <a:avLst/>
          </a:prstGeom>
        </p:spPr>
        <p:txBody>
          <a:bodyPr anchor="t" rtlCol="false" tIns="0" lIns="0" bIns="0" rIns="0">
            <a:spAutoFit/>
          </a:bodyPr>
          <a:lstStyle/>
          <a:p>
            <a:pPr algn="ctr">
              <a:lnSpc>
                <a:spcPts val="9099"/>
              </a:lnSpc>
              <a:spcBef>
                <a:spcPct val="0"/>
              </a:spcBef>
            </a:pPr>
            <a:r>
              <a:rPr lang="en-US" sz="6499">
                <a:solidFill>
                  <a:srgbClr val="000000"/>
                </a:solidFill>
                <a:latin typeface="Mokoto"/>
                <a:ea typeface="Mokoto"/>
                <a:cs typeface="Mokoto"/>
                <a:sym typeface="Mokoto"/>
              </a:rPr>
              <a:t>The</a:t>
            </a:r>
            <a:r>
              <a:rPr lang="en-US" sz="6499">
                <a:solidFill>
                  <a:srgbClr val="000000"/>
                </a:solidFill>
                <a:latin typeface="Mokoto"/>
                <a:ea typeface="Mokoto"/>
                <a:cs typeface="Mokoto"/>
                <a:sym typeface="Mokoto"/>
              </a:rPr>
              <a:t> Solution</a:t>
            </a:r>
          </a:p>
        </p:txBody>
      </p:sp>
      <p:grpSp>
        <p:nvGrpSpPr>
          <p:cNvPr name="Group 10" id="10"/>
          <p:cNvGrpSpPr/>
          <p:nvPr/>
        </p:nvGrpSpPr>
        <p:grpSpPr>
          <a:xfrm rot="0">
            <a:off x="12685895" y="373031"/>
            <a:ext cx="5341043" cy="625068"/>
            <a:chOff x="0" y="0"/>
            <a:chExt cx="7121391" cy="833423"/>
          </a:xfrm>
        </p:grpSpPr>
        <p:sp>
          <p:nvSpPr>
            <p:cNvPr name="Freeform 11" id="11"/>
            <p:cNvSpPr/>
            <p:nvPr/>
          </p:nvSpPr>
          <p:spPr>
            <a:xfrm flipH="false" flipV="false" rot="0">
              <a:off x="4980572" y="0"/>
              <a:ext cx="2140819" cy="833423"/>
            </a:xfrm>
            <a:custGeom>
              <a:avLst/>
              <a:gdLst/>
              <a:ahLst/>
              <a:cxnLst/>
              <a:rect r="r" b="b" t="t" l="l"/>
              <a:pathLst>
                <a:path h="833423" w="2140819">
                  <a:moveTo>
                    <a:pt x="0" y="0"/>
                  </a:moveTo>
                  <a:lnTo>
                    <a:pt x="2140819" y="0"/>
                  </a:lnTo>
                  <a:lnTo>
                    <a:pt x="2140819" y="833423"/>
                  </a:lnTo>
                  <a:lnTo>
                    <a:pt x="0" y="833423"/>
                  </a:lnTo>
                  <a:lnTo>
                    <a:pt x="0" y="0"/>
                  </a:lnTo>
                  <a:close/>
                </a:path>
              </a:pathLst>
            </a:custGeom>
            <a:blipFill>
              <a:blip r:embed="rId4"/>
              <a:stretch>
                <a:fillRect l="0" t="-496" r="0" b="0"/>
              </a:stretch>
            </a:blipFill>
          </p:spPr>
        </p:sp>
        <p:sp>
          <p:nvSpPr>
            <p:cNvPr name="Freeform 12" id="12"/>
            <p:cNvSpPr/>
            <p:nvPr/>
          </p:nvSpPr>
          <p:spPr>
            <a:xfrm flipH="false" flipV="false" rot="0">
              <a:off x="0" y="0"/>
              <a:ext cx="1419945" cy="833423"/>
            </a:xfrm>
            <a:custGeom>
              <a:avLst/>
              <a:gdLst/>
              <a:ahLst/>
              <a:cxnLst/>
              <a:rect r="r" b="b" t="t" l="l"/>
              <a:pathLst>
                <a:path h="833423" w="1419945">
                  <a:moveTo>
                    <a:pt x="0" y="0"/>
                  </a:moveTo>
                  <a:lnTo>
                    <a:pt x="1419945" y="0"/>
                  </a:lnTo>
                  <a:lnTo>
                    <a:pt x="1419945" y="833423"/>
                  </a:lnTo>
                  <a:lnTo>
                    <a:pt x="0" y="833423"/>
                  </a:lnTo>
                  <a:lnTo>
                    <a:pt x="0" y="0"/>
                  </a:lnTo>
                  <a:close/>
                </a:path>
              </a:pathLst>
            </a:custGeom>
            <a:blipFill>
              <a:blip r:embed="rId5"/>
              <a:stretch>
                <a:fillRect l="-17178" t="-112928" r="-13043" b="-100926"/>
              </a:stretch>
            </a:blipFill>
          </p:spPr>
        </p:sp>
        <p:sp>
          <p:nvSpPr>
            <p:cNvPr name="Freeform 13" id="13"/>
            <p:cNvSpPr/>
            <p:nvPr/>
          </p:nvSpPr>
          <p:spPr>
            <a:xfrm flipH="false" flipV="false" rot="0">
              <a:off x="2007209" y="0"/>
              <a:ext cx="2391618" cy="833423"/>
            </a:xfrm>
            <a:custGeom>
              <a:avLst/>
              <a:gdLst/>
              <a:ahLst/>
              <a:cxnLst/>
              <a:rect r="r" b="b" t="t" l="l"/>
              <a:pathLst>
                <a:path h="833423" w="2391618">
                  <a:moveTo>
                    <a:pt x="0" y="0"/>
                  </a:moveTo>
                  <a:lnTo>
                    <a:pt x="2391618" y="0"/>
                  </a:lnTo>
                  <a:lnTo>
                    <a:pt x="2391618" y="833423"/>
                  </a:lnTo>
                  <a:lnTo>
                    <a:pt x="0" y="833423"/>
                  </a:lnTo>
                  <a:lnTo>
                    <a:pt x="0" y="0"/>
                  </a:lnTo>
                  <a:close/>
                </a:path>
              </a:pathLst>
            </a:custGeom>
            <a:blipFill>
              <a:blip r:embed="rId6"/>
              <a:stretch>
                <a:fillRect l="-11901" t="-120981" r="-6347" b="-118346"/>
              </a:stretch>
            </a:blipFill>
          </p:spPr>
        </p:sp>
        <p:sp>
          <p:nvSpPr>
            <p:cNvPr name="TextBox 14" id="14"/>
            <p:cNvSpPr txBox="true"/>
            <p:nvPr/>
          </p:nvSpPr>
          <p:spPr>
            <a:xfrm rot="0">
              <a:off x="1543820" y="241157"/>
              <a:ext cx="361740" cy="322535"/>
            </a:xfrm>
            <a:prstGeom prst="rect">
              <a:avLst/>
            </a:prstGeom>
          </p:spPr>
          <p:txBody>
            <a:bodyPr anchor="t" rtlCol="false" tIns="0" lIns="0" bIns="0" rIns="0">
              <a:spAutoFit/>
            </a:bodyPr>
            <a:lstStyle/>
            <a:p>
              <a:pPr algn="ctr">
                <a:lnSpc>
                  <a:spcPts val="2059"/>
                </a:lnSpc>
                <a:spcBef>
                  <a:spcPct val="0"/>
                </a:spcBef>
              </a:pPr>
              <a:r>
                <a:rPr lang="en-US" sz="1471">
                  <a:solidFill>
                    <a:srgbClr val="000000"/>
                  </a:solidFill>
                  <a:latin typeface="Bicubik"/>
                  <a:ea typeface="Bicubik"/>
                  <a:cs typeface="Bicubik"/>
                  <a:sym typeface="Bicubik"/>
                </a:rPr>
                <a:t>X</a:t>
              </a:r>
            </a:p>
          </p:txBody>
        </p:sp>
        <p:sp>
          <p:nvSpPr>
            <p:cNvPr name="TextBox 15" id="15"/>
            <p:cNvSpPr txBox="true"/>
            <p:nvPr/>
          </p:nvSpPr>
          <p:spPr>
            <a:xfrm rot="0">
              <a:off x="4398827" y="241157"/>
              <a:ext cx="361740" cy="322535"/>
            </a:xfrm>
            <a:prstGeom prst="rect">
              <a:avLst/>
            </a:prstGeom>
          </p:spPr>
          <p:txBody>
            <a:bodyPr anchor="t" rtlCol="false" tIns="0" lIns="0" bIns="0" rIns="0">
              <a:spAutoFit/>
            </a:bodyPr>
            <a:lstStyle/>
            <a:p>
              <a:pPr algn="ctr">
                <a:lnSpc>
                  <a:spcPts val="2059"/>
                </a:lnSpc>
                <a:spcBef>
                  <a:spcPct val="0"/>
                </a:spcBef>
              </a:pPr>
              <a:r>
                <a:rPr lang="en-US" sz="1471">
                  <a:solidFill>
                    <a:srgbClr val="000000"/>
                  </a:solidFill>
                  <a:latin typeface="Bicubik"/>
                  <a:ea typeface="Bicubik"/>
                  <a:cs typeface="Bicubik"/>
                  <a:sym typeface="Bicubik"/>
                </a:rPr>
                <a:t>X</a:t>
              </a:r>
            </a:p>
          </p:txBody>
        </p:sp>
      </p:grpSp>
      <p:sp>
        <p:nvSpPr>
          <p:cNvPr name="Freeform 16" id="16"/>
          <p:cNvSpPr/>
          <p:nvPr/>
        </p:nvSpPr>
        <p:spPr>
          <a:xfrm flipH="false" flipV="false" rot="0">
            <a:off x="168180" y="232318"/>
            <a:ext cx="2648848" cy="1379161"/>
          </a:xfrm>
          <a:custGeom>
            <a:avLst/>
            <a:gdLst/>
            <a:ahLst/>
            <a:cxnLst/>
            <a:rect r="r" b="b" t="t" l="l"/>
            <a:pathLst>
              <a:path h="1379161" w="2648848">
                <a:moveTo>
                  <a:pt x="0" y="0"/>
                </a:moveTo>
                <a:lnTo>
                  <a:pt x="2648848" y="0"/>
                </a:lnTo>
                <a:lnTo>
                  <a:pt x="2648848" y="1379162"/>
                </a:lnTo>
                <a:lnTo>
                  <a:pt x="0" y="1379162"/>
                </a:lnTo>
                <a:lnTo>
                  <a:pt x="0" y="0"/>
                </a:lnTo>
                <a:close/>
              </a:path>
            </a:pathLst>
          </a:custGeom>
          <a:blipFill>
            <a:blip r:embed="rId7"/>
            <a:stretch>
              <a:fillRect l="0" t="-9355"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74252" cy="10279267"/>
          </a:xfrm>
          <a:custGeom>
            <a:avLst/>
            <a:gdLst/>
            <a:ahLst/>
            <a:cxnLst/>
            <a:rect r="r" b="b" t="t" l="l"/>
            <a:pathLst>
              <a:path h="10279267" w="18274252">
                <a:moveTo>
                  <a:pt x="0" y="0"/>
                </a:moveTo>
                <a:lnTo>
                  <a:pt x="18274252" y="0"/>
                </a:lnTo>
                <a:lnTo>
                  <a:pt x="18274252" y="10279267"/>
                </a:lnTo>
                <a:lnTo>
                  <a:pt x="0" y="10279267"/>
                </a:lnTo>
                <a:lnTo>
                  <a:pt x="0" y="0"/>
                </a:lnTo>
                <a:close/>
              </a:path>
            </a:pathLst>
          </a:custGeom>
          <a:blipFill>
            <a:blip r:embed="rId2"/>
            <a:stretch>
              <a:fillRect l="0" t="0" r="0" b="0"/>
            </a:stretch>
          </a:blipFill>
        </p:spPr>
      </p:sp>
      <p:grpSp>
        <p:nvGrpSpPr>
          <p:cNvPr name="Group 3" id="3"/>
          <p:cNvGrpSpPr/>
          <p:nvPr/>
        </p:nvGrpSpPr>
        <p:grpSpPr>
          <a:xfrm rot="0">
            <a:off x="1354215" y="3466235"/>
            <a:ext cx="15593317" cy="5144901"/>
            <a:chOff x="0" y="0"/>
            <a:chExt cx="4106882" cy="1355036"/>
          </a:xfrm>
        </p:grpSpPr>
        <p:sp>
          <p:nvSpPr>
            <p:cNvPr name="Freeform 4" id="4"/>
            <p:cNvSpPr/>
            <p:nvPr/>
          </p:nvSpPr>
          <p:spPr>
            <a:xfrm flipH="false" flipV="false" rot="0">
              <a:off x="0" y="0"/>
              <a:ext cx="4106882" cy="1355036"/>
            </a:xfrm>
            <a:custGeom>
              <a:avLst/>
              <a:gdLst/>
              <a:ahLst/>
              <a:cxnLst/>
              <a:rect r="r" b="b" t="t" l="l"/>
              <a:pathLst>
                <a:path h="1355036" w="4106882">
                  <a:moveTo>
                    <a:pt x="25321" y="0"/>
                  </a:moveTo>
                  <a:lnTo>
                    <a:pt x="4081561" y="0"/>
                  </a:lnTo>
                  <a:cubicBezTo>
                    <a:pt x="4088276" y="0"/>
                    <a:pt x="4094717" y="2668"/>
                    <a:pt x="4099466" y="7416"/>
                  </a:cubicBezTo>
                  <a:cubicBezTo>
                    <a:pt x="4104214" y="12165"/>
                    <a:pt x="4106882" y="18605"/>
                    <a:pt x="4106882" y="25321"/>
                  </a:cubicBezTo>
                  <a:lnTo>
                    <a:pt x="4106882" y="1329715"/>
                  </a:lnTo>
                  <a:cubicBezTo>
                    <a:pt x="4106882" y="1336430"/>
                    <a:pt x="4104214" y="1342871"/>
                    <a:pt x="4099466" y="1347619"/>
                  </a:cubicBezTo>
                  <a:cubicBezTo>
                    <a:pt x="4094717" y="1352368"/>
                    <a:pt x="4088276" y="1355036"/>
                    <a:pt x="4081561" y="1355036"/>
                  </a:cubicBezTo>
                  <a:lnTo>
                    <a:pt x="25321" y="1355036"/>
                  </a:lnTo>
                  <a:cubicBezTo>
                    <a:pt x="11337" y="1355036"/>
                    <a:pt x="0" y="1343699"/>
                    <a:pt x="0" y="1329715"/>
                  </a:cubicBezTo>
                  <a:lnTo>
                    <a:pt x="0" y="25321"/>
                  </a:lnTo>
                  <a:cubicBezTo>
                    <a:pt x="0" y="18605"/>
                    <a:pt x="2668" y="12165"/>
                    <a:pt x="7416" y="7416"/>
                  </a:cubicBezTo>
                  <a:cubicBezTo>
                    <a:pt x="12165" y="2668"/>
                    <a:pt x="18605" y="0"/>
                    <a:pt x="25321" y="0"/>
                  </a:cubicBezTo>
                  <a:close/>
                </a:path>
              </a:pathLst>
            </a:custGeom>
            <a:solidFill>
              <a:srgbClr val="D1A85B"/>
            </a:solidFill>
          </p:spPr>
        </p:sp>
        <p:sp>
          <p:nvSpPr>
            <p:cNvPr name="TextBox 5" id="5"/>
            <p:cNvSpPr txBox="true"/>
            <p:nvPr/>
          </p:nvSpPr>
          <p:spPr>
            <a:xfrm>
              <a:off x="0" y="-38100"/>
              <a:ext cx="4106882" cy="1393136"/>
            </a:xfrm>
            <a:prstGeom prst="rect">
              <a:avLst/>
            </a:prstGeom>
          </p:spPr>
          <p:txBody>
            <a:bodyPr anchor="ctr" rtlCol="false" tIns="50800" lIns="50800" bIns="50800" rIns="50800"/>
            <a:lstStyle/>
            <a:p>
              <a:pPr algn="just">
                <a:lnSpc>
                  <a:spcPts val="3499"/>
                </a:lnSpc>
              </a:pPr>
            </a:p>
          </p:txBody>
        </p:sp>
      </p:grpSp>
      <p:sp>
        <p:nvSpPr>
          <p:cNvPr name="TextBox 6" id="6"/>
          <p:cNvSpPr txBox="true"/>
          <p:nvPr/>
        </p:nvSpPr>
        <p:spPr>
          <a:xfrm rot="0">
            <a:off x="5093601" y="1596894"/>
            <a:ext cx="8087050" cy="1111250"/>
          </a:xfrm>
          <a:prstGeom prst="rect">
            <a:avLst/>
          </a:prstGeom>
        </p:spPr>
        <p:txBody>
          <a:bodyPr anchor="t" rtlCol="false" tIns="0" lIns="0" bIns="0" rIns="0">
            <a:spAutoFit/>
          </a:bodyPr>
          <a:lstStyle/>
          <a:p>
            <a:pPr algn="ctr">
              <a:lnSpc>
                <a:spcPts val="9099"/>
              </a:lnSpc>
              <a:spcBef>
                <a:spcPct val="0"/>
              </a:spcBef>
            </a:pPr>
            <a:r>
              <a:rPr lang="en-US" sz="6499">
                <a:solidFill>
                  <a:srgbClr val="000000"/>
                </a:solidFill>
                <a:latin typeface="Mokoto"/>
                <a:ea typeface="Mokoto"/>
                <a:cs typeface="Mokoto"/>
                <a:sym typeface="Mokoto"/>
              </a:rPr>
              <a:t>LEAN CANVAS</a:t>
            </a:r>
          </a:p>
        </p:txBody>
      </p:sp>
      <p:sp>
        <p:nvSpPr>
          <p:cNvPr name="TextBox 7" id="7"/>
          <p:cNvSpPr txBox="true"/>
          <p:nvPr/>
        </p:nvSpPr>
        <p:spPr>
          <a:xfrm rot="0">
            <a:off x="1626880" y="3644482"/>
            <a:ext cx="15020492" cy="4636008"/>
          </a:xfrm>
          <a:prstGeom prst="rect">
            <a:avLst/>
          </a:prstGeom>
        </p:spPr>
        <p:txBody>
          <a:bodyPr anchor="t" rtlCol="false" tIns="0" lIns="0" bIns="0" rIns="0">
            <a:spAutoFit/>
          </a:bodyPr>
          <a:lstStyle/>
          <a:p>
            <a:pPr algn="just">
              <a:lnSpc>
                <a:spcPts val="6156"/>
              </a:lnSpc>
            </a:pPr>
            <a:r>
              <a:rPr lang="en-US" b="true" sz="3800">
                <a:solidFill>
                  <a:srgbClr val="000000"/>
                </a:solidFill>
                <a:latin typeface="Glacial Indifference Bold"/>
                <a:ea typeface="Glacial Indifference Bold"/>
                <a:cs typeface="Glacial Indifference Bold"/>
                <a:sym typeface="Glacial Indifference Bold"/>
              </a:rPr>
              <a:t>Problem :​</a:t>
            </a:r>
          </a:p>
          <a:p>
            <a:pPr algn="just" marL="820421" indent="-410210" lvl="1">
              <a:lnSpc>
                <a:spcPts val="6156"/>
              </a:lnSpc>
              <a:buFont typeface="Arial"/>
              <a:buChar char="•"/>
            </a:pPr>
            <a:r>
              <a:rPr lang="en-US" sz="3800">
                <a:solidFill>
                  <a:srgbClr val="000000"/>
                </a:solidFill>
                <a:latin typeface="Glacial Indifference"/>
                <a:ea typeface="Glacial Indifference"/>
                <a:cs typeface="Glacial Indifference"/>
                <a:sym typeface="Glacial Indifference"/>
              </a:rPr>
              <a:t>Customer Segments: Who needs this?​</a:t>
            </a:r>
          </a:p>
          <a:p>
            <a:pPr algn="just" marL="820421" indent="-410210" lvl="1">
              <a:lnSpc>
                <a:spcPts val="6156"/>
              </a:lnSpc>
              <a:buFont typeface="Arial"/>
              <a:buChar char="•"/>
            </a:pPr>
            <a:r>
              <a:rPr lang="en-US" sz="3800">
                <a:solidFill>
                  <a:srgbClr val="000000"/>
                </a:solidFill>
                <a:latin typeface="Glacial Indifference"/>
                <a:ea typeface="Glacial Indifference"/>
                <a:cs typeface="Glacial Indifference"/>
                <a:sym typeface="Glacial Indifference"/>
              </a:rPr>
              <a:t>Unique Value Proposition (USP): What makes your solution stand out?​</a:t>
            </a:r>
          </a:p>
          <a:p>
            <a:pPr algn="just" marL="820421" indent="-410210" lvl="1">
              <a:lnSpc>
                <a:spcPts val="6156"/>
              </a:lnSpc>
              <a:buFont typeface="Arial"/>
              <a:buChar char="•"/>
            </a:pPr>
            <a:r>
              <a:rPr lang="en-US" sz="3800">
                <a:solidFill>
                  <a:srgbClr val="000000"/>
                </a:solidFill>
                <a:latin typeface="Glacial Indifference"/>
                <a:ea typeface="Glacial Indifference"/>
                <a:cs typeface="Glacial Indifference"/>
                <a:sym typeface="Glacial Indifference"/>
              </a:rPr>
              <a:t>Revenue Streams (if applicable): How will this sustain itself?​</a:t>
            </a:r>
          </a:p>
          <a:p>
            <a:pPr algn="just" marL="820421" indent="-410210" lvl="1">
              <a:lnSpc>
                <a:spcPts val="6156"/>
              </a:lnSpc>
              <a:buFont typeface="Arial"/>
              <a:buChar char="•"/>
            </a:pPr>
            <a:r>
              <a:rPr lang="en-US" sz="3800">
                <a:solidFill>
                  <a:srgbClr val="000000"/>
                </a:solidFill>
                <a:latin typeface="Glacial Indifference"/>
                <a:ea typeface="Glacial Indifference"/>
                <a:cs typeface="Glacial Indifference"/>
                <a:sym typeface="Glacial Indifference"/>
              </a:rPr>
              <a:t>Cost Structure: Major resources required, e.g., cloud, hardware​</a:t>
            </a:r>
          </a:p>
          <a:p>
            <a:pPr algn="just">
              <a:lnSpc>
                <a:spcPts val="6156"/>
              </a:lnSpc>
            </a:pPr>
          </a:p>
        </p:txBody>
      </p:sp>
      <p:sp>
        <p:nvSpPr>
          <p:cNvPr name="Freeform 8" id="8"/>
          <p:cNvSpPr/>
          <p:nvPr/>
        </p:nvSpPr>
        <p:spPr>
          <a:xfrm flipH="false" flipV="false" rot="0">
            <a:off x="0" y="10092690"/>
            <a:ext cx="18288000" cy="194310"/>
          </a:xfrm>
          <a:custGeom>
            <a:avLst/>
            <a:gdLst/>
            <a:ahLst/>
            <a:cxnLst/>
            <a:rect r="r" b="b" t="t" l="l"/>
            <a:pathLst>
              <a:path h="194310" w="18288000">
                <a:moveTo>
                  <a:pt x="0" y="0"/>
                </a:moveTo>
                <a:lnTo>
                  <a:pt x="18288000" y="0"/>
                </a:lnTo>
                <a:lnTo>
                  <a:pt x="18288000" y="194310"/>
                </a:lnTo>
                <a:lnTo>
                  <a:pt x="0" y="194310"/>
                </a:lnTo>
                <a:lnTo>
                  <a:pt x="0" y="0"/>
                </a:lnTo>
                <a:close/>
              </a:path>
            </a:pathLst>
          </a:custGeom>
          <a:blipFill>
            <a:blip r:embed="rId3"/>
            <a:stretch>
              <a:fillRect l="0" t="0" r="0" b="0"/>
            </a:stretch>
          </a:blipFill>
        </p:spPr>
      </p:sp>
      <p:grpSp>
        <p:nvGrpSpPr>
          <p:cNvPr name="Group 9" id="9"/>
          <p:cNvGrpSpPr/>
          <p:nvPr/>
        </p:nvGrpSpPr>
        <p:grpSpPr>
          <a:xfrm rot="0">
            <a:off x="12685895" y="373031"/>
            <a:ext cx="5341043" cy="625068"/>
            <a:chOff x="0" y="0"/>
            <a:chExt cx="7121391" cy="833423"/>
          </a:xfrm>
        </p:grpSpPr>
        <p:sp>
          <p:nvSpPr>
            <p:cNvPr name="Freeform 10" id="10"/>
            <p:cNvSpPr/>
            <p:nvPr/>
          </p:nvSpPr>
          <p:spPr>
            <a:xfrm flipH="false" flipV="false" rot="0">
              <a:off x="4980572" y="0"/>
              <a:ext cx="2140819" cy="833423"/>
            </a:xfrm>
            <a:custGeom>
              <a:avLst/>
              <a:gdLst/>
              <a:ahLst/>
              <a:cxnLst/>
              <a:rect r="r" b="b" t="t" l="l"/>
              <a:pathLst>
                <a:path h="833423" w="2140819">
                  <a:moveTo>
                    <a:pt x="0" y="0"/>
                  </a:moveTo>
                  <a:lnTo>
                    <a:pt x="2140819" y="0"/>
                  </a:lnTo>
                  <a:lnTo>
                    <a:pt x="2140819" y="833423"/>
                  </a:lnTo>
                  <a:lnTo>
                    <a:pt x="0" y="833423"/>
                  </a:lnTo>
                  <a:lnTo>
                    <a:pt x="0" y="0"/>
                  </a:lnTo>
                  <a:close/>
                </a:path>
              </a:pathLst>
            </a:custGeom>
            <a:blipFill>
              <a:blip r:embed="rId4"/>
              <a:stretch>
                <a:fillRect l="0" t="-496" r="0" b="0"/>
              </a:stretch>
            </a:blipFill>
          </p:spPr>
        </p:sp>
        <p:sp>
          <p:nvSpPr>
            <p:cNvPr name="Freeform 11" id="11"/>
            <p:cNvSpPr/>
            <p:nvPr/>
          </p:nvSpPr>
          <p:spPr>
            <a:xfrm flipH="false" flipV="false" rot="0">
              <a:off x="0" y="0"/>
              <a:ext cx="1419945" cy="833423"/>
            </a:xfrm>
            <a:custGeom>
              <a:avLst/>
              <a:gdLst/>
              <a:ahLst/>
              <a:cxnLst/>
              <a:rect r="r" b="b" t="t" l="l"/>
              <a:pathLst>
                <a:path h="833423" w="1419945">
                  <a:moveTo>
                    <a:pt x="0" y="0"/>
                  </a:moveTo>
                  <a:lnTo>
                    <a:pt x="1419945" y="0"/>
                  </a:lnTo>
                  <a:lnTo>
                    <a:pt x="1419945" y="833423"/>
                  </a:lnTo>
                  <a:lnTo>
                    <a:pt x="0" y="833423"/>
                  </a:lnTo>
                  <a:lnTo>
                    <a:pt x="0" y="0"/>
                  </a:lnTo>
                  <a:close/>
                </a:path>
              </a:pathLst>
            </a:custGeom>
            <a:blipFill>
              <a:blip r:embed="rId5"/>
              <a:stretch>
                <a:fillRect l="-17178" t="-112928" r="-13043" b="-100926"/>
              </a:stretch>
            </a:blipFill>
          </p:spPr>
        </p:sp>
        <p:sp>
          <p:nvSpPr>
            <p:cNvPr name="Freeform 12" id="12"/>
            <p:cNvSpPr/>
            <p:nvPr/>
          </p:nvSpPr>
          <p:spPr>
            <a:xfrm flipH="false" flipV="false" rot="0">
              <a:off x="2007209" y="0"/>
              <a:ext cx="2391618" cy="833423"/>
            </a:xfrm>
            <a:custGeom>
              <a:avLst/>
              <a:gdLst/>
              <a:ahLst/>
              <a:cxnLst/>
              <a:rect r="r" b="b" t="t" l="l"/>
              <a:pathLst>
                <a:path h="833423" w="2391618">
                  <a:moveTo>
                    <a:pt x="0" y="0"/>
                  </a:moveTo>
                  <a:lnTo>
                    <a:pt x="2391618" y="0"/>
                  </a:lnTo>
                  <a:lnTo>
                    <a:pt x="2391618" y="833423"/>
                  </a:lnTo>
                  <a:lnTo>
                    <a:pt x="0" y="833423"/>
                  </a:lnTo>
                  <a:lnTo>
                    <a:pt x="0" y="0"/>
                  </a:lnTo>
                  <a:close/>
                </a:path>
              </a:pathLst>
            </a:custGeom>
            <a:blipFill>
              <a:blip r:embed="rId6"/>
              <a:stretch>
                <a:fillRect l="-11901" t="-120981" r="-6347" b="-118346"/>
              </a:stretch>
            </a:blipFill>
          </p:spPr>
        </p:sp>
        <p:sp>
          <p:nvSpPr>
            <p:cNvPr name="TextBox 13" id="13"/>
            <p:cNvSpPr txBox="true"/>
            <p:nvPr/>
          </p:nvSpPr>
          <p:spPr>
            <a:xfrm rot="0">
              <a:off x="1543820" y="241157"/>
              <a:ext cx="361740" cy="322535"/>
            </a:xfrm>
            <a:prstGeom prst="rect">
              <a:avLst/>
            </a:prstGeom>
          </p:spPr>
          <p:txBody>
            <a:bodyPr anchor="t" rtlCol="false" tIns="0" lIns="0" bIns="0" rIns="0">
              <a:spAutoFit/>
            </a:bodyPr>
            <a:lstStyle/>
            <a:p>
              <a:pPr algn="ctr">
                <a:lnSpc>
                  <a:spcPts val="2059"/>
                </a:lnSpc>
                <a:spcBef>
                  <a:spcPct val="0"/>
                </a:spcBef>
              </a:pPr>
              <a:r>
                <a:rPr lang="en-US" sz="1471">
                  <a:solidFill>
                    <a:srgbClr val="000000"/>
                  </a:solidFill>
                  <a:latin typeface="Bicubik"/>
                  <a:ea typeface="Bicubik"/>
                  <a:cs typeface="Bicubik"/>
                  <a:sym typeface="Bicubik"/>
                </a:rPr>
                <a:t>X</a:t>
              </a:r>
            </a:p>
          </p:txBody>
        </p:sp>
        <p:sp>
          <p:nvSpPr>
            <p:cNvPr name="TextBox 14" id="14"/>
            <p:cNvSpPr txBox="true"/>
            <p:nvPr/>
          </p:nvSpPr>
          <p:spPr>
            <a:xfrm rot="0">
              <a:off x="4398827" y="241157"/>
              <a:ext cx="361740" cy="322535"/>
            </a:xfrm>
            <a:prstGeom prst="rect">
              <a:avLst/>
            </a:prstGeom>
          </p:spPr>
          <p:txBody>
            <a:bodyPr anchor="t" rtlCol="false" tIns="0" lIns="0" bIns="0" rIns="0">
              <a:spAutoFit/>
            </a:bodyPr>
            <a:lstStyle/>
            <a:p>
              <a:pPr algn="ctr">
                <a:lnSpc>
                  <a:spcPts val="2059"/>
                </a:lnSpc>
                <a:spcBef>
                  <a:spcPct val="0"/>
                </a:spcBef>
              </a:pPr>
              <a:r>
                <a:rPr lang="en-US" sz="1471">
                  <a:solidFill>
                    <a:srgbClr val="000000"/>
                  </a:solidFill>
                  <a:latin typeface="Bicubik"/>
                  <a:ea typeface="Bicubik"/>
                  <a:cs typeface="Bicubik"/>
                  <a:sym typeface="Bicubik"/>
                </a:rPr>
                <a:t>X</a:t>
              </a:r>
            </a:p>
          </p:txBody>
        </p:sp>
      </p:grpSp>
      <p:sp>
        <p:nvSpPr>
          <p:cNvPr name="Freeform 15" id="15"/>
          <p:cNvSpPr/>
          <p:nvPr/>
        </p:nvSpPr>
        <p:spPr>
          <a:xfrm flipH="false" flipV="false" rot="0">
            <a:off x="168180" y="232318"/>
            <a:ext cx="2648848" cy="1379161"/>
          </a:xfrm>
          <a:custGeom>
            <a:avLst/>
            <a:gdLst/>
            <a:ahLst/>
            <a:cxnLst/>
            <a:rect r="r" b="b" t="t" l="l"/>
            <a:pathLst>
              <a:path h="1379161" w="2648848">
                <a:moveTo>
                  <a:pt x="0" y="0"/>
                </a:moveTo>
                <a:lnTo>
                  <a:pt x="2648848" y="0"/>
                </a:lnTo>
                <a:lnTo>
                  <a:pt x="2648848" y="1379162"/>
                </a:lnTo>
                <a:lnTo>
                  <a:pt x="0" y="1379162"/>
                </a:lnTo>
                <a:lnTo>
                  <a:pt x="0" y="0"/>
                </a:lnTo>
                <a:close/>
              </a:path>
            </a:pathLst>
          </a:custGeom>
          <a:blipFill>
            <a:blip r:embed="rId7"/>
            <a:stretch>
              <a:fillRect l="0" t="-9355"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74252" cy="10279267"/>
          </a:xfrm>
          <a:custGeom>
            <a:avLst/>
            <a:gdLst/>
            <a:ahLst/>
            <a:cxnLst/>
            <a:rect r="r" b="b" t="t" l="l"/>
            <a:pathLst>
              <a:path h="10279267" w="18274252">
                <a:moveTo>
                  <a:pt x="0" y="0"/>
                </a:moveTo>
                <a:lnTo>
                  <a:pt x="18274252" y="0"/>
                </a:lnTo>
                <a:lnTo>
                  <a:pt x="18274252" y="10279267"/>
                </a:lnTo>
                <a:lnTo>
                  <a:pt x="0" y="10279267"/>
                </a:lnTo>
                <a:lnTo>
                  <a:pt x="0" y="0"/>
                </a:lnTo>
                <a:close/>
              </a:path>
            </a:pathLst>
          </a:custGeom>
          <a:blipFill>
            <a:blip r:embed="rId2"/>
            <a:stretch>
              <a:fillRect l="0" t="0" r="0" b="0"/>
            </a:stretch>
          </a:blipFill>
        </p:spPr>
      </p:sp>
      <p:grpSp>
        <p:nvGrpSpPr>
          <p:cNvPr name="Group 3" id="3"/>
          <p:cNvGrpSpPr/>
          <p:nvPr/>
        </p:nvGrpSpPr>
        <p:grpSpPr>
          <a:xfrm rot="0">
            <a:off x="1354215" y="3466235"/>
            <a:ext cx="15593317" cy="5144901"/>
            <a:chOff x="0" y="0"/>
            <a:chExt cx="4106882" cy="1355036"/>
          </a:xfrm>
        </p:grpSpPr>
        <p:sp>
          <p:nvSpPr>
            <p:cNvPr name="Freeform 4" id="4"/>
            <p:cNvSpPr/>
            <p:nvPr/>
          </p:nvSpPr>
          <p:spPr>
            <a:xfrm flipH="false" flipV="false" rot="0">
              <a:off x="0" y="0"/>
              <a:ext cx="4106882" cy="1355036"/>
            </a:xfrm>
            <a:custGeom>
              <a:avLst/>
              <a:gdLst/>
              <a:ahLst/>
              <a:cxnLst/>
              <a:rect r="r" b="b" t="t" l="l"/>
              <a:pathLst>
                <a:path h="1355036" w="4106882">
                  <a:moveTo>
                    <a:pt x="25321" y="0"/>
                  </a:moveTo>
                  <a:lnTo>
                    <a:pt x="4081561" y="0"/>
                  </a:lnTo>
                  <a:cubicBezTo>
                    <a:pt x="4088276" y="0"/>
                    <a:pt x="4094717" y="2668"/>
                    <a:pt x="4099466" y="7416"/>
                  </a:cubicBezTo>
                  <a:cubicBezTo>
                    <a:pt x="4104214" y="12165"/>
                    <a:pt x="4106882" y="18605"/>
                    <a:pt x="4106882" y="25321"/>
                  </a:cubicBezTo>
                  <a:lnTo>
                    <a:pt x="4106882" y="1329715"/>
                  </a:lnTo>
                  <a:cubicBezTo>
                    <a:pt x="4106882" y="1336430"/>
                    <a:pt x="4104214" y="1342871"/>
                    <a:pt x="4099466" y="1347619"/>
                  </a:cubicBezTo>
                  <a:cubicBezTo>
                    <a:pt x="4094717" y="1352368"/>
                    <a:pt x="4088276" y="1355036"/>
                    <a:pt x="4081561" y="1355036"/>
                  </a:cubicBezTo>
                  <a:lnTo>
                    <a:pt x="25321" y="1355036"/>
                  </a:lnTo>
                  <a:cubicBezTo>
                    <a:pt x="11337" y="1355036"/>
                    <a:pt x="0" y="1343699"/>
                    <a:pt x="0" y="1329715"/>
                  </a:cubicBezTo>
                  <a:lnTo>
                    <a:pt x="0" y="25321"/>
                  </a:lnTo>
                  <a:cubicBezTo>
                    <a:pt x="0" y="18605"/>
                    <a:pt x="2668" y="12165"/>
                    <a:pt x="7416" y="7416"/>
                  </a:cubicBezTo>
                  <a:cubicBezTo>
                    <a:pt x="12165" y="2668"/>
                    <a:pt x="18605" y="0"/>
                    <a:pt x="25321" y="0"/>
                  </a:cubicBezTo>
                  <a:close/>
                </a:path>
              </a:pathLst>
            </a:custGeom>
            <a:solidFill>
              <a:srgbClr val="D1A85B"/>
            </a:solidFill>
          </p:spPr>
        </p:sp>
        <p:sp>
          <p:nvSpPr>
            <p:cNvPr name="TextBox 5" id="5"/>
            <p:cNvSpPr txBox="true"/>
            <p:nvPr/>
          </p:nvSpPr>
          <p:spPr>
            <a:xfrm>
              <a:off x="0" y="-38100"/>
              <a:ext cx="4106882" cy="1393136"/>
            </a:xfrm>
            <a:prstGeom prst="rect">
              <a:avLst/>
            </a:prstGeom>
          </p:spPr>
          <p:txBody>
            <a:bodyPr anchor="ctr" rtlCol="false" tIns="50800" lIns="50800" bIns="50800" rIns="50800"/>
            <a:lstStyle/>
            <a:p>
              <a:pPr algn="just">
                <a:lnSpc>
                  <a:spcPts val="3499"/>
                </a:lnSpc>
              </a:pPr>
            </a:p>
          </p:txBody>
        </p:sp>
      </p:grpSp>
      <p:sp>
        <p:nvSpPr>
          <p:cNvPr name="TextBox 6" id="6"/>
          <p:cNvSpPr txBox="true"/>
          <p:nvPr/>
        </p:nvSpPr>
        <p:spPr>
          <a:xfrm rot="0">
            <a:off x="5136096" y="566921"/>
            <a:ext cx="6498335" cy="1153798"/>
          </a:xfrm>
          <a:prstGeom prst="rect">
            <a:avLst/>
          </a:prstGeom>
        </p:spPr>
        <p:txBody>
          <a:bodyPr anchor="t" rtlCol="false" tIns="0" lIns="0" bIns="0" rIns="0">
            <a:spAutoFit/>
          </a:bodyPr>
          <a:lstStyle/>
          <a:p>
            <a:pPr algn="ctr">
              <a:lnSpc>
                <a:spcPts val="9379"/>
              </a:lnSpc>
              <a:spcBef>
                <a:spcPct val="0"/>
              </a:spcBef>
            </a:pPr>
            <a:r>
              <a:rPr lang="en-US" sz="6699">
                <a:solidFill>
                  <a:srgbClr val="FFFFFF"/>
                </a:solidFill>
                <a:latin typeface="Bicubik"/>
                <a:ea typeface="Bicubik"/>
                <a:cs typeface="Bicubik"/>
                <a:sym typeface="Bicubik"/>
              </a:rPr>
              <a:t>Argonyx'26</a:t>
            </a:r>
          </a:p>
        </p:txBody>
      </p:sp>
      <p:sp>
        <p:nvSpPr>
          <p:cNvPr name="TextBox 7" id="7"/>
          <p:cNvSpPr txBox="true"/>
          <p:nvPr/>
        </p:nvSpPr>
        <p:spPr>
          <a:xfrm rot="0">
            <a:off x="2037627" y="4077524"/>
            <a:ext cx="14198998" cy="3429762"/>
          </a:xfrm>
          <a:prstGeom prst="rect">
            <a:avLst/>
          </a:prstGeom>
        </p:spPr>
        <p:txBody>
          <a:bodyPr anchor="t" rtlCol="false" tIns="0" lIns="0" bIns="0" rIns="0">
            <a:spAutoFit/>
          </a:bodyPr>
          <a:lstStyle/>
          <a:p>
            <a:pPr algn="l" marL="820421" indent="-410210" lvl="1">
              <a:lnSpc>
                <a:spcPts val="6954"/>
              </a:lnSpc>
              <a:buFont typeface="Arial"/>
              <a:buChar char="•"/>
            </a:pPr>
            <a:r>
              <a:rPr lang="en-US" sz="3800">
                <a:solidFill>
                  <a:srgbClr val="000000"/>
                </a:solidFill>
                <a:latin typeface="Glacial Indifference"/>
                <a:ea typeface="Glacial Indifference"/>
                <a:cs typeface="Glacial Indifference"/>
                <a:sym typeface="Glacial Indifference"/>
              </a:rPr>
              <a:t>What will you build in 15 hours?​</a:t>
            </a:r>
          </a:p>
          <a:p>
            <a:pPr algn="l" marL="820421" indent="-410210" lvl="1">
              <a:lnSpc>
                <a:spcPts val="6954"/>
              </a:lnSpc>
              <a:buFont typeface="Arial"/>
              <a:buChar char="•"/>
            </a:pPr>
            <a:r>
              <a:rPr lang="en-US" sz="3800">
                <a:solidFill>
                  <a:srgbClr val="000000"/>
                </a:solidFill>
                <a:latin typeface="Glacial Indifference"/>
                <a:ea typeface="Glacial Indifference"/>
                <a:cs typeface="Glacial Indifference"/>
                <a:sym typeface="Glacial Indifference"/>
              </a:rPr>
              <a:t>How does it work? (Add a simple diagram/flow/sketch if possible)​</a:t>
            </a:r>
          </a:p>
          <a:p>
            <a:pPr algn="l" marL="820421" indent="-410210" lvl="1">
              <a:lnSpc>
                <a:spcPts val="6954"/>
              </a:lnSpc>
              <a:buFont typeface="Arial"/>
              <a:buChar char="•"/>
            </a:pPr>
            <a:r>
              <a:rPr lang="en-US" sz="3800">
                <a:solidFill>
                  <a:srgbClr val="000000"/>
                </a:solidFill>
                <a:latin typeface="Glacial Indifference"/>
                <a:ea typeface="Glacial Indifference"/>
                <a:cs typeface="Glacial Indifference"/>
                <a:sym typeface="Glacial Indifference"/>
              </a:rPr>
              <a:t>Tech stack / tools you’ll use.​</a:t>
            </a:r>
          </a:p>
        </p:txBody>
      </p:sp>
      <p:sp>
        <p:nvSpPr>
          <p:cNvPr name="Freeform 8" id="8"/>
          <p:cNvSpPr/>
          <p:nvPr/>
        </p:nvSpPr>
        <p:spPr>
          <a:xfrm flipH="false" flipV="false" rot="0">
            <a:off x="0" y="10092690"/>
            <a:ext cx="18288000" cy="194310"/>
          </a:xfrm>
          <a:custGeom>
            <a:avLst/>
            <a:gdLst/>
            <a:ahLst/>
            <a:cxnLst/>
            <a:rect r="r" b="b" t="t" l="l"/>
            <a:pathLst>
              <a:path h="194310" w="18288000">
                <a:moveTo>
                  <a:pt x="0" y="0"/>
                </a:moveTo>
                <a:lnTo>
                  <a:pt x="18288000" y="0"/>
                </a:lnTo>
                <a:lnTo>
                  <a:pt x="18288000" y="194310"/>
                </a:lnTo>
                <a:lnTo>
                  <a:pt x="0" y="194310"/>
                </a:lnTo>
                <a:lnTo>
                  <a:pt x="0" y="0"/>
                </a:lnTo>
                <a:close/>
              </a:path>
            </a:pathLst>
          </a:custGeom>
          <a:blipFill>
            <a:blip r:embed="rId3"/>
            <a:stretch>
              <a:fillRect l="0" t="0" r="0" b="0"/>
            </a:stretch>
          </a:blipFill>
        </p:spPr>
      </p:sp>
      <p:sp>
        <p:nvSpPr>
          <p:cNvPr name="TextBox 9" id="9"/>
          <p:cNvSpPr txBox="true"/>
          <p:nvPr/>
        </p:nvSpPr>
        <p:spPr>
          <a:xfrm rot="0">
            <a:off x="775059" y="2028337"/>
            <a:ext cx="17499193" cy="916266"/>
          </a:xfrm>
          <a:prstGeom prst="rect">
            <a:avLst/>
          </a:prstGeom>
        </p:spPr>
        <p:txBody>
          <a:bodyPr anchor="t" rtlCol="false" tIns="0" lIns="0" bIns="0" rIns="0">
            <a:spAutoFit/>
          </a:bodyPr>
          <a:lstStyle/>
          <a:p>
            <a:pPr algn="ctr">
              <a:lnSpc>
                <a:spcPts val="7478"/>
              </a:lnSpc>
              <a:spcBef>
                <a:spcPct val="0"/>
              </a:spcBef>
            </a:pPr>
            <a:r>
              <a:rPr lang="en-US" sz="5341">
                <a:solidFill>
                  <a:srgbClr val="000000"/>
                </a:solidFill>
                <a:latin typeface="Mokoto"/>
                <a:ea typeface="Mokoto"/>
                <a:cs typeface="Mokoto"/>
                <a:sym typeface="Mokoto"/>
              </a:rPr>
              <a:t>Execution Plan(MVP in 15 Hrs)</a:t>
            </a:r>
          </a:p>
        </p:txBody>
      </p:sp>
      <p:grpSp>
        <p:nvGrpSpPr>
          <p:cNvPr name="Group 10" id="10"/>
          <p:cNvGrpSpPr/>
          <p:nvPr/>
        </p:nvGrpSpPr>
        <p:grpSpPr>
          <a:xfrm rot="0">
            <a:off x="12685895" y="373031"/>
            <a:ext cx="5341043" cy="625068"/>
            <a:chOff x="0" y="0"/>
            <a:chExt cx="7121391" cy="833423"/>
          </a:xfrm>
        </p:grpSpPr>
        <p:sp>
          <p:nvSpPr>
            <p:cNvPr name="Freeform 11" id="11"/>
            <p:cNvSpPr/>
            <p:nvPr/>
          </p:nvSpPr>
          <p:spPr>
            <a:xfrm flipH="false" flipV="false" rot="0">
              <a:off x="4980572" y="0"/>
              <a:ext cx="2140819" cy="833423"/>
            </a:xfrm>
            <a:custGeom>
              <a:avLst/>
              <a:gdLst/>
              <a:ahLst/>
              <a:cxnLst/>
              <a:rect r="r" b="b" t="t" l="l"/>
              <a:pathLst>
                <a:path h="833423" w="2140819">
                  <a:moveTo>
                    <a:pt x="0" y="0"/>
                  </a:moveTo>
                  <a:lnTo>
                    <a:pt x="2140819" y="0"/>
                  </a:lnTo>
                  <a:lnTo>
                    <a:pt x="2140819" y="833423"/>
                  </a:lnTo>
                  <a:lnTo>
                    <a:pt x="0" y="833423"/>
                  </a:lnTo>
                  <a:lnTo>
                    <a:pt x="0" y="0"/>
                  </a:lnTo>
                  <a:close/>
                </a:path>
              </a:pathLst>
            </a:custGeom>
            <a:blipFill>
              <a:blip r:embed="rId4"/>
              <a:stretch>
                <a:fillRect l="0" t="-496" r="0" b="0"/>
              </a:stretch>
            </a:blipFill>
          </p:spPr>
        </p:sp>
        <p:sp>
          <p:nvSpPr>
            <p:cNvPr name="Freeform 12" id="12"/>
            <p:cNvSpPr/>
            <p:nvPr/>
          </p:nvSpPr>
          <p:spPr>
            <a:xfrm flipH="false" flipV="false" rot="0">
              <a:off x="0" y="0"/>
              <a:ext cx="1419945" cy="833423"/>
            </a:xfrm>
            <a:custGeom>
              <a:avLst/>
              <a:gdLst/>
              <a:ahLst/>
              <a:cxnLst/>
              <a:rect r="r" b="b" t="t" l="l"/>
              <a:pathLst>
                <a:path h="833423" w="1419945">
                  <a:moveTo>
                    <a:pt x="0" y="0"/>
                  </a:moveTo>
                  <a:lnTo>
                    <a:pt x="1419945" y="0"/>
                  </a:lnTo>
                  <a:lnTo>
                    <a:pt x="1419945" y="833423"/>
                  </a:lnTo>
                  <a:lnTo>
                    <a:pt x="0" y="833423"/>
                  </a:lnTo>
                  <a:lnTo>
                    <a:pt x="0" y="0"/>
                  </a:lnTo>
                  <a:close/>
                </a:path>
              </a:pathLst>
            </a:custGeom>
            <a:blipFill>
              <a:blip r:embed="rId5"/>
              <a:stretch>
                <a:fillRect l="-17178" t="-112928" r="-13043" b="-100926"/>
              </a:stretch>
            </a:blipFill>
          </p:spPr>
        </p:sp>
        <p:sp>
          <p:nvSpPr>
            <p:cNvPr name="Freeform 13" id="13"/>
            <p:cNvSpPr/>
            <p:nvPr/>
          </p:nvSpPr>
          <p:spPr>
            <a:xfrm flipH="false" flipV="false" rot="0">
              <a:off x="2007209" y="0"/>
              <a:ext cx="2391618" cy="833423"/>
            </a:xfrm>
            <a:custGeom>
              <a:avLst/>
              <a:gdLst/>
              <a:ahLst/>
              <a:cxnLst/>
              <a:rect r="r" b="b" t="t" l="l"/>
              <a:pathLst>
                <a:path h="833423" w="2391618">
                  <a:moveTo>
                    <a:pt x="0" y="0"/>
                  </a:moveTo>
                  <a:lnTo>
                    <a:pt x="2391618" y="0"/>
                  </a:lnTo>
                  <a:lnTo>
                    <a:pt x="2391618" y="833423"/>
                  </a:lnTo>
                  <a:lnTo>
                    <a:pt x="0" y="833423"/>
                  </a:lnTo>
                  <a:lnTo>
                    <a:pt x="0" y="0"/>
                  </a:lnTo>
                  <a:close/>
                </a:path>
              </a:pathLst>
            </a:custGeom>
            <a:blipFill>
              <a:blip r:embed="rId6"/>
              <a:stretch>
                <a:fillRect l="-11901" t="-120981" r="-6347" b="-118346"/>
              </a:stretch>
            </a:blipFill>
          </p:spPr>
        </p:sp>
        <p:sp>
          <p:nvSpPr>
            <p:cNvPr name="TextBox 14" id="14"/>
            <p:cNvSpPr txBox="true"/>
            <p:nvPr/>
          </p:nvSpPr>
          <p:spPr>
            <a:xfrm rot="0">
              <a:off x="1543820" y="241157"/>
              <a:ext cx="361740" cy="322535"/>
            </a:xfrm>
            <a:prstGeom prst="rect">
              <a:avLst/>
            </a:prstGeom>
          </p:spPr>
          <p:txBody>
            <a:bodyPr anchor="t" rtlCol="false" tIns="0" lIns="0" bIns="0" rIns="0">
              <a:spAutoFit/>
            </a:bodyPr>
            <a:lstStyle/>
            <a:p>
              <a:pPr algn="ctr">
                <a:lnSpc>
                  <a:spcPts val="2059"/>
                </a:lnSpc>
                <a:spcBef>
                  <a:spcPct val="0"/>
                </a:spcBef>
              </a:pPr>
              <a:r>
                <a:rPr lang="en-US" sz="1471">
                  <a:solidFill>
                    <a:srgbClr val="000000"/>
                  </a:solidFill>
                  <a:latin typeface="Bicubik"/>
                  <a:ea typeface="Bicubik"/>
                  <a:cs typeface="Bicubik"/>
                  <a:sym typeface="Bicubik"/>
                </a:rPr>
                <a:t>X</a:t>
              </a:r>
            </a:p>
          </p:txBody>
        </p:sp>
        <p:sp>
          <p:nvSpPr>
            <p:cNvPr name="TextBox 15" id="15"/>
            <p:cNvSpPr txBox="true"/>
            <p:nvPr/>
          </p:nvSpPr>
          <p:spPr>
            <a:xfrm rot="0">
              <a:off x="4398827" y="241157"/>
              <a:ext cx="361740" cy="322535"/>
            </a:xfrm>
            <a:prstGeom prst="rect">
              <a:avLst/>
            </a:prstGeom>
          </p:spPr>
          <p:txBody>
            <a:bodyPr anchor="t" rtlCol="false" tIns="0" lIns="0" bIns="0" rIns="0">
              <a:spAutoFit/>
            </a:bodyPr>
            <a:lstStyle/>
            <a:p>
              <a:pPr algn="ctr">
                <a:lnSpc>
                  <a:spcPts val="2059"/>
                </a:lnSpc>
                <a:spcBef>
                  <a:spcPct val="0"/>
                </a:spcBef>
              </a:pPr>
              <a:r>
                <a:rPr lang="en-US" sz="1471">
                  <a:solidFill>
                    <a:srgbClr val="000000"/>
                  </a:solidFill>
                  <a:latin typeface="Bicubik"/>
                  <a:ea typeface="Bicubik"/>
                  <a:cs typeface="Bicubik"/>
                  <a:sym typeface="Bicubik"/>
                </a:rPr>
                <a:t>X</a:t>
              </a:r>
            </a:p>
          </p:txBody>
        </p:sp>
      </p:grpSp>
      <p:sp>
        <p:nvSpPr>
          <p:cNvPr name="Freeform 16" id="16"/>
          <p:cNvSpPr/>
          <p:nvPr/>
        </p:nvSpPr>
        <p:spPr>
          <a:xfrm flipH="false" flipV="false" rot="0">
            <a:off x="168180" y="232318"/>
            <a:ext cx="2648848" cy="1379161"/>
          </a:xfrm>
          <a:custGeom>
            <a:avLst/>
            <a:gdLst/>
            <a:ahLst/>
            <a:cxnLst/>
            <a:rect r="r" b="b" t="t" l="l"/>
            <a:pathLst>
              <a:path h="1379161" w="2648848">
                <a:moveTo>
                  <a:pt x="0" y="0"/>
                </a:moveTo>
                <a:lnTo>
                  <a:pt x="2648848" y="0"/>
                </a:lnTo>
                <a:lnTo>
                  <a:pt x="2648848" y="1379162"/>
                </a:lnTo>
                <a:lnTo>
                  <a:pt x="0" y="1379162"/>
                </a:lnTo>
                <a:lnTo>
                  <a:pt x="0" y="0"/>
                </a:lnTo>
                <a:close/>
              </a:path>
            </a:pathLst>
          </a:custGeom>
          <a:blipFill>
            <a:blip r:embed="rId7"/>
            <a:stretch>
              <a:fillRect l="0" t="-9355"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74252" cy="10279267"/>
          </a:xfrm>
          <a:custGeom>
            <a:avLst/>
            <a:gdLst/>
            <a:ahLst/>
            <a:cxnLst/>
            <a:rect r="r" b="b" t="t" l="l"/>
            <a:pathLst>
              <a:path h="10279267" w="18274252">
                <a:moveTo>
                  <a:pt x="0" y="0"/>
                </a:moveTo>
                <a:lnTo>
                  <a:pt x="18274252" y="0"/>
                </a:lnTo>
                <a:lnTo>
                  <a:pt x="18274252" y="10279267"/>
                </a:lnTo>
                <a:lnTo>
                  <a:pt x="0" y="10279267"/>
                </a:lnTo>
                <a:lnTo>
                  <a:pt x="0" y="0"/>
                </a:lnTo>
                <a:close/>
              </a:path>
            </a:pathLst>
          </a:custGeom>
          <a:blipFill>
            <a:blip r:embed="rId2"/>
            <a:stretch>
              <a:fillRect l="0" t="0" r="0" b="0"/>
            </a:stretch>
          </a:blipFill>
        </p:spPr>
      </p:sp>
      <p:grpSp>
        <p:nvGrpSpPr>
          <p:cNvPr name="Group 3" id="3"/>
          <p:cNvGrpSpPr/>
          <p:nvPr/>
        </p:nvGrpSpPr>
        <p:grpSpPr>
          <a:xfrm rot="0">
            <a:off x="1354215" y="3466235"/>
            <a:ext cx="15593317" cy="5144901"/>
            <a:chOff x="0" y="0"/>
            <a:chExt cx="4106882" cy="1355036"/>
          </a:xfrm>
        </p:grpSpPr>
        <p:sp>
          <p:nvSpPr>
            <p:cNvPr name="Freeform 4" id="4"/>
            <p:cNvSpPr/>
            <p:nvPr/>
          </p:nvSpPr>
          <p:spPr>
            <a:xfrm flipH="false" flipV="false" rot="0">
              <a:off x="0" y="0"/>
              <a:ext cx="4106882" cy="1355036"/>
            </a:xfrm>
            <a:custGeom>
              <a:avLst/>
              <a:gdLst/>
              <a:ahLst/>
              <a:cxnLst/>
              <a:rect r="r" b="b" t="t" l="l"/>
              <a:pathLst>
                <a:path h="1355036" w="4106882">
                  <a:moveTo>
                    <a:pt x="25321" y="0"/>
                  </a:moveTo>
                  <a:lnTo>
                    <a:pt x="4081561" y="0"/>
                  </a:lnTo>
                  <a:cubicBezTo>
                    <a:pt x="4088276" y="0"/>
                    <a:pt x="4094717" y="2668"/>
                    <a:pt x="4099466" y="7416"/>
                  </a:cubicBezTo>
                  <a:cubicBezTo>
                    <a:pt x="4104214" y="12165"/>
                    <a:pt x="4106882" y="18605"/>
                    <a:pt x="4106882" y="25321"/>
                  </a:cubicBezTo>
                  <a:lnTo>
                    <a:pt x="4106882" y="1329715"/>
                  </a:lnTo>
                  <a:cubicBezTo>
                    <a:pt x="4106882" y="1336430"/>
                    <a:pt x="4104214" y="1342871"/>
                    <a:pt x="4099466" y="1347619"/>
                  </a:cubicBezTo>
                  <a:cubicBezTo>
                    <a:pt x="4094717" y="1352368"/>
                    <a:pt x="4088276" y="1355036"/>
                    <a:pt x="4081561" y="1355036"/>
                  </a:cubicBezTo>
                  <a:lnTo>
                    <a:pt x="25321" y="1355036"/>
                  </a:lnTo>
                  <a:cubicBezTo>
                    <a:pt x="11337" y="1355036"/>
                    <a:pt x="0" y="1343699"/>
                    <a:pt x="0" y="1329715"/>
                  </a:cubicBezTo>
                  <a:lnTo>
                    <a:pt x="0" y="25321"/>
                  </a:lnTo>
                  <a:cubicBezTo>
                    <a:pt x="0" y="18605"/>
                    <a:pt x="2668" y="12165"/>
                    <a:pt x="7416" y="7416"/>
                  </a:cubicBezTo>
                  <a:cubicBezTo>
                    <a:pt x="12165" y="2668"/>
                    <a:pt x="18605" y="0"/>
                    <a:pt x="25321" y="0"/>
                  </a:cubicBezTo>
                  <a:close/>
                </a:path>
              </a:pathLst>
            </a:custGeom>
            <a:solidFill>
              <a:srgbClr val="D1A85B"/>
            </a:solidFill>
          </p:spPr>
        </p:sp>
        <p:sp>
          <p:nvSpPr>
            <p:cNvPr name="TextBox 5" id="5"/>
            <p:cNvSpPr txBox="true"/>
            <p:nvPr/>
          </p:nvSpPr>
          <p:spPr>
            <a:xfrm>
              <a:off x="0" y="-38100"/>
              <a:ext cx="4106882" cy="1393136"/>
            </a:xfrm>
            <a:prstGeom prst="rect">
              <a:avLst/>
            </a:prstGeom>
          </p:spPr>
          <p:txBody>
            <a:bodyPr anchor="ctr" rtlCol="false" tIns="50800" lIns="50800" bIns="50800" rIns="50800"/>
            <a:lstStyle/>
            <a:p>
              <a:pPr algn="just">
                <a:lnSpc>
                  <a:spcPts val="3499"/>
                </a:lnSpc>
              </a:pPr>
            </a:p>
          </p:txBody>
        </p:sp>
      </p:grpSp>
      <p:sp>
        <p:nvSpPr>
          <p:cNvPr name="TextBox 6" id="6"/>
          <p:cNvSpPr txBox="true"/>
          <p:nvPr/>
        </p:nvSpPr>
        <p:spPr>
          <a:xfrm rot="0">
            <a:off x="1482439" y="4175716"/>
            <a:ext cx="15196719" cy="3171825"/>
          </a:xfrm>
          <a:prstGeom prst="rect">
            <a:avLst/>
          </a:prstGeom>
        </p:spPr>
        <p:txBody>
          <a:bodyPr anchor="t" rtlCol="false" tIns="0" lIns="0" bIns="0" rIns="0">
            <a:spAutoFit/>
          </a:bodyPr>
          <a:lstStyle/>
          <a:p>
            <a:pPr algn="l" marL="971550" indent="-485775" lvl="1">
              <a:lnSpc>
                <a:spcPts val="6299"/>
              </a:lnSpc>
              <a:buFont typeface="Arial"/>
              <a:buChar char="•"/>
            </a:pPr>
            <a:r>
              <a:rPr lang="en-US" sz="4500">
                <a:solidFill>
                  <a:srgbClr val="000000"/>
                </a:solidFill>
                <a:latin typeface="Glacial Indifference"/>
                <a:ea typeface="Glacial Indifference"/>
                <a:cs typeface="Glacial Indifference"/>
                <a:sym typeface="Glacial Indifference"/>
              </a:rPr>
              <a:t>Who benefits from your solution?</a:t>
            </a:r>
            <a:r>
              <a:rPr lang="en-US" sz="4500">
                <a:solidFill>
                  <a:srgbClr val="000000"/>
                </a:solidFill>
                <a:latin typeface="Glacial Indifference"/>
                <a:ea typeface="Glacial Indifference"/>
                <a:cs typeface="Glacial Indifference"/>
                <a:sym typeface="Glacial Indifference"/>
              </a:rPr>
              <a:t>​</a:t>
            </a:r>
          </a:p>
          <a:p>
            <a:pPr algn="l" marL="971550" indent="-485775" lvl="1">
              <a:lnSpc>
                <a:spcPts val="6299"/>
              </a:lnSpc>
              <a:buFont typeface="Arial"/>
              <a:buChar char="•"/>
            </a:pPr>
            <a:r>
              <a:rPr lang="en-US" sz="4500">
                <a:solidFill>
                  <a:srgbClr val="000000"/>
                </a:solidFill>
                <a:latin typeface="Glacial Indifference"/>
                <a:ea typeface="Glacial Indifference"/>
                <a:cs typeface="Glacial Indifference"/>
                <a:sym typeface="Glacial Indifference"/>
              </a:rPr>
              <a:t>What positive impact will it create?</a:t>
            </a:r>
            <a:r>
              <a:rPr lang="en-US" sz="4500">
                <a:solidFill>
                  <a:srgbClr val="000000"/>
                </a:solidFill>
                <a:latin typeface="Glacial Indifference"/>
                <a:ea typeface="Glacial Indifference"/>
                <a:cs typeface="Glacial Indifference"/>
                <a:sym typeface="Glacial Indifference"/>
              </a:rPr>
              <a:t>​</a:t>
            </a:r>
          </a:p>
          <a:p>
            <a:pPr algn="l" marL="971550" indent="-485775" lvl="1">
              <a:lnSpc>
                <a:spcPts val="6299"/>
              </a:lnSpc>
              <a:buFont typeface="Arial"/>
              <a:buChar char="•"/>
            </a:pPr>
            <a:r>
              <a:rPr lang="en-US" sz="4500">
                <a:solidFill>
                  <a:srgbClr val="000000"/>
                </a:solidFill>
                <a:latin typeface="Glacial Indifference"/>
                <a:ea typeface="Glacial Indifference"/>
                <a:cs typeface="Glacial Indifference"/>
                <a:sym typeface="Glacial Indifference"/>
              </a:rPr>
              <a:t>What’s the next step after MVP? (scaling, improvements, vision).</a:t>
            </a:r>
            <a:r>
              <a:rPr lang="en-US" sz="4500">
                <a:solidFill>
                  <a:srgbClr val="000000"/>
                </a:solidFill>
                <a:latin typeface="Glacial Indifference"/>
                <a:ea typeface="Glacial Indifference"/>
                <a:cs typeface="Glacial Indifference"/>
                <a:sym typeface="Glacial Indifference"/>
              </a:rPr>
              <a:t>​</a:t>
            </a:r>
          </a:p>
        </p:txBody>
      </p:sp>
      <p:sp>
        <p:nvSpPr>
          <p:cNvPr name="Freeform 7" id="7"/>
          <p:cNvSpPr/>
          <p:nvPr/>
        </p:nvSpPr>
        <p:spPr>
          <a:xfrm flipH="false" flipV="false" rot="0">
            <a:off x="0" y="10092690"/>
            <a:ext cx="18288000" cy="194310"/>
          </a:xfrm>
          <a:custGeom>
            <a:avLst/>
            <a:gdLst/>
            <a:ahLst/>
            <a:cxnLst/>
            <a:rect r="r" b="b" t="t" l="l"/>
            <a:pathLst>
              <a:path h="194310" w="18288000">
                <a:moveTo>
                  <a:pt x="0" y="0"/>
                </a:moveTo>
                <a:lnTo>
                  <a:pt x="18288000" y="0"/>
                </a:lnTo>
                <a:lnTo>
                  <a:pt x="18288000" y="194310"/>
                </a:lnTo>
                <a:lnTo>
                  <a:pt x="0" y="194310"/>
                </a:lnTo>
                <a:lnTo>
                  <a:pt x="0" y="0"/>
                </a:lnTo>
                <a:close/>
              </a:path>
            </a:pathLst>
          </a:custGeom>
          <a:blipFill>
            <a:blip r:embed="rId3"/>
            <a:stretch>
              <a:fillRect l="0" t="0" r="0" b="0"/>
            </a:stretch>
          </a:blipFill>
        </p:spPr>
      </p:sp>
      <p:sp>
        <p:nvSpPr>
          <p:cNvPr name="TextBox 8" id="8"/>
          <p:cNvSpPr txBox="true"/>
          <p:nvPr/>
        </p:nvSpPr>
        <p:spPr>
          <a:xfrm rot="0">
            <a:off x="2079692" y="1839839"/>
            <a:ext cx="14128616" cy="916266"/>
          </a:xfrm>
          <a:prstGeom prst="rect">
            <a:avLst/>
          </a:prstGeom>
        </p:spPr>
        <p:txBody>
          <a:bodyPr anchor="t" rtlCol="false" tIns="0" lIns="0" bIns="0" rIns="0">
            <a:spAutoFit/>
          </a:bodyPr>
          <a:lstStyle/>
          <a:p>
            <a:pPr algn="ctr">
              <a:lnSpc>
                <a:spcPts val="7478"/>
              </a:lnSpc>
              <a:spcBef>
                <a:spcPct val="0"/>
              </a:spcBef>
            </a:pPr>
            <a:r>
              <a:rPr lang="en-US" sz="5341">
                <a:solidFill>
                  <a:srgbClr val="000000"/>
                </a:solidFill>
                <a:latin typeface="Mokoto"/>
                <a:ea typeface="Mokoto"/>
                <a:cs typeface="Mokoto"/>
                <a:sym typeface="Mokoto"/>
              </a:rPr>
              <a:t>Impa</a:t>
            </a:r>
            <a:r>
              <a:rPr lang="en-US" sz="5341">
                <a:solidFill>
                  <a:srgbClr val="000000"/>
                </a:solidFill>
                <a:latin typeface="Mokoto"/>
                <a:ea typeface="Mokoto"/>
                <a:cs typeface="Mokoto"/>
                <a:sym typeface="Mokoto"/>
              </a:rPr>
              <a:t>ct &amp; Future Potential​</a:t>
            </a:r>
          </a:p>
        </p:txBody>
      </p:sp>
      <p:grpSp>
        <p:nvGrpSpPr>
          <p:cNvPr name="Group 9" id="9"/>
          <p:cNvGrpSpPr/>
          <p:nvPr/>
        </p:nvGrpSpPr>
        <p:grpSpPr>
          <a:xfrm rot="0">
            <a:off x="12685895" y="373031"/>
            <a:ext cx="5341043" cy="625068"/>
            <a:chOff x="0" y="0"/>
            <a:chExt cx="7121391" cy="833423"/>
          </a:xfrm>
        </p:grpSpPr>
        <p:sp>
          <p:nvSpPr>
            <p:cNvPr name="Freeform 10" id="10"/>
            <p:cNvSpPr/>
            <p:nvPr/>
          </p:nvSpPr>
          <p:spPr>
            <a:xfrm flipH="false" flipV="false" rot="0">
              <a:off x="4980572" y="0"/>
              <a:ext cx="2140819" cy="833423"/>
            </a:xfrm>
            <a:custGeom>
              <a:avLst/>
              <a:gdLst/>
              <a:ahLst/>
              <a:cxnLst/>
              <a:rect r="r" b="b" t="t" l="l"/>
              <a:pathLst>
                <a:path h="833423" w="2140819">
                  <a:moveTo>
                    <a:pt x="0" y="0"/>
                  </a:moveTo>
                  <a:lnTo>
                    <a:pt x="2140819" y="0"/>
                  </a:lnTo>
                  <a:lnTo>
                    <a:pt x="2140819" y="833423"/>
                  </a:lnTo>
                  <a:lnTo>
                    <a:pt x="0" y="833423"/>
                  </a:lnTo>
                  <a:lnTo>
                    <a:pt x="0" y="0"/>
                  </a:lnTo>
                  <a:close/>
                </a:path>
              </a:pathLst>
            </a:custGeom>
            <a:blipFill>
              <a:blip r:embed="rId4"/>
              <a:stretch>
                <a:fillRect l="0" t="-496" r="0" b="0"/>
              </a:stretch>
            </a:blipFill>
          </p:spPr>
        </p:sp>
        <p:sp>
          <p:nvSpPr>
            <p:cNvPr name="Freeform 11" id="11"/>
            <p:cNvSpPr/>
            <p:nvPr/>
          </p:nvSpPr>
          <p:spPr>
            <a:xfrm flipH="false" flipV="false" rot="0">
              <a:off x="0" y="0"/>
              <a:ext cx="1419945" cy="833423"/>
            </a:xfrm>
            <a:custGeom>
              <a:avLst/>
              <a:gdLst/>
              <a:ahLst/>
              <a:cxnLst/>
              <a:rect r="r" b="b" t="t" l="l"/>
              <a:pathLst>
                <a:path h="833423" w="1419945">
                  <a:moveTo>
                    <a:pt x="0" y="0"/>
                  </a:moveTo>
                  <a:lnTo>
                    <a:pt x="1419945" y="0"/>
                  </a:lnTo>
                  <a:lnTo>
                    <a:pt x="1419945" y="833423"/>
                  </a:lnTo>
                  <a:lnTo>
                    <a:pt x="0" y="833423"/>
                  </a:lnTo>
                  <a:lnTo>
                    <a:pt x="0" y="0"/>
                  </a:lnTo>
                  <a:close/>
                </a:path>
              </a:pathLst>
            </a:custGeom>
            <a:blipFill>
              <a:blip r:embed="rId5"/>
              <a:stretch>
                <a:fillRect l="-17178" t="-112928" r="-13043" b="-100926"/>
              </a:stretch>
            </a:blipFill>
          </p:spPr>
        </p:sp>
        <p:sp>
          <p:nvSpPr>
            <p:cNvPr name="Freeform 12" id="12"/>
            <p:cNvSpPr/>
            <p:nvPr/>
          </p:nvSpPr>
          <p:spPr>
            <a:xfrm flipH="false" flipV="false" rot="0">
              <a:off x="2007209" y="0"/>
              <a:ext cx="2391618" cy="833423"/>
            </a:xfrm>
            <a:custGeom>
              <a:avLst/>
              <a:gdLst/>
              <a:ahLst/>
              <a:cxnLst/>
              <a:rect r="r" b="b" t="t" l="l"/>
              <a:pathLst>
                <a:path h="833423" w="2391618">
                  <a:moveTo>
                    <a:pt x="0" y="0"/>
                  </a:moveTo>
                  <a:lnTo>
                    <a:pt x="2391618" y="0"/>
                  </a:lnTo>
                  <a:lnTo>
                    <a:pt x="2391618" y="833423"/>
                  </a:lnTo>
                  <a:lnTo>
                    <a:pt x="0" y="833423"/>
                  </a:lnTo>
                  <a:lnTo>
                    <a:pt x="0" y="0"/>
                  </a:lnTo>
                  <a:close/>
                </a:path>
              </a:pathLst>
            </a:custGeom>
            <a:blipFill>
              <a:blip r:embed="rId6"/>
              <a:stretch>
                <a:fillRect l="-11901" t="-120981" r="-6347" b="-118346"/>
              </a:stretch>
            </a:blipFill>
          </p:spPr>
        </p:sp>
        <p:sp>
          <p:nvSpPr>
            <p:cNvPr name="TextBox 13" id="13"/>
            <p:cNvSpPr txBox="true"/>
            <p:nvPr/>
          </p:nvSpPr>
          <p:spPr>
            <a:xfrm rot="0">
              <a:off x="1543820" y="241157"/>
              <a:ext cx="361740" cy="322535"/>
            </a:xfrm>
            <a:prstGeom prst="rect">
              <a:avLst/>
            </a:prstGeom>
          </p:spPr>
          <p:txBody>
            <a:bodyPr anchor="t" rtlCol="false" tIns="0" lIns="0" bIns="0" rIns="0">
              <a:spAutoFit/>
            </a:bodyPr>
            <a:lstStyle/>
            <a:p>
              <a:pPr algn="ctr">
                <a:lnSpc>
                  <a:spcPts val="2059"/>
                </a:lnSpc>
                <a:spcBef>
                  <a:spcPct val="0"/>
                </a:spcBef>
              </a:pPr>
              <a:r>
                <a:rPr lang="en-US" sz="1471">
                  <a:solidFill>
                    <a:srgbClr val="000000"/>
                  </a:solidFill>
                  <a:latin typeface="Bicubik"/>
                  <a:ea typeface="Bicubik"/>
                  <a:cs typeface="Bicubik"/>
                  <a:sym typeface="Bicubik"/>
                </a:rPr>
                <a:t>X</a:t>
              </a:r>
            </a:p>
          </p:txBody>
        </p:sp>
        <p:sp>
          <p:nvSpPr>
            <p:cNvPr name="TextBox 14" id="14"/>
            <p:cNvSpPr txBox="true"/>
            <p:nvPr/>
          </p:nvSpPr>
          <p:spPr>
            <a:xfrm rot="0">
              <a:off x="4398827" y="241157"/>
              <a:ext cx="361740" cy="322535"/>
            </a:xfrm>
            <a:prstGeom prst="rect">
              <a:avLst/>
            </a:prstGeom>
          </p:spPr>
          <p:txBody>
            <a:bodyPr anchor="t" rtlCol="false" tIns="0" lIns="0" bIns="0" rIns="0">
              <a:spAutoFit/>
            </a:bodyPr>
            <a:lstStyle/>
            <a:p>
              <a:pPr algn="ctr">
                <a:lnSpc>
                  <a:spcPts val="2059"/>
                </a:lnSpc>
                <a:spcBef>
                  <a:spcPct val="0"/>
                </a:spcBef>
              </a:pPr>
              <a:r>
                <a:rPr lang="en-US" sz="1471">
                  <a:solidFill>
                    <a:srgbClr val="000000"/>
                  </a:solidFill>
                  <a:latin typeface="Bicubik"/>
                  <a:ea typeface="Bicubik"/>
                  <a:cs typeface="Bicubik"/>
                  <a:sym typeface="Bicubik"/>
                </a:rPr>
                <a:t>X</a:t>
              </a:r>
            </a:p>
          </p:txBody>
        </p:sp>
      </p:grpSp>
      <p:sp>
        <p:nvSpPr>
          <p:cNvPr name="Freeform 15" id="15"/>
          <p:cNvSpPr/>
          <p:nvPr/>
        </p:nvSpPr>
        <p:spPr>
          <a:xfrm flipH="false" flipV="false" rot="0">
            <a:off x="168180" y="232318"/>
            <a:ext cx="2648848" cy="1379161"/>
          </a:xfrm>
          <a:custGeom>
            <a:avLst/>
            <a:gdLst/>
            <a:ahLst/>
            <a:cxnLst/>
            <a:rect r="r" b="b" t="t" l="l"/>
            <a:pathLst>
              <a:path h="1379161" w="2648848">
                <a:moveTo>
                  <a:pt x="0" y="0"/>
                </a:moveTo>
                <a:lnTo>
                  <a:pt x="2648848" y="0"/>
                </a:lnTo>
                <a:lnTo>
                  <a:pt x="2648848" y="1379162"/>
                </a:lnTo>
                <a:lnTo>
                  <a:pt x="0" y="1379162"/>
                </a:lnTo>
                <a:lnTo>
                  <a:pt x="0" y="0"/>
                </a:lnTo>
                <a:close/>
              </a:path>
            </a:pathLst>
          </a:custGeom>
          <a:blipFill>
            <a:blip r:embed="rId7"/>
            <a:stretch>
              <a:fillRect l="0" t="-9355"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7733"/>
            <a:ext cx="18274252" cy="10279267"/>
          </a:xfrm>
          <a:custGeom>
            <a:avLst/>
            <a:gdLst/>
            <a:ahLst/>
            <a:cxnLst/>
            <a:rect r="r" b="b" t="t" l="l"/>
            <a:pathLst>
              <a:path h="10279267" w="18274252">
                <a:moveTo>
                  <a:pt x="0" y="0"/>
                </a:moveTo>
                <a:lnTo>
                  <a:pt x="18274252" y="0"/>
                </a:lnTo>
                <a:lnTo>
                  <a:pt x="18274252" y="10279267"/>
                </a:lnTo>
                <a:lnTo>
                  <a:pt x="0" y="10279267"/>
                </a:lnTo>
                <a:lnTo>
                  <a:pt x="0" y="0"/>
                </a:lnTo>
                <a:close/>
              </a:path>
            </a:pathLst>
          </a:custGeom>
          <a:blipFill>
            <a:blip r:embed="rId2"/>
            <a:stretch>
              <a:fillRect l="0" t="0" r="0" b="0"/>
            </a:stretch>
          </a:blipFill>
        </p:spPr>
      </p:sp>
      <p:sp>
        <p:nvSpPr>
          <p:cNvPr name="Freeform 3" id="3"/>
          <p:cNvSpPr/>
          <p:nvPr/>
        </p:nvSpPr>
        <p:spPr>
          <a:xfrm flipH="false" flipV="false" rot="0">
            <a:off x="0" y="10092690"/>
            <a:ext cx="18288000" cy="194310"/>
          </a:xfrm>
          <a:custGeom>
            <a:avLst/>
            <a:gdLst/>
            <a:ahLst/>
            <a:cxnLst/>
            <a:rect r="r" b="b" t="t" l="l"/>
            <a:pathLst>
              <a:path h="194310" w="18288000">
                <a:moveTo>
                  <a:pt x="0" y="0"/>
                </a:moveTo>
                <a:lnTo>
                  <a:pt x="18288000" y="0"/>
                </a:lnTo>
                <a:lnTo>
                  <a:pt x="18288000" y="194310"/>
                </a:lnTo>
                <a:lnTo>
                  <a:pt x="0" y="194310"/>
                </a:lnTo>
                <a:lnTo>
                  <a:pt x="0" y="0"/>
                </a:lnTo>
                <a:close/>
              </a:path>
            </a:pathLst>
          </a:custGeom>
          <a:blipFill>
            <a:blip r:embed="rId3"/>
            <a:stretch>
              <a:fillRect l="0" t="0" r="0" b="0"/>
            </a:stretch>
          </a:blipFill>
        </p:spPr>
      </p:sp>
      <p:grpSp>
        <p:nvGrpSpPr>
          <p:cNvPr name="Group 4" id="4"/>
          <p:cNvGrpSpPr/>
          <p:nvPr/>
        </p:nvGrpSpPr>
        <p:grpSpPr>
          <a:xfrm rot="0">
            <a:off x="496129" y="3335886"/>
            <a:ext cx="11107013" cy="6048508"/>
            <a:chOff x="0" y="0"/>
            <a:chExt cx="14809350" cy="8064678"/>
          </a:xfrm>
        </p:grpSpPr>
        <p:grpSp>
          <p:nvGrpSpPr>
            <p:cNvPr name="Group 5" id="5"/>
            <p:cNvGrpSpPr/>
            <p:nvPr/>
          </p:nvGrpSpPr>
          <p:grpSpPr>
            <a:xfrm rot="0">
              <a:off x="0" y="0"/>
              <a:ext cx="14809350" cy="8064678"/>
              <a:chOff x="0" y="0"/>
              <a:chExt cx="2403991" cy="1309133"/>
            </a:xfrm>
          </p:grpSpPr>
          <p:sp>
            <p:nvSpPr>
              <p:cNvPr name="Freeform 6" id="6"/>
              <p:cNvSpPr/>
              <p:nvPr/>
            </p:nvSpPr>
            <p:spPr>
              <a:xfrm flipH="false" flipV="false" rot="0">
                <a:off x="0" y="0"/>
                <a:ext cx="2403991" cy="1309133"/>
              </a:xfrm>
              <a:custGeom>
                <a:avLst/>
                <a:gdLst/>
                <a:ahLst/>
                <a:cxnLst/>
                <a:rect r="r" b="b" t="t" l="l"/>
                <a:pathLst>
                  <a:path h="1309133" w="2403991">
                    <a:moveTo>
                      <a:pt x="39865" y="0"/>
                    </a:moveTo>
                    <a:lnTo>
                      <a:pt x="2364126" y="0"/>
                    </a:lnTo>
                    <a:cubicBezTo>
                      <a:pt x="2386143" y="0"/>
                      <a:pt x="2403991" y="17848"/>
                      <a:pt x="2403991" y="39865"/>
                    </a:cubicBezTo>
                    <a:lnTo>
                      <a:pt x="2403991" y="1269269"/>
                    </a:lnTo>
                    <a:cubicBezTo>
                      <a:pt x="2403991" y="1291285"/>
                      <a:pt x="2386143" y="1309133"/>
                      <a:pt x="2364126" y="1309133"/>
                    </a:cubicBezTo>
                    <a:lnTo>
                      <a:pt x="39865" y="1309133"/>
                    </a:lnTo>
                    <a:cubicBezTo>
                      <a:pt x="17848" y="1309133"/>
                      <a:pt x="0" y="1291285"/>
                      <a:pt x="0" y="1269269"/>
                    </a:cubicBezTo>
                    <a:lnTo>
                      <a:pt x="0" y="39865"/>
                    </a:lnTo>
                    <a:cubicBezTo>
                      <a:pt x="0" y="17848"/>
                      <a:pt x="17848" y="0"/>
                      <a:pt x="39865" y="0"/>
                    </a:cubicBezTo>
                    <a:close/>
                  </a:path>
                </a:pathLst>
              </a:custGeom>
              <a:solidFill>
                <a:srgbClr val="CCA863"/>
              </a:solidFill>
              <a:ln w="57150" cap="rnd">
                <a:solidFill>
                  <a:srgbClr val="FFFFFF"/>
                </a:solidFill>
                <a:prstDash val="solid"/>
                <a:round/>
              </a:ln>
            </p:spPr>
          </p:sp>
          <p:sp>
            <p:nvSpPr>
              <p:cNvPr name="TextBox 7" id="7"/>
              <p:cNvSpPr txBox="true"/>
              <p:nvPr/>
            </p:nvSpPr>
            <p:spPr>
              <a:xfrm>
                <a:off x="0" y="-47625"/>
                <a:ext cx="2403991" cy="1356758"/>
              </a:xfrm>
              <a:prstGeom prst="rect">
                <a:avLst/>
              </a:prstGeom>
            </p:spPr>
            <p:txBody>
              <a:bodyPr anchor="ctr" rtlCol="false" tIns="50800" lIns="50800" bIns="50800" rIns="50800"/>
              <a:lstStyle/>
              <a:p>
                <a:pPr algn="ctr">
                  <a:lnSpc>
                    <a:spcPts val="2800"/>
                  </a:lnSpc>
                </a:pPr>
              </a:p>
            </p:txBody>
          </p:sp>
        </p:grpSp>
        <p:sp>
          <p:nvSpPr>
            <p:cNvPr name="TextBox 8" id="8"/>
            <p:cNvSpPr txBox="true"/>
            <p:nvPr/>
          </p:nvSpPr>
          <p:spPr>
            <a:xfrm rot="0">
              <a:off x="293901" y="252360"/>
              <a:ext cx="13549363" cy="7502808"/>
            </a:xfrm>
            <a:prstGeom prst="rect">
              <a:avLst/>
            </a:prstGeom>
          </p:spPr>
          <p:txBody>
            <a:bodyPr anchor="t" rtlCol="false" tIns="0" lIns="0" bIns="0" rIns="0">
              <a:spAutoFit/>
            </a:bodyPr>
            <a:lstStyle/>
            <a:p>
              <a:pPr algn="l">
                <a:lnSpc>
                  <a:spcPts val="4057"/>
                </a:lnSpc>
              </a:pPr>
              <a:r>
                <a:rPr lang="en-US" sz="2897">
                  <a:solidFill>
                    <a:srgbClr val="182D36"/>
                  </a:solidFill>
                  <a:latin typeface="Glacial Indifference"/>
                  <a:ea typeface="Glacial Indifference"/>
                  <a:cs typeface="Glacial Indifference"/>
                  <a:sym typeface="Glacial Indifference"/>
                </a:rPr>
                <a:t>Ex</a:t>
              </a:r>
              <a:r>
                <a:rPr lang="en-US" sz="2897">
                  <a:solidFill>
                    <a:srgbClr val="182D36"/>
                  </a:solidFill>
                  <a:latin typeface="Glacial Indifference"/>
                  <a:ea typeface="Glacial Indifference"/>
                  <a:cs typeface="Glacial Indifference"/>
                  <a:sym typeface="Glacial Indifference"/>
                </a:rPr>
                <a:t>plore innovative open-source AI applications and become part of</a:t>
              </a:r>
              <a:r>
                <a:rPr lang="en-US" sz="2897">
                  <a:solidFill>
                    <a:srgbClr val="182D36"/>
                  </a:solidFill>
                  <a:latin typeface="Glacial Indifference"/>
                  <a:ea typeface="Glacial Indifference"/>
                  <a:cs typeface="Glacial Indifference"/>
                  <a:sym typeface="Glacial Indifference"/>
                </a:rPr>
                <a:t> </a:t>
              </a:r>
              <a:r>
                <a:rPr lang="en-US" sz="2897">
                  <a:solidFill>
                    <a:srgbClr val="182D36"/>
                  </a:solidFill>
                  <a:latin typeface="Glacial Indifference"/>
                  <a:ea typeface="Glacial Indifference"/>
                  <a:cs typeface="Glacial Indifference"/>
                  <a:sym typeface="Glacial Indifference"/>
                </a:rPr>
                <a:t>th</a:t>
              </a:r>
              <a:r>
                <a:rPr lang="en-US" sz="2897">
                  <a:solidFill>
                    <a:srgbClr val="182D36"/>
                  </a:solidFill>
                  <a:latin typeface="Glacial Indifference"/>
                  <a:ea typeface="Glacial Indifference"/>
                  <a:cs typeface="Glacial Indifference"/>
                  <a:sym typeface="Glacial Indifference"/>
                </a:rPr>
                <a:t>e</a:t>
              </a:r>
              <a:r>
                <a:rPr lang="en-US" sz="2897">
                  <a:solidFill>
                    <a:srgbClr val="182D36"/>
                  </a:solidFill>
                  <a:latin typeface="Glacial Indifference"/>
                  <a:ea typeface="Glacial Indifference"/>
                  <a:cs typeface="Glacial Indifference"/>
                  <a:sym typeface="Glacial Indifference"/>
                </a:rPr>
                <a:t> open-source co</a:t>
              </a:r>
              <a:r>
                <a:rPr lang="en-US" sz="2897">
                  <a:solidFill>
                    <a:srgbClr val="182D36"/>
                  </a:solidFill>
                  <a:latin typeface="Glacial Indifference"/>
                  <a:ea typeface="Glacial Indifference"/>
                  <a:cs typeface="Glacial Indifference"/>
                  <a:sym typeface="Glacial Indifference"/>
                </a:rPr>
                <a:t>mm</a:t>
              </a:r>
              <a:r>
                <a:rPr lang="en-US" sz="2897">
                  <a:solidFill>
                    <a:srgbClr val="182D36"/>
                  </a:solidFill>
                  <a:latin typeface="Glacial Indifference"/>
                  <a:ea typeface="Glacial Indifference"/>
                  <a:cs typeface="Glacial Indifference"/>
                  <a:sym typeface="Glacial Indifference"/>
                </a:rPr>
                <a:t>un</a:t>
              </a:r>
              <a:r>
                <a:rPr lang="en-US" sz="2897">
                  <a:solidFill>
                    <a:srgbClr val="182D36"/>
                  </a:solidFill>
                  <a:latin typeface="Glacial Indifference"/>
                  <a:ea typeface="Glacial Indifference"/>
                  <a:cs typeface="Glacial Indifference"/>
                  <a:sym typeface="Glacial Indifference"/>
                </a:rPr>
                <a:t>it</a:t>
              </a:r>
              <a:r>
                <a:rPr lang="en-US" sz="2897">
                  <a:solidFill>
                    <a:srgbClr val="182D36"/>
                  </a:solidFill>
                  <a:latin typeface="Glacial Indifference"/>
                  <a:ea typeface="Glacial Indifference"/>
                  <a:cs typeface="Glacial Indifference"/>
                  <a:sym typeface="Glacial Indifference"/>
                </a:rPr>
                <a:t>y.</a:t>
              </a:r>
            </a:p>
            <a:p>
              <a:pPr algn="l">
                <a:lnSpc>
                  <a:spcPts val="4057"/>
                </a:lnSpc>
              </a:pPr>
              <a:r>
                <a:rPr lang="en-US" sz="2897" b="true">
                  <a:solidFill>
                    <a:srgbClr val="182D36"/>
                  </a:solidFill>
                  <a:latin typeface="Glacial Indifference Bold"/>
                  <a:ea typeface="Glacial Indifference Bold"/>
                  <a:cs typeface="Glacial Indifference Bold"/>
                  <a:sym typeface="Glacial Indifference Bold"/>
                </a:rPr>
                <a:t>St</a:t>
              </a:r>
              <a:r>
                <a:rPr lang="en-US" b="true" sz="2897">
                  <a:solidFill>
                    <a:srgbClr val="182D36"/>
                  </a:solidFill>
                  <a:latin typeface="Glacial Indifference Bold"/>
                  <a:ea typeface="Glacial Indifference Bold"/>
                  <a:cs typeface="Glacial Indifference Bold"/>
                  <a:sym typeface="Glacial Indifference Bold"/>
                </a:rPr>
                <a:t>ep</a:t>
              </a:r>
              <a:r>
                <a:rPr lang="en-US" sz="2897" b="true">
                  <a:solidFill>
                    <a:srgbClr val="182D36"/>
                  </a:solidFill>
                  <a:latin typeface="Glacial Indifference Bold"/>
                  <a:ea typeface="Glacial Indifference Bold"/>
                  <a:cs typeface="Glacial Indifference Bold"/>
                  <a:sym typeface="Glacial Indifference Bold"/>
                </a:rPr>
                <a:t> 1:</a:t>
              </a:r>
              <a:r>
                <a:rPr lang="en-US" sz="2897">
                  <a:solidFill>
                    <a:srgbClr val="182D36"/>
                  </a:solidFill>
                  <a:latin typeface="Glacial Indifference"/>
                  <a:ea typeface="Glacial Indifference"/>
                  <a:cs typeface="Glacial Indifference"/>
                  <a:sym typeface="Glacial Indifference"/>
                </a:rPr>
                <a:t> Visit the Awesome AI Apps repository</a:t>
              </a:r>
            </a:p>
            <a:p>
              <a:pPr algn="l">
                <a:lnSpc>
                  <a:spcPts val="4057"/>
                </a:lnSpc>
              </a:pPr>
              <a:r>
                <a:rPr lang="en-US" sz="2897" b="true">
                  <a:solidFill>
                    <a:srgbClr val="182D36"/>
                  </a:solidFill>
                  <a:latin typeface="Glacial Indifference Bold"/>
                  <a:ea typeface="Glacial Indifference Bold"/>
                  <a:cs typeface="Glacial Indifference Bold"/>
                  <a:sym typeface="Glacial Indifference Bold"/>
                </a:rPr>
                <a:t>Step 2:</a:t>
              </a:r>
              <a:r>
                <a:rPr lang="en-US" sz="2897">
                  <a:solidFill>
                    <a:srgbClr val="182D36"/>
                  </a:solidFill>
                  <a:latin typeface="Glacial Indifference"/>
                  <a:ea typeface="Glacial Indifference"/>
                  <a:cs typeface="Glacial Indifference"/>
                  <a:sym typeface="Glacial Indifference"/>
                </a:rPr>
                <a:t> St</a:t>
              </a:r>
              <a:r>
                <a:rPr lang="en-US" sz="2897">
                  <a:solidFill>
                    <a:srgbClr val="182D36"/>
                  </a:solidFill>
                  <a:latin typeface="Glacial Indifference"/>
                  <a:ea typeface="Glacial Indifference"/>
                  <a:cs typeface="Glacial Indifference"/>
                  <a:sym typeface="Glacial Indifference"/>
                </a:rPr>
                <a:t>ar the repository on GitHub</a:t>
              </a:r>
            </a:p>
            <a:p>
              <a:pPr algn="l">
                <a:lnSpc>
                  <a:spcPts val="4057"/>
                </a:lnSpc>
              </a:pPr>
              <a:r>
                <a:rPr lang="en-US" sz="2897" b="true">
                  <a:solidFill>
                    <a:srgbClr val="182D36"/>
                  </a:solidFill>
                  <a:latin typeface="Glacial Indifference Bold"/>
                  <a:ea typeface="Glacial Indifference Bold"/>
                  <a:cs typeface="Glacial Indifference Bold"/>
                  <a:sym typeface="Glacial Indifference Bold"/>
                </a:rPr>
                <a:t>Step 3:</a:t>
              </a:r>
              <a:r>
                <a:rPr lang="en-US" sz="2897">
                  <a:solidFill>
                    <a:srgbClr val="182D36"/>
                  </a:solidFill>
                  <a:latin typeface="Glacial Indifference"/>
                  <a:ea typeface="Glacial Indifference"/>
                  <a:cs typeface="Glacial Indifference"/>
                  <a:sym typeface="Glacial Indifference"/>
                </a:rPr>
                <a:t> Submit your proof to earn 10 Brownie Points</a:t>
              </a:r>
            </a:p>
            <a:p>
              <a:pPr algn="l">
                <a:lnSpc>
                  <a:spcPts val="4057"/>
                </a:lnSpc>
              </a:pPr>
              <a:r>
                <a:rPr lang="en-US" sz="2897" b="true">
                  <a:solidFill>
                    <a:srgbClr val="182D36"/>
                  </a:solidFill>
                  <a:latin typeface="Glacial Indifference Bold"/>
                  <a:ea typeface="Glacial Indifference Bold"/>
                  <a:cs typeface="Glacial Indifference Bold"/>
                  <a:sym typeface="Glacial Indifference Bold"/>
                </a:rPr>
                <a:t>Proof Required:</a:t>
              </a:r>
            </a:p>
            <a:p>
              <a:pPr algn="l" marL="625652" indent="-312826" lvl="1">
                <a:lnSpc>
                  <a:spcPts val="4057"/>
                </a:lnSpc>
                <a:buFont typeface="Arial"/>
                <a:buChar char="•"/>
              </a:pPr>
              <a:r>
                <a:rPr lang="en-US" sz="2897">
                  <a:solidFill>
                    <a:srgbClr val="182D36"/>
                  </a:solidFill>
                  <a:latin typeface="Glacial Indifference"/>
                  <a:ea typeface="Glacial Indifference"/>
                  <a:cs typeface="Glacial Indifference"/>
                  <a:sym typeface="Glacial Indifference"/>
                </a:rPr>
                <a:t>Your GitHub Username</a:t>
              </a:r>
            </a:p>
            <a:p>
              <a:pPr algn="l" marL="625652" indent="-312826" lvl="1">
                <a:lnSpc>
                  <a:spcPts val="4057"/>
                </a:lnSpc>
                <a:buFont typeface="Arial"/>
                <a:buChar char="•"/>
              </a:pPr>
              <a:r>
                <a:rPr lang="en-US" sz="2897">
                  <a:solidFill>
                    <a:srgbClr val="182D36"/>
                  </a:solidFill>
                  <a:latin typeface="Glacial Indifference"/>
                  <a:ea typeface="Glacial Indifference"/>
                  <a:cs typeface="Glacial Indifference"/>
                  <a:sym typeface="Glacial Indifference"/>
                </a:rPr>
                <a:t>A</a:t>
              </a:r>
              <a:r>
                <a:rPr lang="en-US" sz="2897">
                  <a:solidFill>
                    <a:srgbClr val="182D36"/>
                  </a:solidFill>
                  <a:latin typeface="Glacial Indifference"/>
                  <a:ea typeface="Glacial Indifference"/>
                  <a:cs typeface="Glacial Indifference"/>
                  <a:sym typeface="Glacial Indifference"/>
                </a:rPr>
                <a:t> screenshot showing that you have starred</a:t>
              </a:r>
              <a:r>
                <a:rPr lang="en-US" sz="2897">
                  <a:solidFill>
                    <a:srgbClr val="182D36"/>
                  </a:solidFill>
                  <a:latin typeface="Glacial Indifference"/>
                  <a:ea typeface="Glacial Indifference"/>
                  <a:cs typeface="Glacial Indifference"/>
                  <a:sym typeface="Glacial Indifference"/>
                </a:rPr>
                <a:t> the repository</a:t>
              </a:r>
            </a:p>
            <a:p>
              <a:pPr algn="l" marL="625652" indent="-312826" lvl="1">
                <a:lnSpc>
                  <a:spcPts val="4057"/>
                </a:lnSpc>
                <a:buFont typeface="Arial"/>
                <a:buChar char="•"/>
              </a:pPr>
              <a:r>
                <a:rPr lang="en-US" sz="2897">
                  <a:solidFill>
                    <a:srgbClr val="182D36"/>
                  </a:solidFill>
                  <a:latin typeface="Glacial Indifference"/>
                  <a:ea typeface="Glacial Indifference"/>
                  <a:cs typeface="Glacial Indifference"/>
                  <a:sym typeface="Glacial Indifference"/>
                </a:rPr>
                <a:t>Your Argonyz Team Name</a:t>
              </a:r>
            </a:p>
            <a:p>
              <a:pPr algn="l">
                <a:lnSpc>
                  <a:spcPts val="4057"/>
                </a:lnSpc>
              </a:pPr>
              <a:r>
                <a:rPr lang="en-US" sz="2897" b="true">
                  <a:solidFill>
                    <a:srgbClr val="182D36"/>
                  </a:solidFill>
                  <a:latin typeface="Glacial Indifference Bold"/>
                  <a:ea typeface="Glacial Indifference Bold"/>
                  <a:cs typeface="Glacial Indifference Bold"/>
                  <a:sym typeface="Glacial Indifference Bold"/>
                </a:rPr>
                <a:t>Repository:</a:t>
              </a:r>
            </a:p>
            <a:p>
              <a:pPr algn="l">
                <a:lnSpc>
                  <a:spcPts val="4057"/>
                </a:lnSpc>
              </a:pPr>
              <a:r>
                <a:rPr lang="en-US" sz="2897">
                  <a:solidFill>
                    <a:srgbClr val="182D36"/>
                  </a:solidFill>
                  <a:latin typeface="Glacial Indifference"/>
                  <a:ea typeface="Glacial Indifference"/>
                  <a:cs typeface="Glacial Indifference"/>
                  <a:sym typeface="Glacial Indifference"/>
                </a:rPr>
                <a:t>https://dub.sh/repo-argonyx </a:t>
              </a:r>
            </a:p>
          </p:txBody>
        </p:sp>
      </p:grpSp>
      <p:sp>
        <p:nvSpPr>
          <p:cNvPr name="Freeform 9" id="9"/>
          <p:cNvSpPr/>
          <p:nvPr/>
        </p:nvSpPr>
        <p:spPr>
          <a:xfrm flipH="false" flipV="false" rot="3055958">
            <a:off x="14905478" y="1536344"/>
            <a:ext cx="1125794" cy="2010347"/>
          </a:xfrm>
          <a:custGeom>
            <a:avLst/>
            <a:gdLst/>
            <a:ahLst/>
            <a:cxnLst/>
            <a:rect r="r" b="b" t="t" l="l"/>
            <a:pathLst>
              <a:path h="2010347" w="1125794">
                <a:moveTo>
                  <a:pt x="0" y="0"/>
                </a:moveTo>
                <a:lnTo>
                  <a:pt x="1125795" y="0"/>
                </a:lnTo>
                <a:lnTo>
                  <a:pt x="1125795" y="2010347"/>
                </a:lnTo>
                <a:lnTo>
                  <a:pt x="0" y="201034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true" flipV="true" rot="3180157">
            <a:off x="13094355" y="8068568"/>
            <a:ext cx="1280569" cy="2286731"/>
          </a:xfrm>
          <a:custGeom>
            <a:avLst/>
            <a:gdLst/>
            <a:ahLst/>
            <a:cxnLst/>
            <a:rect r="r" b="b" t="t" l="l"/>
            <a:pathLst>
              <a:path h="2286731" w="1280569">
                <a:moveTo>
                  <a:pt x="1280569" y="2286731"/>
                </a:moveTo>
                <a:lnTo>
                  <a:pt x="0" y="2286731"/>
                </a:lnTo>
                <a:lnTo>
                  <a:pt x="0" y="0"/>
                </a:lnTo>
                <a:lnTo>
                  <a:pt x="1280569" y="0"/>
                </a:lnTo>
                <a:lnTo>
                  <a:pt x="1280569" y="2286731"/>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false" rot="0">
            <a:off x="12436166" y="3319760"/>
            <a:ext cx="4949130" cy="2299375"/>
          </a:xfrm>
          <a:custGeom>
            <a:avLst/>
            <a:gdLst/>
            <a:ahLst/>
            <a:cxnLst/>
            <a:rect r="r" b="b" t="t" l="l"/>
            <a:pathLst>
              <a:path h="2299375" w="4949130">
                <a:moveTo>
                  <a:pt x="0" y="0"/>
                </a:moveTo>
                <a:lnTo>
                  <a:pt x="4949130" y="0"/>
                </a:lnTo>
                <a:lnTo>
                  <a:pt x="4949130" y="2299375"/>
                </a:lnTo>
                <a:lnTo>
                  <a:pt x="0" y="2299375"/>
                </a:lnTo>
                <a:lnTo>
                  <a:pt x="0" y="0"/>
                </a:lnTo>
                <a:close/>
              </a:path>
            </a:pathLst>
          </a:custGeom>
          <a:blipFill>
            <a:blip r:embed="rId6"/>
            <a:stretch>
              <a:fillRect l="0" t="0" r="0" b="0"/>
            </a:stretch>
          </a:blipFill>
        </p:spPr>
      </p:sp>
      <p:grpSp>
        <p:nvGrpSpPr>
          <p:cNvPr name="Group 12" id="12"/>
          <p:cNvGrpSpPr/>
          <p:nvPr/>
        </p:nvGrpSpPr>
        <p:grpSpPr>
          <a:xfrm rot="0">
            <a:off x="12685895" y="373031"/>
            <a:ext cx="5341043" cy="625068"/>
            <a:chOff x="0" y="0"/>
            <a:chExt cx="7121391" cy="833423"/>
          </a:xfrm>
        </p:grpSpPr>
        <p:sp>
          <p:nvSpPr>
            <p:cNvPr name="Freeform 13" id="13"/>
            <p:cNvSpPr/>
            <p:nvPr/>
          </p:nvSpPr>
          <p:spPr>
            <a:xfrm flipH="false" flipV="false" rot="0">
              <a:off x="4980572" y="0"/>
              <a:ext cx="2140819" cy="833423"/>
            </a:xfrm>
            <a:custGeom>
              <a:avLst/>
              <a:gdLst/>
              <a:ahLst/>
              <a:cxnLst/>
              <a:rect r="r" b="b" t="t" l="l"/>
              <a:pathLst>
                <a:path h="833423" w="2140819">
                  <a:moveTo>
                    <a:pt x="0" y="0"/>
                  </a:moveTo>
                  <a:lnTo>
                    <a:pt x="2140819" y="0"/>
                  </a:lnTo>
                  <a:lnTo>
                    <a:pt x="2140819" y="833423"/>
                  </a:lnTo>
                  <a:lnTo>
                    <a:pt x="0" y="833423"/>
                  </a:lnTo>
                  <a:lnTo>
                    <a:pt x="0" y="0"/>
                  </a:lnTo>
                  <a:close/>
                </a:path>
              </a:pathLst>
            </a:custGeom>
            <a:blipFill>
              <a:blip r:embed="rId7"/>
              <a:stretch>
                <a:fillRect l="0" t="-496" r="0" b="0"/>
              </a:stretch>
            </a:blipFill>
          </p:spPr>
        </p:sp>
        <p:sp>
          <p:nvSpPr>
            <p:cNvPr name="Freeform 14" id="14"/>
            <p:cNvSpPr/>
            <p:nvPr/>
          </p:nvSpPr>
          <p:spPr>
            <a:xfrm flipH="false" flipV="false" rot="0">
              <a:off x="0" y="0"/>
              <a:ext cx="1419945" cy="833423"/>
            </a:xfrm>
            <a:custGeom>
              <a:avLst/>
              <a:gdLst/>
              <a:ahLst/>
              <a:cxnLst/>
              <a:rect r="r" b="b" t="t" l="l"/>
              <a:pathLst>
                <a:path h="833423" w="1419945">
                  <a:moveTo>
                    <a:pt x="0" y="0"/>
                  </a:moveTo>
                  <a:lnTo>
                    <a:pt x="1419945" y="0"/>
                  </a:lnTo>
                  <a:lnTo>
                    <a:pt x="1419945" y="833423"/>
                  </a:lnTo>
                  <a:lnTo>
                    <a:pt x="0" y="833423"/>
                  </a:lnTo>
                  <a:lnTo>
                    <a:pt x="0" y="0"/>
                  </a:lnTo>
                  <a:close/>
                </a:path>
              </a:pathLst>
            </a:custGeom>
            <a:blipFill>
              <a:blip r:embed="rId8"/>
              <a:stretch>
                <a:fillRect l="-17178" t="-112928" r="-13043" b="-100926"/>
              </a:stretch>
            </a:blipFill>
          </p:spPr>
        </p:sp>
        <p:sp>
          <p:nvSpPr>
            <p:cNvPr name="Freeform 15" id="15"/>
            <p:cNvSpPr/>
            <p:nvPr/>
          </p:nvSpPr>
          <p:spPr>
            <a:xfrm flipH="false" flipV="false" rot="0">
              <a:off x="2007209" y="0"/>
              <a:ext cx="2391618" cy="833423"/>
            </a:xfrm>
            <a:custGeom>
              <a:avLst/>
              <a:gdLst/>
              <a:ahLst/>
              <a:cxnLst/>
              <a:rect r="r" b="b" t="t" l="l"/>
              <a:pathLst>
                <a:path h="833423" w="2391618">
                  <a:moveTo>
                    <a:pt x="0" y="0"/>
                  </a:moveTo>
                  <a:lnTo>
                    <a:pt x="2391618" y="0"/>
                  </a:lnTo>
                  <a:lnTo>
                    <a:pt x="2391618" y="833423"/>
                  </a:lnTo>
                  <a:lnTo>
                    <a:pt x="0" y="833423"/>
                  </a:lnTo>
                  <a:lnTo>
                    <a:pt x="0" y="0"/>
                  </a:lnTo>
                  <a:close/>
                </a:path>
              </a:pathLst>
            </a:custGeom>
            <a:blipFill>
              <a:blip r:embed="rId9"/>
              <a:stretch>
                <a:fillRect l="-11901" t="-120981" r="-6347" b="-118346"/>
              </a:stretch>
            </a:blipFill>
          </p:spPr>
        </p:sp>
        <p:sp>
          <p:nvSpPr>
            <p:cNvPr name="TextBox 16" id="16"/>
            <p:cNvSpPr txBox="true"/>
            <p:nvPr/>
          </p:nvSpPr>
          <p:spPr>
            <a:xfrm rot="0">
              <a:off x="1543820" y="241157"/>
              <a:ext cx="361740" cy="322535"/>
            </a:xfrm>
            <a:prstGeom prst="rect">
              <a:avLst/>
            </a:prstGeom>
          </p:spPr>
          <p:txBody>
            <a:bodyPr anchor="t" rtlCol="false" tIns="0" lIns="0" bIns="0" rIns="0">
              <a:spAutoFit/>
            </a:bodyPr>
            <a:lstStyle/>
            <a:p>
              <a:pPr algn="ctr">
                <a:lnSpc>
                  <a:spcPts val="2059"/>
                </a:lnSpc>
                <a:spcBef>
                  <a:spcPct val="0"/>
                </a:spcBef>
              </a:pPr>
              <a:r>
                <a:rPr lang="en-US" sz="1471">
                  <a:solidFill>
                    <a:srgbClr val="000000"/>
                  </a:solidFill>
                  <a:latin typeface="Bicubik"/>
                  <a:ea typeface="Bicubik"/>
                  <a:cs typeface="Bicubik"/>
                  <a:sym typeface="Bicubik"/>
                </a:rPr>
                <a:t>X</a:t>
              </a:r>
            </a:p>
          </p:txBody>
        </p:sp>
        <p:sp>
          <p:nvSpPr>
            <p:cNvPr name="TextBox 17" id="17"/>
            <p:cNvSpPr txBox="true"/>
            <p:nvPr/>
          </p:nvSpPr>
          <p:spPr>
            <a:xfrm rot="0">
              <a:off x="4398827" y="241157"/>
              <a:ext cx="361740" cy="322535"/>
            </a:xfrm>
            <a:prstGeom prst="rect">
              <a:avLst/>
            </a:prstGeom>
          </p:spPr>
          <p:txBody>
            <a:bodyPr anchor="t" rtlCol="false" tIns="0" lIns="0" bIns="0" rIns="0">
              <a:spAutoFit/>
            </a:bodyPr>
            <a:lstStyle/>
            <a:p>
              <a:pPr algn="ctr">
                <a:lnSpc>
                  <a:spcPts val="2059"/>
                </a:lnSpc>
                <a:spcBef>
                  <a:spcPct val="0"/>
                </a:spcBef>
              </a:pPr>
              <a:r>
                <a:rPr lang="en-US" sz="1471">
                  <a:solidFill>
                    <a:srgbClr val="000000"/>
                  </a:solidFill>
                  <a:latin typeface="Bicubik"/>
                  <a:ea typeface="Bicubik"/>
                  <a:cs typeface="Bicubik"/>
                  <a:sym typeface="Bicubik"/>
                </a:rPr>
                <a:t>X</a:t>
              </a:r>
            </a:p>
          </p:txBody>
        </p:sp>
      </p:grpSp>
      <p:sp>
        <p:nvSpPr>
          <p:cNvPr name="Freeform 18" id="18"/>
          <p:cNvSpPr/>
          <p:nvPr/>
        </p:nvSpPr>
        <p:spPr>
          <a:xfrm flipH="false" flipV="false" rot="0">
            <a:off x="12135713" y="6857385"/>
            <a:ext cx="5123587" cy="1437741"/>
          </a:xfrm>
          <a:custGeom>
            <a:avLst/>
            <a:gdLst/>
            <a:ahLst/>
            <a:cxnLst/>
            <a:rect r="r" b="b" t="t" l="l"/>
            <a:pathLst>
              <a:path h="1437741" w="5123587">
                <a:moveTo>
                  <a:pt x="0" y="0"/>
                </a:moveTo>
                <a:lnTo>
                  <a:pt x="5123587" y="0"/>
                </a:lnTo>
                <a:lnTo>
                  <a:pt x="5123587" y="1437741"/>
                </a:lnTo>
                <a:lnTo>
                  <a:pt x="0" y="1437741"/>
                </a:lnTo>
                <a:lnTo>
                  <a:pt x="0" y="0"/>
                </a:lnTo>
                <a:close/>
              </a:path>
            </a:pathLst>
          </a:custGeom>
          <a:blipFill>
            <a:blip r:embed="rId10"/>
            <a:stretch>
              <a:fillRect l="0" t="0" r="0" b="0"/>
            </a:stretch>
          </a:blipFill>
        </p:spPr>
      </p:sp>
      <p:sp>
        <p:nvSpPr>
          <p:cNvPr name="TextBox 19" id="19"/>
          <p:cNvSpPr txBox="true"/>
          <p:nvPr/>
        </p:nvSpPr>
        <p:spPr>
          <a:xfrm rot="0">
            <a:off x="990600" y="1677918"/>
            <a:ext cx="12329030" cy="863600"/>
          </a:xfrm>
          <a:prstGeom prst="rect">
            <a:avLst/>
          </a:prstGeom>
        </p:spPr>
        <p:txBody>
          <a:bodyPr anchor="t" rtlCol="false" tIns="0" lIns="0" bIns="0" rIns="0">
            <a:spAutoFit/>
          </a:bodyPr>
          <a:lstStyle/>
          <a:p>
            <a:pPr algn="ctr">
              <a:lnSpc>
                <a:spcPts val="7000"/>
              </a:lnSpc>
              <a:spcBef>
                <a:spcPct val="0"/>
              </a:spcBef>
            </a:pPr>
            <a:r>
              <a:rPr lang="en-US" sz="5000">
                <a:solidFill>
                  <a:srgbClr val="000000"/>
                </a:solidFill>
                <a:latin typeface="Mokoto"/>
                <a:ea typeface="Mokoto"/>
                <a:cs typeface="Mokoto"/>
                <a:sym typeface="Mokoto"/>
              </a:rPr>
              <a:t>Open</a:t>
            </a:r>
            <a:r>
              <a:rPr lang="en-US" sz="5000">
                <a:solidFill>
                  <a:srgbClr val="000000"/>
                </a:solidFill>
                <a:latin typeface="Mokoto"/>
                <a:ea typeface="Mokoto"/>
                <a:cs typeface="Mokoto"/>
                <a:sym typeface="Mokoto"/>
              </a:rPr>
              <a:t> Source Engagement</a:t>
            </a:r>
          </a:p>
        </p:txBody>
      </p:sp>
      <p:sp>
        <p:nvSpPr>
          <p:cNvPr name="TextBox 20" id="20"/>
          <p:cNvSpPr txBox="true"/>
          <p:nvPr/>
        </p:nvSpPr>
        <p:spPr>
          <a:xfrm rot="0">
            <a:off x="1028700" y="2455714"/>
            <a:ext cx="6803772" cy="880172"/>
          </a:xfrm>
          <a:prstGeom prst="rect">
            <a:avLst/>
          </a:prstGeom>
        </p:spPr>
        <p:txBody>
          <a:bodyPr anchor="t" rtlCol="false" tIns="0" lIns="0" bIns="0" rIns="0">
            <a:spAutoFit/>
          </a:bodyPr>
          <a:lstStyle/>
          <a:p>
            <a:pPr algn="ctr">
              <a:lnSpc>
                <a:spcPts val="7136"/>
              </a:lnSpc>
              <a:spcBef>
                <a:spcPct val="0"/>
              </a:spcBef>
            </a:pPr>
            <a:r>
              <a:rPr lang="en-US" b="true" sz="5097" u="sng">
                <a:solidFill>
                  <a:srgbClr val="000000"/>
                </a:solidFill>
                <a:latin typeface="Glacial Indifference Bold"/>
                <a:ea typeface="Glacial Indifference Bold"/>
                <a:cs typeface="Glacial Indifference Bold"/>
                <a:sym typeface="Glacial Indifference Bold"/>
              </a:rPr>
              <a:t>Earn</a:t>
            </a:r>
            <a:r>
              <a:rPr lang="en-US" b="true" sz="5097" u="sng">
                <a:solidFill>
                  <a:srgbClr val="000000"/>
                </a:solidFill>
                <a:latin typeface="Glacial Indifference Bold"/>
                <a:ea typeface="Glacial Indifference Bold"/>
                <a:cs typeface="Glacial Indifference Bold"/>
                <a:sym typeface="Glacial Indifference Bold"/>
              </a:rPr>
              <a:t> 10 Brownie Points!</a:t>
            </a:r>
          </a:p>
        </p:txBody>
      </p:sp>
      <p:sp>
        <p:nvSpPr>
          <p:cNvPr name="TextBox 21" id="21"/>
          <p:cNvSpPr txBox="true"/>
          <p:nvPr/>
        </p:nvSpPr>
        <p:spPr>
          <a:xfrm rot="0">
            <a:off x="1028700" y="9743440"/>
            <a:ext cx="10392132" cy="349250"/>
          </a:xfrm>
          <a:prstGeom prst="rect">
            <a:avLst/>
          </a:prstGeom>
        </p:spPr>
        <p:txBody>
          <a:bodyPr anchor="t" rtlCol="false" tIns="0" lIns="0" bIns="0" rIns="0">
            <a:spAutoFit/>
          </a:bodyPr>
          <a:lstStyle/>
          <a:p>
            <a:pPr algn="ctr">
              <a:lnSpc>
                <a:spcPts val="2800"/>
              </a:lnSpc>
              <a:spcBef>
                <a:spcPct val="0"/>
              </a:spcBef>
            </a:pPr>
            <a:r>
              <a:rPr lang="en-US" sz="2000">
                <a:solidFill>
                  <a:srgbClr val="FF3131"/>
                </a:solidFill>
                <a:latin typeface="Bicubik"/>
                <a:ea typeface="Bicubik"/>
                <a:cs typeface="Bicubik"/>
                <a:sym typeface="Bicubik"/>
              </a:rPr>
              <a:t>*Delete this slide before submission; it is only for reference. ​</a:t>
            </a:r>
          </a:p>
        </p:txBody>
      </p:sp>
      <p:sp>
        <p:nvSpPr>
          <p:cNvPr name="Freeform 22" id="22"/>
          <p:cNvSpPr/>
          <p:nvPr/>
        </p:nvSpPr>
        <p:spPr>
          <a:xfrm flipH="false" flipV="false" rot="0">
            <a:off x="168180" y="232318"/>
            <a:ext cx="2648848" cy="1379161"/>
          </a:xfrm>
          <a:custGeom>
            <a:avLst/>
            <a:gdLst/>
            <a:ahLst/>
            <a:cxnLst/>
            <a:rect r="r" b="b" t="t" l="l"/>
            <a:pathLst>
              <a:path h="1379161" w="2648848">
                <a:moveTo>
                  <a:pt x="0" y="0"/>
                </a:moveTo>
                <a:lnTo>
                  <a:pt x="2648848" y="0"/>
                </a:lnTo>
                <a:lnTo>
                  <a:pt x="2648848" y="1379162"/>
                </a:lnTo>
                <a:lnTo>
                  <a:pt x="0" y="1379162"/>
                </a:lnTo>
                <a:lnTo>
                  <a:pt x="0" y="0"/>
                </a:lnTo>
                <a:close/>
              </a:path>
            </a:pathLst>
          </a:custGeom>
          <a:blipFill>
            <a:blip r:embed="rId11"/>
            <a:stretch>
              <a:fillRect l="0" t="-9355"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74252" cy="10279267"/>
          </a:xfrm>
          <a:custGeom>
            <a:avLst/>
            <a:gdLst/>
            <a:ahLst/>
            <a:cxnLst/>
            <a:rect r="r" b="b" t="t" l="l"/>
            <a:pathLst>
              <a:path h="10279267" w="18274252">
                <a:moveTo>
                  <a:pt x="0" y="0"/>
                </a:moveTo>
                <a:lnTo>
                  <a:pt x="18274252" y="0"/>
                </a:lnTo>
                <a:lnTo>
                  <a:pt x="18274252" y="10279267"/>
                </a:lnTo>
                <a:lnTo>
                  <a:pt x="0" y="10279267"/>
                </a:lnTo>
                <a:lnTo>
                  <a:pt x="0" y="0"/>
                </a:lnTo>
                <a:close/>
              </a:path>
            </a:pathLst>
          </a:custGeom>
          <a:blipFill>
            <a:blip r:embed="rId2"/>
            <a:stretch>
              <a:fillRect l="0" t="0" r="0" b="0"/>
            </a:stretch>
          </a:blipFill>
        </p:spPr>
      </p:sp>
      <p:sp>
        <p:nvSpPr>
          <p:cNvPr name="TextBox 3" id="3"/>
          <p:cNvSpPr txBox="true"/>
          <p:nvPr/>
        </p:nvSpPr>
        <p:spPr>
          <a:xfrm rot="0">
            <a:off x="5136096" y="566921"/>
            <a:ext cx="6498335" cy="1153798"/>
          </a:xfrm>
          <a:prstGeom prst="rect">
            <a:avLst/>
          </a:prstGeom>
        </p:spPr>
        <p:txBody>
          <a:bodyPr anchor="t" rtlCol="false" tIns="0" lIns="0" bIns="0" rIns="0">
            <a:spAutoFit/>
          </a:bodyPr>
          <a:lstStyle/>
          <a:p>
            <a:pPr algn="ctr">
              <a:lnSpc>
                <a:spcPts val="9379"/>
              </a:lnSpc>
              <a:spcBef>
                <a:spcPct val="0"/>
              </a:spcBef>
            </a:pPr>
            <a:r>
              <a:rPr lang="en-US" sz="6699">
                <a:solidFill>
                  <a:srgbClr val="000000"/>
                </a:solidFill>
                <a:latin typeface="Bicubik"/>
                <a:ea typeface="Bicubik"/>
                <a:cs typeface="Bicubik"/>
                <a:sym typeface="Bicubik"/>
              </a:rPr>
              <a:t>Argonyx'26</a:t>
            </a:r>
          </a:p>
        </p:txBody>
      </p:sp>
      <p:sp>
        <p:nvSpPr>
          <p:cNvPr name="Freeform 4" id="4"/>
          <p:cNvSpPr/>
          <p:nvPr/>
        </p:nvSpPr>
        <p:spPr>
          <a:xfrm flipH="false" flipV="false" rot="0">
            <a:off x="13226243" y="2624444"/>
            <a:ext cx="3456196" cy="6369302"/>
          </a:xfrm>
          <a:custGeom>
            <a:avLst/>
            <a:gdLst/>
            <a:ahLst/>
            <a:cxnLst/>
            <a:rect r="r" b="b" t="t" l="l"/>
            <a:pathLst>
              <a:path h="6369302" w="3456196">
                <a:moveTo>
                  <a:pt x="0" y="0"/>
                </a:moveTo>
                <a:lnTo>
                  <a:pt x="3456196" y="0"/>
                </a:lnTo>
                <a:lnTo>
                  <a:pt x="3456196" y="6369301"/>
                </a:lnTo>
                <a:lnTo>
                  <a:pt x="0" y="6369301"/>
                </a:lnTo>
                <a:lnTo>
                  <a:pt x="0" y="0"/>
                </a:lnTo>
                <a:close/>
              </a:path>
            </a:pathLst>
          </a:custGeom>
          <a:blipFill>
            <a:blip r:embed="rId3"/>
            <a:stretch>
              <a:fillRect l="0" t="0" r="-5502" b="0"/>
            </a:stretch>
          </a:blipFill>
        </p:spPr>
      </p:sp>
      <p:grpSp>
        <p:nvGrpSpPr>
          <p:cNvPr name="Group 5" id="5"/>
          <p:cNvGrpSpPr/>
          <p:nvPr/>
        </p:nvGrpSpPr>
        <p:grpSpPr>
          <a:xfrm rot="0">
            <a:off x="1028700" y="3149185"/>
            <a:ext cx="10490214" cy="5319819"/>
            <a:chOff x="0" y="0"/>
            <a:chExt cx="13986952" cy="7093093"/>
          </a:xfrm>
        </p:grpSpPr>
        <p:grpSp>
          <p:nvGrpSpPr>
            <p:cNvPr name="Group 6" id="6"/>
            <p:cNvGrpSpPr/>
            <p:nvPr/>
          </p:nvGrpSpPr>
          <p:grpSpPr>
            <a:xfrm rot="0">
              <a:off x="0" y="0"/>
              <a:ext cx="13986952" cy="7093093"/>
              <a:chOff x="0" y="0"/>
              <a:chExt cx="2762855" cy="1401105"/>
            </a:xfrm>
          </p:grpSpPr>
          <p:sp>
            <p:nvSpPr>
              <p:cNvPr name="Freeform 7" id="7"/>
              <p:cNvSpPr/>
              <p:nvPr/>
            </p:nvSpPr>
            <p:spPr>
              <a:xfrm flipH="false" flipV="false" rot="0">
                <a:off x="0" y="0"/>
                <a:ext cx="2762855" cy="1401105"/>
              </a:xfrm>
              <a:custGeom>
                <a:avLst/>
                <a:gdLst/>
                <a:ahLst/>
                <a:cxnLst/>
                <a:rect r="r" b="b" t="t" l="l"/>
                <a:pathLst>
                  <a:path h="1401105" w="2762855">
                    <a:moveTo>
                      <a:pt x="34687" y="0"/>
                    </a:moveTo>
                    <a:lnTo>
                      <a:pt x="2728168" y="0"/>
                    </a:lnTo>
                    <a:cubicBezTo>
                      <a:pt x="2737368" y="0"/>
                      <a:pt x="2746190" y="3654"/>
                      <a:pt x="2752695" y="10159"/>
                    </a:cubicBezTo>
                    <a:cubicBezTo>
                      <a:pt x="2759200" y="16664"/>
                      <a:pt x="2762855" y="25487"/>
                      <a:pt x="2762855" y="34687"/>
                    </a:cubicBezTo>
                    <a:lnTo>
                      <a:pt x="2762855" y="1366418"/>
                    </a:lnTo>
                    <a:cubicBezTo>
                      <a:pt x="2762855" y="1375617"/>
                      <a:pt x="2759200" y="1384440"/>
                      <a:pt x="2752695" y="1390945"/>
                    </a:cubicBezTo>
                    <a:cubicBezTo>
                      <a:pt x="2746190" y="1397450"/>
                      <a:pt x="2737368" y="1401105"/>
                      <a:pt x="2728168" y="1401105"/>
                    </a:cubicBezTo>
                    <a:lnTo>
                      <a:pt x="34687" y="1401105"/>
                    </a:lnTo>
                    <a:cubicBezTo>
                      <a:pt x="25487" y="1401105"/>
                      <a:pt x="16664" y="1397450"/>
                      <a:pt x="10159" y="1390945"/>
                    </a:cubicBezTo>
                    <a:cubicBezTo>
                      <a:pt x="3654" y="1384440"/>
                      <a:pt x="0" y="1375617"/>
                      <a:pt x="0" y="1366418"/>
                    </a:cubicBezTo>
                    <a:lnTo>
                      <a:pt x="0" y="34687"/>
                    </a:lnTo>
                    <a:cubicBezTo>
                      <a:pt x="0" y="25487"/>
                      <a:pt x="3654" y="16664"/>
                      <a:pt x="10159" y="10159"/>
                    </a:cubicBezTo>
                    <a:cubicBezTo>
                      <a:pt x="16664" y="3654"/>
                      <a:pt x="25487" y="0"/>
                      <a:pt x="34687" y="0"/>
                    </a:cubicBezTo>
                    <a:close/>
                  </a:path>
                </a:pathLst>
              </a:custGeom>
              <a:solidFill>
                <a:srgbClr val="CCA863"/>
              </a:solidFill>
              <a:ln w="57150" cap="rnd">
                <a:solidFill>
                  <a:srgbClr val="FFFFFF"/>
                </a:solidFill>
                <a:prstDash val="solid"/>
                <a:round/>
              </a:ln>
            </p:spPr>
          </p:sp>
          <p:sp>
            <p:nvSpPr>
              <p:cNvPr name="TextBox 8" id="8"/>
              <p:cNvSpPr txBox="true"/>
              <p:nvPr/>
            </p:nvSpPr>
            <p:spPr>
              <a:xfrm>
                <a:off x="0" y="-47625"/>
                <a:ext cx="2762855" cy="1448730"/>
              </a:xfrm>
              <a:prstGeom prst="rect">
                <a:avLst/>
              </a:prstGeom>
            </p:spPr>
            <p:txBody>
              <a:bodyPr anchor="ctr" rtlCol="false" tIns="50800" lIns="50800" bIns="50800" rIns="50800"/>
              <a:lstStyle/>
              <a:p>
                <a:pPr algn="ctr">
                  <a:lnSpc>
                    <a:spcPts val="2800"/>
                  </a:lnSpc>
                </a:pPr>
              </a:p>
            </p:txBody>
          </p:sp>
        </p:grpSp>
        <p:sp>
          <p:nvSpPr>
            <p:cNvPr name="TextBox 9" id="9"/>
            <p:cNvSpPr txBox="true"/>
            <p:nvPr/>
          </p:nvSpPr>
          <p:spPr>
            <a:xfrm rot="0">
              <a:off x="277580" y="197203"/>
              <a:ext cx="12796935" cy="6641538"/>
            </a:xfrm>
            <a:prstGeom prst="rect">
              <a:avLst/>
            </a:prstGeom>
          </p:spPr>
          <p:txBody>
            <a:bodyPr anchor="t" rtlCol="false" tIns="0" lIns="0" bIns="0" rIns="0">
              <a:spAutoFit/>
            </a:bodyPr>
            <a:lstStyle/>
            <a:p>
              <a:pPr algn="l">
                <a:lnSpc>
                  <a:spcPts val="3334"/>
                </a:lnSpc>
              </a:pPr>
              <a:r>
                <a:rPr lang="en-US" sz="2381">
                  <a:solidFill>
                    <a:srgbClr val="182D36"/>
                  </a:solidFill>
                  <a:latin typeface="Glacial Indifference"/>
                  <a:ea typeface="Glacial Indifference"/>
                  <a:cs typeface="Glacial Indifference"/>
                  <a:sym typeface="Glacial Indifference"/>
                </a:rPr>
                <a:t>Make a copy of this template on Canva, edit it with your creativity, and submit it as a PDF renamed with your</a:t>
              </a:r>
              <a:r>
                <a:rPr lang="en-US" b="true" sz="2381" i="true">
                  <a:solidFill>
                    <a:srgbClr val="182D36"/>
                  </a:solidFill>
                  <a:latin typeface="Glacial Indifference Bold Italics"/>
                  <a:ea typeface="Glacial Indifference Bold Italics"/>
                  <a:cs typeface="Glacial Indifference Bold Italics"/>
                  <a:sym typeface="Glacial Indifference Bold Italics"/>
                </a:rPr>
                <a:t> TeamName_TeamLeadFirstName.pdf</a:t>
              </a:r>
              <a:r>
                <a:rPr lang="en-US" sz="2381">
                  <a:solidFill>
                    <a:srgbClr val="182D36"/>
                  </a:solidFill>
                  <a:latin typeface="Glacial Indifference"/>
                  <a:ea typeface="Glacial Indifference"/>
                  <a:cs typeface="Glacial Indifference"/>
                  <a:sym typeface="Glacial Indifference"/>
                </a:rPr>
                <a:t> </a:t>
              </a:r>
            </a:p>
            <a:p>
              <a:pPr algn="l">
                <a:lnSpc>
                  <a:spcPts val="3334"/>
                </a:lnSpc>
              </a:pPr>
              <a:r>
                <a:rPr lang="en-US" sz="2381">
                  <a:solidFill>
                    <a:srgbClr val="182D36"/>
                  </a:solidFill>
                  <a:latin typeface="Glacial Indifference"/>
                  <a:ea typeface="Glacial Indifference"/>
                  <a:cs typeface="Glacial Indifference"/>
                  <a:sym typeface="Glacial Indifference"/>
                </a:rPr>
                <a:t>This isn’t just a formality, think of it </a:t>
              </a:r>
              <a:r>
                <a:rPr lang="en-US" sz="2381">
                  <a:solidFill>
                    <a:srgbClr val="182D36"/>
                  </a:solidFill>
                  <a:latin typeface="Glacial Indifference"/>
                  <a:ea typeface="Glacial Indifference"/>
                  <a:cs typeface="Glacial Indifference"/>
                  <a:sym typeface="Glacial Indifference"/>
                </a:rPr>
                <a:t>as your first pitch deck. Keep it sharp, simple, and meaningful. Judges are not looking for perfection, but for clarity, creativity, and the spark of an idea that can be built into something real. </a:t>
              </a:r>
            </a:p>
            <a:p>
              <a:pPr algn="l">
                <a:lnSpc>
                  <a:spcPts val="3334"/>
                </a:lnSpc>
              </a:pPr>
            </a:p>
            <a:p>
              <a:pPr algn="l">
                <a:lnSpc>
                  <a:spcPts val="3334"/>
                </a:lnSpc>
              </a:pPr>
              <a:r>
                <a:rPr lang="en-US" sz="2381">
                  <a:solidFill>
                    <a:srgbClr val="182D36"/>
                  </a:solidFill>
                  <a:latin typeface="Glacial Indifference"/>
                  <a:ea typeface="Glacial Indifference"/>
                  <a:cs typeface="Glacial Indifference"/>
                  <a:sym typeface="Glacial Indifference"/>
                </a:rPr>
                <a:t>All the best! </a:t>
              </a:r>
            </a:p>
            <a:p>
              <a:pPr algn="l">
                <a:lnSpc>
                  <a:spcPts val="3334"/>
                </a:lnSpc>
              </a:pPr>
              <a:r>
                <a:rPr lang="en-US" sz="2381">
                  <a:solidFill>
                    <a:srgbClr val="182D36"/>
                  </a:solidFill>
                  <a:latin typeface="Glacial Indifference"/>
                  <a:ea typeface="Glacial Indifference"/>
                  <a:cs typeface="Glacial Indifference"/>
                  <a:sym typeface="Glacial Indifference"/>
                </a:rPr>
                <a:t>We can’t wait to see your ideas take shape!</a:t>
              </a:r>
            </a:p>
            <a:p>
              <a:pPr algn="l">
                <a:lnSpc>
                  <a:spcPts val="3334"/>
                </a:lnSpc>
              </a:pPr>
            </a:p>
            <a:p>
              <a:pPr algn="l">
                <a:lnSpc>
                  <a:spcPts val="3334"/>
                </a:lnSpc>
              </a:pPr>
              <a:r>
                <a:rPr lang="en-US" sz="2381">
                  <a:solidFill>
                    <a:srgbClr val="182D36"/>
                  </a:solidFill>
                  <a:latin typeface="Glacial Indifference"/>
                  <a:ea typeface="Glacial Indifference"/>
                  <a:cs typeface="Glacial Indifference"/>
                  <a:sym typeface="Glacial Indifference"/>
                </a:rPr>
                <a:t>Team Argonyx</a:t>
              </a:r>
            </a:p>
          </p:txBody>
        </p:sp>
      </p:grpSp>
      <p:sp>
        <p:nvSpPr>
          <p:cNvPr name="Freeform 10" id="10"/>
          <p:cNvSpPr/>
          <p:nvPr/>
        </p:nvSpPr>
        <p:spPr>
          <a:xfrm flipH="false" flipV="false" rot="-3067653">
            <a:off x="12163171" y="1851116"/>
            <a:ext cx="704524" cy="1258078"/>
          </a:xfrm>
          <a:custGeom>
            <a:avLst/>
            <a:gdLst/>
            <a:ahLst/>
            <a:cxnLst/>
            <a:rect r="r" b="b" t="t" l="l"/>
            <a:pathLst>
              <a:path h="1258078" w="704524">
                <a:moveTo>
                  <a:pt x="0" y="0"/>
                </a:moveTo>
                <a:lnTo>
                  <a:pt x="704523" y="0"/>
                </a:lnTo>
                <a:lnTo>
                  <a:pt x="704523" y="1258078"/>
                </a:lnTo>
                <a:lnTo>
                  <a:pt x="0" y="12580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1028700" y="2215831"/>
            <a:ext cx="5245107" cy="751512"/>
          </a:xfrm>
          <a:prstGeom prst="rect">
            <a:avLst/>
          </a:prstGeom>
        </p:spPr>
        <p:txBody>
          <a:bodyPr anchor="t" rtlCol="false" tIns="0" lIns="0" bIns="0" rIns="0">
            <a:spAutoFit/>
          </a:bodyPr>
          <a:lstStyle/>
          <a:p>
            <a:pPr algn="ctr">
              <a:lnSpc>
                <a:spcPts val="6028"/>
              </a:lnSpc>
              <a:spcBef>
                <a:spcPct val="0"/>
              </a:spcBef>
            </a:pPr>
            <a:r>
              <a:rPr lang="en-US" sz="4306">
                <a:solidFill>
                  <a:srgbClr val="182D36"/>
                </a:solidFill>
                <a:latin typeface="Mokoto"/>
                <a:ea typeface="Mokoto"/>
                <a:cs typeface="Mokoto"/>
                <a:sym typeface="Mokoto"/>
              </a:rPr>
              <a:t>Good to go!</a:t>
            </a:r>
          </a:p>
        </p:txBody>
      </p:sp>
      <p:sp>
        <p:nvSpPr>
          <p:cNvPr name="TextBox 12" id="12"/>
          <p:cNvSpPr txBox="true"/>
          <p:nvPr/>
        </p:nvSpPr>
        <p:spPr>
          <a:xfrm rot="0">
            <a:off x="3947934" y="9704498"/>
            <a:ext cx="10392132" cy="349250"/>
          </a:xfrm>
          <a:prstGeom prst="rect">
            <a:avLst/>
          </a:prstGeom>
        </p:spPr>
        <p:txBody>
          <a:bodyPr anchor="t" rtlCol="false" tIns="0" lIns="0" bIns="0" rIns="0">
            <a:spAutoFit/>
          </a:bodyPr>
          <a:lstStyle/>
          <a:p>
            <a:pPr algn="ctr">
              <a:lnSpc>
                <a:spcPts val="2800"/>
              </a:lnSpc>
              <a:spcBef>
                <a:spcPct val="0"/>
              </a:spcBef>
            </a:pPr>
            <a:r>
              <a:rPr lang="en-US" sz="2000">
                <a:solidFill>
                  <a:srgbClr val="FF3131"/>
                </a:solidFill>
                <a:latin typeface="Bicubik"/>
                <a:ea typeface="Bicubik"/>
                <a:cs typeface="Bicubik"/>
                <a:sym typeface="Bicubik"/>
              </a:rPr>
              <a:t>*Delete this slide before submission; it is only for reference. ​</a:t>
            </a:r>
          </a:p>
        </p:txBody>
      </p:sp>
      <p:sp>
        <p:nvSpPr>
          <p:cNvPr name="Freeform 13" id="13"/>
          <p:cNvSpPr/>
          <p:nvPr/>
        </p:nvSpPr>
        <p:spPr>
          <a:xfrm flipH="false" flipV="false" rot="-3067653">
            <a:off x="12020317" y="3845432"/>
            <a:ext cx="704524" cy="1258078"/>
          </a:xfrm>
          <a:custGeom>
            <a:avLst/>
            <a:gdLst/>
            <a:ahLst/>
            <a:cxnLst/>
            <a:rect r="r" b="b" t="t" l="l"/>
            <a:pathLst>
              <a:path h="1258078" w="704524">
                <a:moveTo>
                  <a:pt x="0" y="0"/>
                </a:moveTo>
                <a:lnTo>
                  <a:pt x="704523" y="0"/>
                </a:lnTo>
                <a:lnTo>
                  <a:pt x="704523" y="1258078"/>
                </a:lnTo>
                <a:lnTo>
                  <a:pt x="0" y="125807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4" id="14"/>
          <p:cNvGrpSpPr/>
          <p:nvPr/>
        </p:nvGrpSpPr>
        <p:grpSpPr>
          <a:xfrm rot="0">
            <a:off x="12685895" y="373031"/>
            <a:ext cx="5341043" cy="625068"/>
            <a:chOff x="0" y="0"/>
            <a:chExt cx="7121391" cy="833423"/>
          </a:xfrm>
        </p:grpSpPr>
        <p:sp>
          <p:nvSpPr>
            <p:cNvPr name="Freeform 15" id="15"/>
            <p:cNvSpPr/>
            <p:nvPr/>
          </p:nvSpPr>
          <p:spPr>
            <a:xfrm flipH="false" flipV="false" rot="0">
              <a:off x="4980572" y="0"/>
              <a:ext cx="2140819" cy="833423"/>
            </a:xfrm>
            <a:custGeom>
              <a:avLst/>
              <a:gdLst/>
              <a:ahLst/>
              <a:cxnLst/>
              <a:rect r="r" b="b" t="t" l="l"/>
              <a:pathLst>
                <a:path h="833423" w="2140819">
                  <a:moveTo>
                    <a:pt x="0" y="0"/>
                  </a:moveTo>
                  <a:lnTo>
                    <a:pt x="2140819" y="0"/>
                  </a:lnTo>
                  <a:lnTo>
                    <a:pt x="2140819" y="833423"/>
                  </a:lnTo>
                  <a:lnTo>
                    <a:pt x="0" y="833423"/>
                  </a:lnTo>
                  <a:lnTo>
                    <a:pt x="0" y="0"/>
                  </a:lnTo>
                  <a:close/>
                </a:path>
              </a:pathLst>
            </a:custGeom>
            <a:blipFill>
              <a:blip r:embed="rId6"/>
              <a:stretch>
                <a:fillRect l="0" t="-496" r="0" b="0"/>
              </a:stretch>
            </a:blipFill>
          </p:spPr>
        </p:sp>
        <p:sp>
          <p:nvSpPr>
            <p:cNvPr name="Freeform 16" id="16"/>
            <p:cNvSpPr/>
            <p:nvPr/>
          </p:nvSpPr>
          <p:spPr>
            <a:xfrm flipH="false" flipV="false" rot="0">
              <a:off x="0" y="0"/>
              <a:ext cx="1419945" cy="833423"/>
            </a:xfrm>
            <a:custGeom>
              <a:avLst/>
              <a:gdLst/>
              <a:ahLst/>
              <a:cxnLst/>
              <a:rect r="r" b="b" t="t" l="l"/>
              <a:pathLst>
                <a:path h="833423" w="1419945">
                  <a:moveTo>
                    <a:pt x="0" y="0"/>
                  </a:moveTo>
                  <a:lnTo>
                    <a:pt x="1419945" y="0"/>
                  </a:lnTo>
                  <a:lnTo>
                    <a:pt x="1419945" y="833423"/>
                  </a:lnTo>
                  <a:lnTo>
                    <a:pt x="0" y="833423"/>
                  </a:lnTo>
                  <a:lnTo>
                    <a:pt x="0" y="0"/>
                  </a:lnTo>
                  <a:close/>
                </a:path>
              </a:pathLst>
            </a:custGeom>
            <a:blipFill>
              <a:blip r:embed="rId7"/>
              <a:stretch>
                <a:fillRect l="-17178" t="-112928" r="-13043" b="-100926"/>
              </a:stretch>
            </a:blipFill>
          </p:spPr>
        </p:sp>
        <p:sp>
          <p:nvSpPr>
            <p:cNvPr name="Freeform 17" id="17"/>
            <p:cNvSpPr/>
            <p:nvPr/>
          </p:nvSpPr>
          <p:spPr>
            <a:xfrm flipH="false" flipV="false" rot="0">
              <a:off x="2007209" y="0"/>
              <a:ext cx="2391618" cy="833423"/>
            </a:xfrm>
            <a:custGeom>
              <a:avLst/>
              <a:gdLst/>
              <a:ahLst/>
              <a:cxnLst/>
              <a:rect r="r" b="b" t="t" l="l"/>
              <a:pathLst>
                <a:path h="833423" w="2391618">
                  <a:moveTo>
                    <a:pt x="0" y="0"/>
                  </a:moveTo>
                  <a:lnTo>
                    <a:pt x="2391618" y="0"/>
                  </a:lnTo>
                  <a:lnTo>
                    <a:pt x="2391618" y="833423"/>
                  </a:lnTo>
                  <a:lnTo>
                    <a:pt x="0" y="833423"/>
                  </a:lnTo>
                  <a:lnTo>
                    <a:pt x="0" y="0"/>
                  </a:lnTo>
                  <a:close/>
                </a:path>
              </a:pathLst>
            </a:custGeom>
            <a:blipFill>
              <a:blip r:embed="rId8"/>
              <a:stretch>
                <a:fillRect l="-11901" t="-120981" r="-6347" b="-118346"/>
              </a:stretch>
            </a:blipFill>
          </p:spPr>
        </p:sp>
        <p:sp>
          <p:nvSpPr>
            <p:cNvPr name="TextBox 18" id="18"/>
            <p:cNvSpPr txBox="true"/>
            <p:nvPr/>
          </p:nvSpPr>
          <p:spPr>
            <a:xfrm rot="0">
              <a:off x="1543820" y="241157"/>
              <a:ext cx="361740" cy="322535"/>
            </a:xfrm>
            <a:prstGeom prst="rect">
              <a:avLst/>
            </a:prstGeom>
          </p:spPr>
          <p:txBody>
            <a:bodyPr anchor="t" rtlCol="false" tIns="0" lIns="0" bIns="0" rIns="0">
              <a:spAutoFit/>
            </a:bodyPr>
            <a:lstStyle/>
            <a:p>
              <a:pPr algn="ctr">
                <a:lnSpc>
                  <a:spcPts val="2059"/>
                </a:lnSpc>
                <a:spcBef>
                  <a:spcPct val="0"/>
                </a:spcBef>
              </a:pPr>
              <a:r>
                <a:rPr lang="en-US" sz="1471">
                  <a:solidFill>
                    <a:srgbClr val="000000"/>
                  </a:solidFill>
                  <a:latin typeface="Bicubik"/>
                  <a:ea typeface="Bicubik"/>
                  <a:cs typeface="Bicubik"/>
                  <a:sym typeface="Bicubik"/>
                </a:rPr>
                <a:t>X</a:t>
              </a:r>
            </a:p>
          </p:txBody>
        </p:sp>
        <p:sp>
          <p:nvSpPr>
            <p:cNvPr name="TextBox 19" id="19"/>
            <p:cNvSpPr txBox="true"/>
            <p:nvPr/>
          </p:nvSpPr>
          <p:spPr>
            <a:xfrm rot="0">
              <a:off x="4398827" y="241157"/>
              <a:ext cx="361740" cy="322535"/>
            </a:xfrm>
            <a:prstGeom prst="rect">
              <a:avLst/>
            </a:prstGeom>
          </p:spPr>
          <p:txBody>
            <a:bodyPr anchor="t" rtlCol="false" tIns="0" lIns="0" bIns="0" rIns="0">
              <a:spAutoFit/>
            </a:bodyPr>
            <a:lstStyle/>
            <a:p>
              <a:pPr algn="ctr">
                <a:lnSpc>
                  <a:spcPts val="2059"/>
                </a:lnSpc>
                <a:spcBef>
                  <a:spcPct val="0"/>
                </a:spcBef>
              </a:pPr>
              <a:r>
                <a:rPr lang="en-US" sz="1471">
                  <a:solidFill>
                    <a:srgbClr val="000000"/>
                  </a:solidFill>
                  <a:latin typeface="Bicubik"/>
                  <a:ea typeface="Bicubik"/>
                  <a:cs typeface="Bicubik"/>
                  <a:sym typeface="Bicubik"/>
                </a:rPr>
                <a:t>X</a:t>
              </a:r>
            </a:p>
          </p:txBody>
        </p:sp>
      </p:grpSp>
      <p:sp>
        <p:nvSpPr>
          <p:cNvPr name="Freeform 20" id="20"/>
          <p:cNvSpPr/>
          <p:nvPr/>
        </p:nvSpPr>
        <p:spPr>
          <a:xfrm flipH="false" flipV="false" rot="0">
            <a:off x="168180" y="232318"/>
            <a:ext cx="2648848" cy="1379161"/>
          </a:xfrm>
          <a:custGeom>
            <a:avLst/>
            <a:gdLst/>
            <a:ahLst/>
            <a:cxnLst/>
            <a:rect r="r" b="b" t="t" l="l"/>
            <a:pathLst>
              <a:path h="1379161" w="2648848">
                <a:moveTo>
                  <a:pt x="0" y="0"/>
                </a:moveTo>
                <a:lnTo>
                  <a:pt x="2648848" y="0"/>
                </a:lnTo>
                <a:lnTo>
                  <a:pt x="2648848" y="1379162"/>
                </a:lnTo>
                <a:lnTo>
                  <a:pt x="0" y="1379162"/>
                </a:lnTo>
                <a:lnTo>
                  <a:pt x="0" y="0"/>
                </a:lnTo>
                <a:close/>
              </a:path>
            </a:pathLst>
          </a:custGeom>
          <a:blipFill>
            <a:blip r:embed="rId9"/>
            <a:stretch>
              <a:fillRect l="0" t="-9355"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DAHUHZnmQhw</dc:identifier>
  <dcterms:modified xsi:type="dcterms:W3CDTF">2011-08-01T06:04:30Z</dcterms:modified>
  <cp:revision>1</cp:revision>
  <dc:title>Argonyx'26-PPT</dc:title>
</cp:coreProperties>
</file>