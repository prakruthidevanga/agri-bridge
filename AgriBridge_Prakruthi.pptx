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8288000" cy="10287000"/>
  <p:notesSz cx="6858000" cy="9144000"/>
  <p:embeddedFontLst>
    <p:embeddedFont>
      <p:font typeface="Bicubik" panose="02000503020000020004" charset="0"/>
      <p:regular r:id="rId8"/>
    </p:embeddedFont>
    <p:embeddedFont>
      <p:font typeface="Mokoto" panose="020B0604020202020204" charset="0"/>
      <p:regular r:id="rId9"/>
    </p:embeddedFont>
    <p:embeddedFont>
      <p:font typeface="Montserrat" panose="00000500000000000000" pitchFamily="2" charset="0"/>
      <p:regular r:id="rId10"/>
    </p:embeddedFont>
    <p:embeddedFont>
      <p:font typeface="Montserrat Bold" panose="00000800000000000000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kruthi Devanga" userId="3147d4044d3bc359" providerId="LiveId" clId="{9BCB84A0-47B1-4891-B664-D4B16A0C3DFF}"/>
    <pc:docChg chg="modSld">
      <pc:chgData name="Prakruthi Devanga" userId="3147d4044d3bc359" providerId="LiveId" clId="{9BCB84A0-47B1-4891-B664-D4B16A0C3DFF}" dt="2026-09-11T18:04:07.012" v="229" actId="113"/>
      <pc:docMkLst>
        <pc:docMk/>
      </pc:docMkLst>
      <pc:sldChg chg="modSp mod">
        <pc:chgData name="Prakruthi Devanga" userId="3147d4044d3bc359" providerId="LiveId" clId="{9BCB84A0-47B1-4891-B664-D4B16A0C3DFF}" dt="2026-09-11T18:01:57.498" v="224" actId="255"/>
        <pc:sldMkLst>
          <pc:docMk/>
          <pc:sldMk cId="0" sldId="257"/>
        </pc:sldMkLst>
        <pc:spChg chg="mod">
          <ac:chgData name="Prakruthi Devanga" userId="3147d4044d3bc359" providerId="LiveId" clId="{9BCB84A0-47B1-4891-B664-D4B16A0C3DFF}" dt="2026-09-11T18:01:57.498" v="224" actId="255"/>
          <ac:spMkLst>
            <pc:docMk/>
            <pc:sldMk cId="0" sldId="257"/>
            <ac:spMk id="7" creationId="{00000000-0000-0000-0000-000000000000}"/>
          </ac:spMkLst>
        </pc:spChg>
        <pc:graphicFrameChg chg="modGraphic">
          <ac:chgData name="Prakruthi Devanga" userId="3147d4044d3bc359" providerId="LiveId" clId="{9BCB84A0-47B1-4891-B664-D4B16A0C3DFF}" dt="2026-09-11T18:01:39.716" v="223" actId="20577"/>
          <ac:graphicFrameMkLst>
            <pc:docMk/>
            <pc:sldMk cId="0" sldId="257"/>
            <ac:graphicFrameMk id="15" creationId="{00000000-0000-0000-0000-000000000000}"/>
          </ac:graphicFrameMkLst>
        </pc:graphicFrameChg>
      </pc:sldChg>
      <pc:sldChg chg="modSp mod">
        <pc:chgData name="Prakruthi Devanga" userId="3147d4044d3bc359" providerId="LiveId" clId="{9BCB84A0-47B1-4891-B664-D4B16A0C3DFF}" dt="2026-09-11T18:04:07.012" v="229" actId="113"/>
        <pc:sldMkLst>
          <pc:docMk/>
          <pc:sldMk cId="0" sldId="258"/>
        </pc:sldMkLst>
        <pc:spChg chg="mod">
          <ac:chgData name="Prakruthi Devanga" userId="3147d4044d3bc359" providerId="LiveId" clId="{9BCB84A0-47B1-4891-B664-D4B16A0C3DFF}" dt="2026-09-11T18:04:07.012" v="229" actId="113"/>
          <ac:spMkLst>
            <pc:docMk/>
            <pc:sldMk cId="0" sldId="258"/>
            <ac:spMk id="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74252" cy="10279267"/>
          </a:xfrm>
          <a:custGeom>
            <a:avLst/>
            <a:gdLst/>
            <a:ahLst/>
            <a:cxnLst/>
            <a:rect l="l" t="t" r="r" b="b"/>
            <a:pathLst>
              <a:path w="18274252" h="10279267">
                <a:moveTo>
                  <a:pt x="0" y="0"/>
                </a:moveTo>
                <a:lnTo>
                  <a:pt x="18274252" y="0"/>
                </a:lnTo>
                <a:lnTo>
                  <a:pt x="18274252" y="10279267"/>
                </a:lnTo>
                <a:lnTo>
                  <a:pt x="0" y="102792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0" y="10092690"/>
            <a:ext cx="18288000" cy="194310"/>
          </a:xfrm>
          <a:custGeom>
            <a:avLst/>
            <a:gdLst/>
            <a:ahLst/>
            <a:cxnLst/>
            <a:rect l="l" t="t" r="r" b="b"/>
            <a:pathLst>
              <a:path w="18288000" h="194310">
                <a:moveTo>
                  <a:pt x="0" y="0"/>
                </a:moveTo>
                <a:lnTo>
                  <a:pt x="18288000" y="0"/>
                </a:lnTo>
                <a:lnTo>
                  <a:pt x="18288000" y="194310"/>
                </a:lnTo>
                <a:lnTo>
                  <a:pt x="0" y="1943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3541430" y="457682"/>
            <a:ext cx="7792440" cy="1153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79"/>
              </a:lnSpc>
              <a:spcBef>
                <a:spcPct val="0"/>
              </a:spcBef>
            </a:pPr>
            <a:r>
              <a:rPr lang="en-US" sz="6699">
                <a:solidFill>
                  <a:srgbClr val="000000"/>
                </a:solidFill>
                <a:latin typeface="Mokoto"/>
                <a:ea typeface="Mokoto"/>
                <a:cs typeface="Mokoto"/>
                <a:sym typeface="Mokoto"/>
              </a:rPr>
              <a:t>Argonyx'26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541430" y="1517413"/>
            <a:ext cx="5187434" cy="647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78"/>
              </a:lnSpc>
              <a:spcBef>
                <a:spcPct val="0"/>
              </a:spcBef>
              <a:defRPr sz="2600" b="1">
                <a:solidFill>
                  <a:srgbClr val="182D36"/>
                </a:solidFill>
                <a:latin typeface="Montserrat Bold"/>
              </a:defRPr>
            </a:pPr>
            <a:r>
              <a:t>Team &amp; Project Registration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541430" y="2259849"/>
            <a:ext cx="10101154" cy="1744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ts val="100"/>
              </a:spcBef>
              <a:spcAft>
                <a:spcPts val="300"/>
              </a:spcAft>
            </a:pPr>
            <a:r>
              <a:rPr sz="1400" b="1" dirty="0">
                <a:solidFill>
                  <a:srgbClr val="B8934A"/>
                </a:solidFill>
                <a:latin typeface="Montserrat Bold"/>
              </a:rPr>
              <a:t>Title of the Project: </a:t>
            </a:r>
            <a:r>
              <a:rPr sz="1400" dirty="0">
                <a:solidFill>
                  <a:srgbClr val="1E1E1E"/>
                </a:solidFill>
                <a:latin typeface="Montserrat"/>
              </a:rPr>
              <a:t>Agri-Bridge: AI-Enabled Multilingual Circular Economy Platform for Smallholder Farmers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400" b="1" dirty="0">
                <a:solidFill>
                  <a:srgbClr val="B8934A"/>
                </a:solidFill>
                <a:latin typeface="Montserrat Bold"/>
              </a:rPr>
              <a:t>Team Name: </a:t>
            </a:r>
            <a:r>
              <a:rPr sz="1400" dirty="0">
                <a:solidFill>
                  <a:srgbClr val="1E1E1E"/>
                </a:solidFill>
                <a:latin typeface="Montserrat"/>
              </a:rPr>
              <a:t>Agri-Bridge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400" b="1" dirty="0">
                <a:solidFill>
                  <a:srgbClr val="B8934A"/>
                </a:solidFill>
                <a:latin typeface="Montserrat Bold"/>
              </a:rPr>
              <a:t>Team Lead: </a:t>
            </a:r>
            <a:r>
              <a:rPr sz="1400" dirty="0">
                <a:solidFill>
                  <a:srgbClr val="1E1E1E"/>
                </a:solidFill>
                <a:latin typeface="Montserrat"/>
              </a:rPr>
              <a:t>Prakruthi BR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400" b="1" dirty="0">
                <a:solidFill>
                  <a:srgbClr val="B8934A"/>
                </a:solidFill>
                <a:latin typeface="Montserrat Bold"/>
              </a:rPr>
              <a:t>Mission Tagline: </a:t>
            </a:r>
            <a:r>
              <a:rPr sz="1400" dirty="0">
                <a:solidFill>
                  <a:srgbClr val="1E1E1E"/>
                </a:solidFill>
                <a:latin typeface="Montserrat"/>
              </a:rPr>
              <a:t>“Empowering smallholder farmers to monetize crop residues, eliminate stubble burning, and access vernacular AI farm intelligence through a decentralized circular marketplace.”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400" b="1" dirty="0">
                <a:solidFill>
                  <a:srgbClr val="B8934A"/>
                </a:solidFill>
                <a:latin typeface="Montserrat Bold"/>
              </a:rPr>
              <a:t>Institution: </a:t>
            </a:r>
            <a:r>
              <a:rPr sz="1400" dirty="0">
                <a:solidFill>
                  <a:srgbClr val="1E1E1E"/>
                </a:solidFill>
                <a:latin typeface="Montserrat"/>
              </a:rPr>
              <a:t>Department of Computer Applications, Alliance University, Bengaluru</a:t>
            </a:r>
          </a:p>
        </p:txBody>
      </p:sp>
      <p:sp>
        <p:nvSpPr>
          <p:cNvPr id="8" name="Freeform 8"/>
          <p:cNvSpPr/>
          <p:nvPr/>
        </p:nvSpPr>
        <p:spPr>
          <a:xfrm>
            <a:off x="168180" y="232318"/>
            <a:ext cx="2648848" cy="1379161"/>
          </a:xfrm>
          <a:custGeom>
            <a:avLst/>
            <a:gdLst/>
            <a:ahLst/>
            <a:cxnLst/>
            <a:rect l="l" t="t" r="r" b="b"/>
            <a:pathLst>
              <a:path w="2648848" h="1379161">
                <a:moveTo>
                  <a:pt x="0" y="0"/>
                </a:moveTo>
                <a:lnTo>
                  <a:pt x="2648848" y="0"/>
                </a:lnTo>
                <a:lnTo>
                  <a:pt x="2648848" y="1379162"/>
                </a:lnTo>
                <a:lnTo>
                  <a:pt x="0" y="13791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355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12685895" y="373031"/>
            <a:ext cx="5341043" cy="625068"/>
            <a:chOff x="0" y="0"/>
            <a:chExt cx="7121391" cy="833423"/>
          </a:xfrm>
        </p:grpSpPr>
        <p:sp>
          <p:nvSpPr>
            <p:cNvPr id="10" name="Freeform 10"/>
            <p:cNvSpPr/>
            <p:nvPr/>
          </p:nvSpPr>
          <p:spPr>
            <a:xfrm>
              <a:off x="4980572" y="0"/>
              <a:ext cx="2140819" cy="833423"/>
            </a:xfrm>
            <a:custGeom>
              <a:avLst/>
              <a:gdLst/>
              <a:ahLst/>
              <a:cxnLst/>
              <a:rect l="l" t="t" r="r" b="b"/>
              <a:pathLst>
                <a:path w="2140819" h="833423">
                  <a:moveTo>
                    <a:pt x="0" y="0"/>
                  </a:moveTo>
                  <a:lnTo>
                    <a:pt x="2140819" y="0"/>
                  </a:lnTo>
                  <a:lnTo>
                    <a:pt x="2140819" y="833423"/>
                  </a:lnTo>
                  <a:lnTo>
                    <a:pt x="0" y="833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49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0"/>
              <a:ext cx="1419945" cy="833423"/>
            </a:xfrm>
            <a:custGeom>
              <a:avLst/>
              <a:gdLst/>
              <a:ahLst/>
              <a:cxnLst/>
              <a:rect l="l" t="t" r="r" b="b"/>
              <a:pathLst>
                <a:path w="1419945" h="833423">
                  <a:moveTo>
                    <a:pt x="0" y="0"/>
                  </a:moveTo>
                  <a:lnTo>
                    <a:pt x="1419945" y="0"/>
                  </a:lnTo>
                  <a:lnTo>
                    <a:pt x="1419945" y="833423"/>
                  </a:lnTo>
                  <a:lnTo>
                    <a:pt x="0" y="833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7178" t="-112928" r="-13043" b="-10092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2007209" y="0"/>
              <a:ext cx="2391618" cy="833423"/>
            </a:xfrm>
            <a:custGeom>
              <a:avLst/>
              <a:gdLst/>
              <a:ahLst/>
              <a:cxnLst/>
              <a:rect l="l" t="t" r="r" b="b"/>
              <a:pathLst>
                <a:path w="2391618" h="833423">
                  <a:moveTo>
                    <a:pt x="0" y="0"/>
                  </a:moveTo>
                  <a:lnTo>
                    <a:pt x="2391618" y="0"/>
                  </a:lnTo>
                  <a:lnTo>
                    <a:pt x="2391618" y="833423"/>
                  </a:lnTo>
                  <a:lnTo>
                    <a:pt x="0" y="833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1901" t="-120981" r="-6347" b="-11834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43820" y="241157"/>
              <a:ext cx="361740" cy="322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59"/>
                </a:lnSpc>
                <a:spcBef>
                  <a:spcPct val="0"/>
                </a:spcBef>
              </a:pPr>
              <a:r>
                <a:rPr lang="en-US" sz="1471">
                  <a:solidFill>
                    <a:srgbClr val="000000"/>
                  </a:solidFill>
                  <a:latin typeface="Bicubik"/>
                  <a:ea typeface="Bicubik"/>
                  <a:cs typeface="Bicubik"/>
                  <a:sym typeface="Bicubik"/>
                </a:rPr>
                <a:t>X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98827" y="241157"/>
              <a:ext cx="361740" cy="322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59"/>
                </a:lnSpc>
                <a:spcBef>
                  <a:spcPct val="0"/>
                </a:spcBef>
              </a:pPr>
              <a:r>
                <a:rPr lang="en-US" sz="1471">
                  <a:solidFill>
                    <a:srgbClr val="000000"/>
                  </a:solidFill>
                  <a:latin typeface="Bicubik"/>
                  <a:ea typeface="Bicubik"/>
                  <a:cs typeface="Bicubik"/>
                  <a:sym typeface="Bicubik"/>
                </a:rPr>
                <a:t>X</a:t>
              </a:r>
            </a:p>
          </p:txBody>
        </p:sp>
      </p:grp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4162348"/>
              </p:ext>
            </p:extLst>
          </p:nvPr>
        </p:nvGraphicFramePr>
        <p:xfrm>
          <a:off x="1827303" y="4550000"/>
          <a:ext cx="14619646" cy="48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196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70000">
                <a:tc>
                  <a:txBody>
                    <a:bodyPr/>
                    <a:lstStyle/>
                    <a:p>
                      <a:pPr algn="ctr">
                        <a:defRPr sz="1450" b="1">
                          <a:solidFill>
                            <a:srgbClr val="FFFFFF"/>
                          </a:solidFill>
                          <a:latin typeface="Montserrat Bold"/>
                        </a:defRPr>
                      </a:pPr>
                      <a:r>
                        <a:t>Team Member &amp; Role</a:t>
                      </a:r>
                    </a:p>
                  </a:txBody>
                  <a:tcPr anchor="ctr">
                    <a:solidFill>
                      <a:srgbClr val="C8A7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50" b="1">
                          <a:solidFill>
                            <a:srgbClr val="FFFFFF"/>
                          </a:solidFill>
                          <a:latin typeface="Montserrat Bold"/>
                        </a:defRPr>
                      </a:pPr>
                      <a:r>
                        <a:t>Registration / USN</a:t>
                      </a:r>
                    </a:p>
                  </a:txBody>
                  <a:tcPr anchor="ctr">
                    <a:solidFill>
                      <a:srgbClr val="C8A7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50" b="1">
                          <a:solidFill>
                            <a:srgbClr val="FFFFFF"/>
                          </a:solidFill>
                          <a:latin typeface="Montserrat Bold"/>
                        </a:defRPr>
                      </a:pPr>
                      <a:r>
                        <a:t>Email Address</a:t>
                      </a:r>
                    </a:p>
                  </a:txBody>
                  <a:tcPr anchor="ctr">
                    <a:solidFill>
                      <a:srgbClr val="C8A7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50" b="1">
                          <a:solidFill>
                            <a:srgbClr val="FFFFFF"/>
                          </a:solidFill>
                          <a:latin typeface="Montserrat Bold"/>
                        </a:defRPr>
                      </a:pPr>
                      <a:r>
                        <a:t>Contact Number</a:t>
                      </a:r>
                    </a:p>
                  </a:txBody>
                  <a:tcPr anchor="ctr">
                    <a:solidFill>
                      <a:srgbClr val="C8A7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0000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1E1E1E"/>
                          </a:solidFill>
                          <a:latin typeface="Montserrat"/>
                        </a:defRPr>
                      </a:pPr>
                      <a:r>
                        <a:t>Prakruthi BR</a:t>
                      </a:r>
                      <a:br/>
                      <a:r>
                        <a:t>(Team Lead &amp; Frontend Architect)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E1E1E"/>
                          </a:solidFill>
                          <a:latin typeface="Montserrat"/>
                        </a:defRPr>
                      </a:pPr>
                      <a:r>
                        <a:rPr dirty="0"/>
                        <a:t>2411021240038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E1E1E"/>
                          </a:solidFill>
                          <a:latin typeface="Montserrat"/>
                        </a:defRPr>
                      </a:pPr>
                      <a:r>
                        <a:rPr lang="en-US" dirty="0"/>
                        <a:t>prakruthibr2006@gmail.com</a:t>
                      </a:r>
                      <a:endParaRPr dirty="0"/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E1E1E"/>
                          </a:solidFill>
                          <a:latin typeface="Montserrat"/>
                        </a:defRPr>
                      </a:pPr>
                      <a:r>
                        <a:rPr dirty="0"/>
                        <a:t>+91 </a:t>
                      </a:r>
                      <a:r>
                        <a:rPr lang="en-US" dirty="0"/>
                        <a:t>8431624705</a:t>
                      </a:r>
                      <a:endParaRPr dirty="0"/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0000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1E1E1E"/>
                          </a:solidFill>
                          <a:latin typeface="Montserrat"/>
                        </a:defRPr>
                      </a:pPr>
                      <a:r>
                        <a:t>Keerthi N</a:t>
                      </a:r>
                      <a:br/>
                      <a:r>
                        <a:t>(AI/ML &amp; Core Logic Lead)</a:t>
                      </a:r>
                    </a:p>
                  </a:txBody>
                  <a:tcPr anchor="ctr">
                    <a:solidFill>
                      <a:srgbClr val="F3ED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E1E1E"/>
                          </a:solidFill>
                          <a:latin typeface="Montserrat"/>
                        </a:defRPr>
                      </a:pPr>
                      <a:r>
                        <a:t>2411021240024</a:t>
                      </a:r>
                    </a:p>
                  </a:txBody>
                  <a:tcPr anchor="ctr">
                    <a:solidFill>
                      <a:srgbClr val="F3ED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E1E1E"/>
                          </a:solidFill>
                          <a:latin typeface="Montserrat"/>
                        </a:defRPr>
                      </a:pPr>
                      <a:r>
                        <a:rPr lang="en-US" dirty="0"/>
                        <a:t>nkeerthireddy19@gmail.com</a:t>
                      </a:r>
                      <a:endParaRPr dirty="0"/>
                    </a:p>
                  </a:txBody>
                  <a:tcPr anchor="ctr">
                    <a:solidFill>
                      <a:srgbClr val="F3ED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E1E1E"/>
                          </a:solidFill>
                          <a:latin typeface="Montserrat"/>
                        </a:defRPr>
                      </a:pPr>
                      <a:r>
                        <a:rPr dirty="0"/>
                        <a:t>+91 </a:t>
                      </a:r>
                      <a:r>
                        <a:rPr lang="en-US" dirty="0"/>
                        <a:t>8951471903</a:t>
                      </a:r>
                      <a:endParaRPr dirty="0"/>
                    </a:p>
                  </a:txBody>
                  <a:tcPr anchor="ctr">
                    <a:solidFill>
                      <a:srgbClr val="F3ED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0000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1E1E1E"/>
                          </a:solidFill>
                          <a:latin typeface="Montserrat"/>
                        </a:defRPr>
                      </a:pPr>
                      <a:r>
                        <a:t>Bhumika R</a:t>
                      </a:r>
                      <a:br/>
                      <a:r>
                        <a:t>(Full Stack &amp; Glassmorphism UI)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E1E1E"/>
                          </a:solidFill>
                          <a:latin typeface="Montserrat"/>
                        </a:defRPr>
                      </a:pPr>
                      <a:r>
                        <a:t>2411021240026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E1E1E"/>
                          </a:solidFill>
                          <a:latin typeface="Montserrat"/>
                        </a:defRPr>
                      </a:pPr>
                      <a:r>
                        <a:rPr dirty="0"/>
                        <a:t>bhumikaravi2006@gmail.com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E1E1E"/>
                          </a:solidFill>
                          <a:latin typeface="Montserrat"/>
                        </a:defRPr>
                      </a:pPr>
                      <a:r>
                        <a:rPr dirty="0"/>
                        <a:t>+91 </a:t>
                      </a:r>
                      <a:r>
                        <a:rPr lang="en-US" dirty="0"/>
                        <a:t>9980850740</a:t>
                      </a:r>
                      <a:endParaRPr dirty="0"/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0000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1E1E1E"/>
                          </a:solidFill>
                          <a:latin typeface="Montserrat"/>
                        </a:defRPr>
                      </a:pPr>
                      <a:r>
                        <a:t>Pragathi BR</a:t>
                      </a:r>
                      <a:br/>
                      <a:r>
                        <a:t>(Carbon Accounting &amp; Data Systems)</a:t>
                      </a:r>
                    </a:p>
                  </a:txBody>
                  <a:tcPr anchor="ctr">
                    <a:solidFill>
                      <a:srgbClr val="F3ED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E1E1E"/>
                          </a:solidFill>
                          <a:latin typeface="Montserrat"/>
                        </a:defRPr>
                      </a:pPr>
                      <a:r>
                        <a:rPr dirty="0"/>
                        <a:t>2411021240037</a:t>
                      </a:r>
                    </a:p>
                  </a:txBody>
                  <a:tcPr anchor="ctr">
                    <a:solidFill>
                      <a:srgbClr val="F3ED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E1E1E"/>
                          </a:solidFill>
                          <a:latin typeface="Montserrat"/>
                        </a:defRPr>
                      </a:pPr>
                      <a:r>
                        <a:rPr dirty="0"/>
                        <a:t>pragath</a:t>
                      </a:r>
                      <a:r>
                        <a:rPr lang="en-US" dirty="0"/>
                        <a:t>idevanga11@gmail.com</a:t>
                      </a:r>
                      <a:endParaRPr dirty="0"/>
                    </a:p>
                  </a:txBody>
                  <a:tcPr anchor="ctr">
                    <a:solidFill>
                      <a:srgbClr val="F3ED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1E1E1E"/>
                          </a:solidFill>
                          <a:latin typeface="Montserrat"/>
                        </a:defRPr>
                      </a:pPr>
                      <a:r>
                        <a:rPr dirty="0"/>
                        <a:t>+91 </a:t>
                      </a:r>
                      <a:r>
                        <a:rPr lang="en-US" dirty="0"/>
                        <a:t>8431897695</a:t>
                      </a:r>
                      <a:endParaRPr dirty="0"/>
                    </a:p>
                  </a:txBody>
                  <a:tcPr anchor="ctr">
                    <a:solidFill>
                      <a:srgbClr val="F3ED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89422"/>
            <a:ext cx="18274252" cy="10279267"/>
          </a:xfrm>
          <a:custGeom>
            <a:avLst/>
            <a:gdLst/>
            <a:ahLst/>
            <a:cxnLst/>
            <a:rect l="l" t="t" r="r" b="b"/>
            <a:pathLst>
              <a:path w="18274252" h="10279267">
                <a:moveTo>
                  <a:pt x="0" y="0"/>
                </a:moveTo>
                <a:lnTo>
                  <a:pt x="18274252" y="0"/>
                </a:lnTo>
                <a:lnTo>
                  <a:pt x="18274252" y="10279267"/>
                </a:lnTo>
                <a:lnTo>
                  <a:pt x="0" y="102792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algn="just"/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1465128" y="3635783"/>
            <a:ext cx="15593317" cy="5144901"/>
            <a:chOff x="0" y="0"/>
            <a:chExt cx="4106882" cy="135503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106882" cy="1355036"/>
            </a:xfrm>
            <a:custGeom>
              <a:avLst/>
              <a:gdLst/>
              <a:ahLst/>
              <a:cxnLst/>
              <a:rect l="l" t="t" r="r" b="b"/>
              <a:pathLst>
                <a:path w="4106882" h="1355036">
                  <a:moveTo>
                    <a:pt x="25321" y="0"/>
                  </a:moveTo>
                  <a:lnTo>
                    <a:pt x="4081561" y="0"/>
                  </a:lnTo>
                  <a:cubicBezTo>
                    <a:pt x="4088276" y="0"/>
                    <a:pt x="4094717" y="2668"/>
                    <a:pt x="4099466" y="7416"/>
                  </a:cubicBezTo>
                  <a:cubicBezTo>
                    <a:pt x="4104214" y="12165"/>
                    <a:pt x="4106882" y="18605"/>
                    <a:pt x="4106882" y="25321"/>
                  </a:cubicBezTo>
                  <a:lnTo>
                    <a:pt x="4106882" y="1329715"/>
                  </a:lnTo>
                  <a:cubicBezTo>
                    <a:pt x="4106882" y="1336430"/>
                    <a:pt x="4104214" y="1342871"/>
                    <a:pt x="4099466" y="1347619"/>
                  </a:cubicBezTo>
                  <a:cubicBezTo>
                    <a:pt x="4094717" y="1352368"/>
                    <a:pt x="4088276" y="1355036"/>
                    <a:pt x="4081561" y="1355036"/>
                  </a:cubicBezTo>
                  <a:lnTo>
                    <a:pt x="25321" y="1355036"/>
                  </a:lnTo>
                  <a:cubicBezTo>
                    <a:pt x="11337" y="1355036"/>
                    <a:pt x="0" y="1343699"/>
                    <a:pt x="0" y="1329715"/>
                  </a:cubicBezTo>
                  <a:lnTo>
                    <a:pt x="0" y="25321"/>
                  </a:lnTo>
                  <a:cubicBezTo>
                    <a:pt x="0" y="18605"/>
                    <a:pt x="2668" y="12165"/>
                    <a:pt x="7416" y="7416"/>
                  </a:cubicBezTo>
                  <a:cubicBezTo>
                    <a:pt x="12165" y="2668"/>
                    <a:pt x="18605" y="0"/>
                    <a:pt x="25321" y="0"/>
                  </a:cubicBezTo>
                  <a:close/>
                </a:path>
              </a:pathLst>
            </a:custGeom>
            <a:solidFill>
              <a:srgbClr val="D1A85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106882" cy="13931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349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554702" y="4027915"/>
            <a:ext cx="13164849" cy="322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48"/>
              </a:lnSpc>
              <a:spcBef>
                <a:spcPct val="0"/>
              </a:spcBef>
              <a:spcAft>
                <a:spcPts val="800"/>
              </a:spcAft>
              <a:defRPr sz="1400" b="1">
                <a:solidFill>
                  <a:srgbClr val="182D36"/>
                </a:solidFill>
                <a:latin typeface="Montserrat Bold"/>
              </a:defRPr>
            </a:pPr>
            <a:r>
              <a:rPr dirty="0"/>
              <a:t>PROJECT ABSTRACT (STRICT SINGLE-PARAGRAPH FORMAT):</a:t>
            </a:r>
          </a:p>
          <a:p>
            <a:pPr algn="just">
              <a:lnSpc>
                <a:spcPct val="120000"/>
              </a:lnSpc>
              <a:defRPr sz="1300">
                <a:solidFill>
                  <a:srgbClr val="141414"/>
                </a:solidFill>
                <a:latin typeface="Montserrat"/>
              </a:defRPr>
            </a:pPr>
            <a:r>
              <a:rPr sz="1600" dirty="0">
                <a:latin typeface="+mj-lt"/>
              </a:rPr>
              <a:t>Across rural India</a:t>
            </a:r>
            <a:r>
              <a:rPr sz="1600" b="1" dirty="0">
                <a:latin typeface="+mj-lt"/>
              </a:rPr>
              <a:t>, smallholder farmers face severe economic distress from opaque mandi middlemen and crop diseases</a:t>
            </a:r>
            <a:r>
              <a:rPr sz="1600" dirty="0">
                <a:latin typeface="+mj-lt"/>
              </a:rPr>
              <a:t>, </a:t>
            </a:r>
            <a:r>
              <a:rPr sz="1600" b="1" dirty="0">
                <a:latin typeface="+mj-lt"/>
              </a:rPr>
              <a:t>while lacking direct channels to monetize crop residues—leaving open-field stubble burning as their only viable option</a:t>
            </a:r>
            <a:r>
              <a:rPr sz="1600" dirty="0">
                <a:latin typeface="+mj-lt"/>
              </a:rPr>
              <a:t>, an environmental crisis discharging over 149 million </a:t>
            </a:r>
            <a:r>
              <a:rPr sz="1600" dirty="0" err="1">
                <a:latin typeface="+mj-lt"/>
              </a:rPr>
              <a:t>tonnes</a:t>
            </a:r>
            <a:r>
              <a:rPr sz="1600" dirty="0">
                <a:latin typeface="+mj-lt"/>
              </a:rPr>
              <a:t> of CO₂ and hazardous particulate smog annually. </a:t>
            </a:r>
            <a:r>
              <a:rPr sz="1600" b="1" dirty="0">
                <a:latin typeface="+mj-lt"/>
              </a:rPr>
              <a:t>Agri-Bridge addresses this dual socio-economic and ecological dilemma by establishing an AI-enabled, mobile-first circular bio-economy marketplace that directly connects small-scale farmers with industrial bioenergy, packaging, and composting buyers. </a:t>
            </a:r>
            <a:r>
              <a:rPr sz="1600" dirty="0">
                <a:latin typeface="+mj-lt"/>
              </a:rPr>
              <a:t>Our automated carbon accounting engine immediately calculates fair-market farmer payouts and net CO₂ emissions abated per residue listing. To dismantle technical and literacy barriers, Agri-Bridge provides hands-free floating voice navigation via the </a:t>
            </a:r>
            <a:r>
              <a:rPr sz="1600" b="1" dirty="0">
                <a:latin typeface="+mj-lt"/>
              </a:rPr>
              <a:t>Web Speech API across six regional languages </a:t>
            </a:r>
            <a:r>
              <a:rPr sz="1600" dirty="0">
                <a:latin typeface="+mj-lt"/>
              </a:rPr>
              <a:t>(Hindi, Kannada, Tamil, Telugu, Malayalam, English), alongside an interactive </a:t>
            </a:r>
            <a:r>
              <a:rPr sz="1600" b="1" dirty="0">
                <a:latin typeface="+mj-lt"/>
              </a:rPr>
              <a:t>computer vision AI Plant Doctor for instant disease diagnosis</a:t>
            </a:r>
            <a:r>
              <a:rPr sz="1600" dirty="0">
                <a:latin typeface="+mj-lt"/>
              </a:rPr>
              <a:t>, real-time APMC Mandi market tickers, and gamified carbon credit leaderboards. During the 15-hour hackathon, our team delivers a production-ready, fully demonstrable MVP that validates seamless vernacular trade, automated carbon calculations, and voice-guided farmer interaction, creating tangible rural wealth while driving regional decarbonization.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887959" y="1763425"/>
            <a:ext cx="6498335" cy="1130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  <a:spcBef>
                <a:spcPct val="0"/>
              </a:spcBef>
            </a:pPr>
            <a:r>
              <a:rPr lang="en-US" sz="6500">
                <a:solidFill>
                  <a:srgbClr val="182D36"/>
                </a:solidFill>
                <a:latin typeface="Mokoto"/>
                <a:ea typeface="Mokoto"/>
                <a:cs typeface="Mokoto"/>
                <a:sym typeface="Mokoto"/>
              </a:rPr>
              <a:t>Abstract</a:t>
            </a:r>
          </a:p>
        </p:txBody>
      </p:sp>
      <p:sp>
        <p:nvSpPr>
          <p:cNvPr id="8" name="Freeform 8"/>
          <p:cNvSpPr/>
          <p:nvPr/>
        </p:nvSpPr>
        <p:spPr>
          <a:xfrm>
            <a:off x="0" y="10092690"/>
            <a:ext cx="18288000" cy="194310"/>
          </a:xfrm>
          <a:custGeom>
            <a:avLst/>
            <a:gdLst/>
            <a:ahLst/>
            <a:cxnLst/>
            <a:rect l="l" t="t" r="r" b="b"/>
            <a:pathLst>
              <a:path w="18288000" h="194310">
                <a:moveTo>
                  <a:pt x="0" y="0"/>
                </a:moveTo>
                <a:lnTo>
                  <a:pt x="18288000" y="0"/>
                </a:lnTo>
                <a:lnTo>
                  <a:pt x="18288000" y="194310"/>
                </a:lnTo>
                <a:lnTo>
                  <a:pt x="0" y="1943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12685895" y="373031"/>
            <a:ext cx="5341043" cy="625068"/>
            <a:chOff x="0" y="0"/>
            <a:chExt cx="7121391" cy="833423"/>
          </a:xfrm>
        </p:grpSpPr>
        <p:sp>
          <p:nvSpPr>
            <p:cNvPr id="10" name="Freeform 10"/>
            <p:cNvSpPr/>
            <p:nvPr/>
          </p:nvSpPr>
          <p:spPr>
            <a:xfrm>
              <a:off x="4980572" y="0"/>
              <a:ext cx="2140819" cy="833423"/>
            </a:xfrm>
            <a:custGeom>
              <a:avLst/>
              <a:gdLst/>
              <a:ahLst/>
              <a:cxnLst/>
              <a:rect l="l" t="t" r="r" b="b"/>
              <a:pathLst>
                <a:path w="2140819" h="833423">
                  <a:moveTo>
                    <a:pt x="0" y="0"/>
                  </a:moveTo>
                  <a:lnTo>
                    <a:pt x="2140819" y="0"/>
                  </a:lnTo>
                  <a:lnTo>
                    <a:pt x="2140819" y="833423"/>
                  </a:lnTo>
                  <a:lnTo>
                    <a:pt x="0" y="833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49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0"/>
              <a:ext cx="1419945" cy="833423"/>
            </a:xfrm>
            <a:custGeom>
              <a:avLst/>
              <a:gdLst/>
              <a:ahLst/>
              <a:cxnLst/>
              <a:rect l="l" t="t" r="r" b="b"/>
              <a:pathLst>
                <a:path w="1419945" h="833423">
                  <a:moveTo>
                    <a:pt x="0" y="0"/>
                  </a:moveTo>
                  <a:lnTo>
                    <a:pt x="1419945" y="0"/>
                  </a:lnTo>
                  <a:lnTo>
                    <a:pt x="1419945" y="833423"/>
                  </a:lnTo>
                  <a:lnTo>
                    <a:pt x="0" y="833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7178" t="-112928" r="-13043" b="-10092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2007209" y="0"/>
              <a:ext cx="2391618" cy="833423"/>
            </a:xfrm>
            <a:custGeom>
              <a:avLst/>
              <a:gdLst/>
              <a:ahLst/>
              <a:cxnLst/>
              <a:rect l="l" t="t" r="r" b="b"/>
              <a:pathLst>
                <a:path w="2391618" h="833423">
                  <a:moveTo>
                    <a:pt x="0" y="0"/>
                  </a:moveTo>
                  <a:lnTo>
                    <a:pt x="2391618" y="0"/>
                  </a:lnTo>
                  <a:lnTo>
                    <a:pt x="2391618" y="833423"/>
                  </a:lnTo>
                  <a:lnTo>
                    <a:pt x="0" y="833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1901" t="-120981" r="-6347" b="-11834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43820" y="241157"/>
              <a:ext cx="361740" cy="322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59"/>
                </a:lnSpc>
                <a:spcBef>
                  <a:spcPct val="0"/>
                </a:spcBef>
              </a:pPr>
              <a:r>
                <a:rPr lang="en-US" sz="1471">
                  <a:solidFill>
                    <a:srgbClr val="000000"/>
                  </a:solidFill>
                  <a:latin typeface="Bicubik"/>
                  <a:ea typeface="Bicubik"/>
                  <a:cs typeface="Bicubik"/>
                  <a:sym typeface="Bicubik"/>
                </a:rPr>
                <a:t>X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98827" y="241157"/>
              <a:ext cx="361740" cy="322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59"/>
                </a:lnSpc>
                <a:spcBef>
                  <a:spcPct val="0"/>
                </a:spcBef>
              </a:pPr>
              <a:r>
                <a:rPr lang="en-US" sz="1471">
                  <a:solidFill>
                    <a:srgbClr val="000000"/>
                  </a:solidFill>
                  <a:latin typeface="Bicubik"/>
                  <a:ea typeface="Bicubik"/>
                  <a:cs typeface="Bicubik"/>
                  <a:sym typeface="Bicubik"/>
                </a:rPr>
                <a:t>X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168180" y="232318"/>
            <a:ext cx="2648848" cy="1379161"/>
          </a:xfrm>
          <a:custGeom>
            <a:avLst/>
            <a:gdLst/>
            <a:ahLst/>
            <a:cxnLst/>
            <a:rect l="l" t="t" r="r" b="b"/>
            <a:pathLst>
              <a:path w="2648848" h="1379161">
                <a:moveTo>
                  <a:pt x="0" y="0"/>
                </a:moveTo>
                <a:lnTo>
                  <a:pt x="2648848" y="0"/>
                </a:lnTo>
                <a:lnTo>
                  <a:pt x="2648848" y="1379162"/>
                </a:lnTo>
                <a:lnTo>
                  <a:pt x="0" y="13791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9355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2000000" y="2900000"/>
            <a:ext cx="14288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8934A"/>
                </a:solidFill>
                <a:latin typeface="Montserrat Bold"/>
              </a:defRPr>
            </a:pPr>
            <a:r>
              <a:t>Executive Summary &amp; Problem-Solution Fit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00000" y="7450000"/>
            <a:ext cx="3450000" cy="950000"/>
          </a:xfrm>
          <a:prstGeom prst="roundRect">
            <a:avLst/>
          </a:prstGeom>
          <a:solidFill>
            <a:srgbClr val="FCFAF6"/>
          </a:solidFill>
          <a:ln w="19050">
            <a:solidFill>
              <a:srgbClr val="B89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B8934A"/>
                </a:solidFill>
                <a:latin typeface="Montserrat Bold"/>
              </a:defRPr>
            </a:pPr>
            <a:r>
              <a:rPr sz="1600" dirty="0"/>
              <a:t>149M+ </a:t>
            </a:r>
            <a:r>
              <a:rPr sz="1600" dirty="0" err="1"/>
              <a:t>Tonnes</a:t>
            </a:r>
            <a:endParaRPr sz="1600" dirty="0"/>
          </a:p>
          <a:p>
            <a:pPr algn="ctr">
              <a:defRPr sz="950" b="1">
                <a:solidFill>
                  <a:srgbClr val="323232"/>
                </a:solidFill>
                <a:latin typeface="Montserrat"/>
              </a:defRPr>
            </a:pPr>
            <a:r>
              <a:rPr sz="1200" dirty="0"/>
              <a:t>Stubble &amp; Smog Addressed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0000" y="7450000"/>
            <a:ext cx="3450000" cy="950000"/>
          </a:xfrm>
          <a:prstGeom prst="roundRect">
            <a:avLst/>
          </a:prstGeom>
          <a:solidFill>
            <a:srgbClr val="FCFAF6"/>
          </a:solidFill>
          <a:ln w="19050">
            <a:solidFill>
              <a:srgbClr val="B89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B8934A"/>
                </a:solidFill>
                <a:latin typeface="Montserrat Bold"/>
              </a:defRPr>
            </a:pPr>
            <a:r>
              <a:rPr sz="1600" dirty="0"/>
              <a:t>6 Ind</a:t>
            </a:r>
            <a:r>
              <a:rPr lang="en-US" sz="1600" dirty="0"/>
              <a:t>ian</a:t>
            </a:r>
            <a:r>
              <a:rPr sz="1600" dirty="0"/>
              <a:t> Language</a:t>
            </a:r>
            <a:r>
              <a:rPr dirty="0"/>
              <a:t>s</a:t>
            </a:r>
          </a:p>
          <a:p>
            <a:pPr algn="ctr">
              <a:defRPr sz="950" b="1">
                <a:solidFill>
                  <a:srgbClr val="323232"/>
                </a:solidFill>
                <a:latin typeface="Montserrat"/>
              </a:defRPr>
            </a:pPr>
            <a:r>
              <a:rPr sz="1200" dirty="0"/>
              <a:t>Hands-Free Voice 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0000" y="7450000"/>
            <a:ext cx="3450000" cy="950000"/>
          </a:xfrm>
          <a:prstGeom prst="roundRect">
            <a:avLst/>
          </a:prstGeom>
          <a:solidFill>
            <a:srgbClr val="FCFAF6"/>
          </a:solidFill>
          <a:ln w="19050">
            <a:solidFill>
              <a:srgbClr val="B89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B8934A"/>
                </a:solidFill>
                <a:latin typeface="Montserrat Bold"/>
              </a:defRPr>
            </a:pPr>
            <a:r>
              <a:rPr sz="1600" dirty="0"/>
              <a:t>Direct B2B Market</a:t>
            </a:r>
          </a:p>
          <a:p>
            <a:pPr algn="ctr">
              <a:defRPr sz="950" b="1">
                <a:solidFill>
                  <a:srgbClr val="323232"/>
                </a:solidFill>
                <a:latin typeface="Montserrat"/>
              </a:defRPr>
            </a:pPr>
            <a:r>
              <a:rPr sz="1200" dirty="0"/>
              <a:t>Zero Middleman Leakage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00000" y="7450000"/>
            <a:ext cx="3450000" cy="950000"/>
          </a:xfrm>
          <a:prstGeom prst="roundRect">
            <a:avLst/>
          </a:prstGeom>
          <a:solidFill>
            <a:srgbClr val="FCFAF6"/>
          </a:solidFill>
          <a:ln w="19050">
            <a:solidFill>
              <a:srgbClr val="B89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B8934A"/>
                </a:solidFill>
                <a:latin typeface="Montserrat Bold"/>
              </a:defRPr>
            </a:pPr>
            <a:r>
              <a:rPr sz="1600" dirty="0"/>
              <a:t>15-Hour MVP</a:t>
            </a:r>
          </a:p>
          <a:p>
            <a:pPr algn="ctr">
              <a:defRPr sz="950" b="1">
                <a:solidFill>
                  <a:srgbClr val="323232"/>
                </a:solidFill>
                <a:latin typeface="Montserrat"/>
              </a:defRPr>
            </a:pPr>
            <a:r>
              <a:rPr sz="1200" dirty="0"/>
              <a:t>Fully Functional Prototype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748" y="-89422"/>
            <a:ext cx="18274252" cy="10279267"/>
          </a:xfrm>
          <a:custGeom>
            <a:avLst/>
            <a:gdLst/>
            <a:ahLst/>
            <a:cxnLst/>
            <a:rect l="l" t="t" r="r" b="b"/>
            <a:pathLst>
              <a:path w="18274252" h="10279267">
                <a:moveTo>
                  <a:pt x="0" y="0"/>
                </a:moveTo>
                <a:lnTo>
                  <a:pt x="18274252" y="0"/>
                </a:lnTo>
                <a:lnTo>
                  <a:pt x="18274252" y="10279267"/>
                </a:lnTo>
                <a:lnTo>
                  <a:pt x="0" y="102792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3263943" y="7518368"/>
            <a:ext cx="6498335" cy="1153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79"/>
              </a:lnSpc>
              <a:spcBef>
                <a:spcPct val="0"/>
              </a:spcBef>
            </a:pPr>
            <a:r>
              <a:rPr lang="en-US" sz="6699">
                <a:solidFill>
                  <a:srgbClr val="000000"/>
                </a:solidFill>
                <a:latin typeface="Bicubik"/>
                <a:ea typeface="Bicubik"/>
                <a:cs typeface="Bicubik"/>
                <a:sym typeface="Bicubik"/>
              </a:rPr>
              <a:t>Argonyx'26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354215" y="3466235"/>
            <a:ext cx="15593317" cy="5144901"/>
            <a:chOff x="0" y="0"/>
            <a:chExt cx="4106882" cy="135503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106882" cy="1355036"/>
            </a:xfrm>
            <a:custGeom>
              <a:avLst/>
              <a:gdLst/>
              <a:ahLst/>
              <a:cxnLst/>
              <a:rect l="l" t="t" r="r" b="b"/>
              <a:pathLst>
                <a:path w="4106882" h="1355036">
                  <a:moveTo>
                    <a:pt x="25321" y="0"/>
                  </a:moveTo>
                  <a:lnTo>
                    <a:pt x="4081561" y="0"/>
                  </a:lnTo>
                  <a:cubicBezTo>
                    <a:pt x="4088276" y="0"/>
                    <a:pt x="4094717" y="2668"/>
                    <a:pt x="4099466" y="7416"/>
                  </a:cubicBezTo>
                  <a:cubicBezTo>
                    <a:pt x="4104214" y="12165"/>
                    <a:pt x="4106882" y="18605"/>
                    <a:pt x="4106882" y="25321"/>
                  </a:cubicBezTo>
                  <a:lnTo>
                    <a:pt x="4106882" y="1329715"/>
                  </a:lnTo>
                  <a:cubicBezTo>
                    <a:pt x="4106882" y="1336430"/>
                    <a:pt x="4104214" y="1342871"/>
                    <a:pt x="4099466" y="1347619"/>
                  </a:cubicBezTo>
                  <a:cubicBezTo>
                    <a:pt x="4094717" y="1352368"/>
                    <a:pt x="4088276" y="1355036"/>
                    <a:pt x="4081561" y="1355036"/>
                  </a:cubicBezTo>
                  <a:lnTo>
                    <a:pt x="25321" y="1355036"/>
                  </a:lnTo>
                  <a:cubicBezTo>
                    <a:pt x="11337" y="1355036"/>
                    <a:pt x="0" y="1343699"/>
                    <a:pt x="0" y="1329715"/>
                  </a:cubicBezTo>
                  <a:lnTo>
                    <a:pt x="0" y="25321"/>
                  </a:lnTo>
                  <a:cubicBezTo>
                    <a:pt x="0" y="18605"/>
                    <a:pt x="2668" y="12165"/>
                    <a:pt x="7416" y="7416"/>
                  </a:cubicBezTo>
                  <a:cubicBezTo>
                    <a:pt x="12165" y="2668"/>
                    <a:pt x="18605" y="0"/>
                    <a:pt x="25321" y="0"/>
                  </a:cubicBezTo>
                  <a:close/>
                </a:path>
              </a:pathLst>
            </a:custGeom>
            <a:solidFill>
              <a:srgbClr val="D1A85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106882" cy="13931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349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126707" y="4388935"/>
            <a:ext cx="13543793" cy="3004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29207" lvl="1" indent="-464603" algn="l">
              <a:lnSpc>
                <a:spcPts val="8134"/>
              </a:lnSpc>
              <a:buFont typeface="Arial"/>
              <a:buChar char="•"/>
            </a:pPr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0" y="10092690"/>
            <a:ext cx="18288000" cy="194310"/>
          </a:xfrm>
          <a:custGeom>
            <a:avLst/>
            <a:gdLst/>
            <a:ahLst/>
            <a:cxnLst/>
            <a:rect l="l" t="t" r="r" b="b"/>
            <a:pathLst>
              <a:path w="18288000" h="194310">
                <a:moveTo>
                  <a:pt x="0" y="0"/>
                </a:moveTo>
                <a:lnTo>
                  <a:pt x="18288000" y="0"/>
                </a:lnTo>
                <a:lnTo>
                  <a:pt x="18288000" y="194310"/>
                </a:lnTo>
                <a:lnTo>
                  <a:pt x="0" y="1943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5047493" y="1964460"/>
            <a:ext cx="8206762" cy="111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99"/>
              </a:lnSpc>
              <a:spcBef>
                <a:spcPct val="0"/>
              </a:spcBef>
            </a:pPr>
            <a:r>
              <a:rPr lang="en-US" sz="6499">
                <a:solidFill>
                  <a:srgbClr val="000000"/>
                </a:solidFill>
                <a:latin typeface="Mokoto"/>
                <a:ea typeface="Mokoto"/>
                <a:cs typeface="Mokoto"/>
                <a:sym typeface="Mokoto"/>
              </a:rPr>
              <a:t>The Solution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2685895" y="373031"/>
            <a:ext cx="5341043" cy="625068"/>
            <a:chOff x="0" y="0"/>
            <a:chExt cx="7121391" cy="833423"/>
          </a:xfrm>
        </p:grpSpPr>
        <p:sp>
          <p:nvSpPr>
            <p:cNvPr id="11" name="Freeform 11"/>
            <p:cNvSpPr/>
            <p:nvPr/>
          </p:nvSpPr>
          <p:spPr>
            <a:xfrm>
              <a:off x="4980572" y="0"/>
              <a:ext cx="2140819" cy="833423"/>
            </a:xfrm>
            <a:custGeom>
              <a:avLst/>
              <a:gdLst/>
              <a:ahLst/>
              <a:cxnLst/>
              <a:rect l="l" t="t" r="r" b="b"/>
              <a:pathLst>
                <a:path w="2140819" h="833423">
                  <a:moveTo>
                    <a:pt x="0" y="0"/>
                  </a:moveTo>
                  <a:lnTo>
                    <a:pt x="2140819" y="0"/>
                  </a:lnTo>
                  <a:lnTo>
                    <a:pt x="2140819" y="833423"/>
                  </a:lnTo>
                  <a:lnTo>
                    <a:pt x="0" y="833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49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0" y="0"/>
              <a:ext cx="1419945" cy="833423"/>
            </a:xfrm>
            <a:custGeom>
              <a:avLst/>
              <a:gdLst/>
              <a:ahLst/>
              <a:cxnLst/>
              <a:rect l="l" t="t" r="r" b="b"/>
              <a:pathLst>
                <a:path w="1419945" h="833423">
                  <a:moveTo>
                    <a:pt x="0" y="0"/>
                  </a:moveTo>
                  <a:lnTo>
                    <a:pt x="1419945" y="0"/>
                  </a:lnTo>
                  <a:lnTo>
                    <a:pt x="1419945" y="833423"/>
                  </a:lnTo>
                  <a:lnTo>
                    <a:pt x="0" y="833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7178" t="-112928" r="-13043" b="-10092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2007209" y="0"/>
              <a:ext cx="2391618" cy="833423"/>
            </a:xfrm>
            <a:custGeom>
              <a:avLst/>
              <a:gdLst/>
              <a:ahLst/>
              <a:cxnLst/>
              <a:rect l="l" t="t" r="r" b="b"/>
              <a:pathLst>
                <a:path w="2391618" h="833423">
                  <a:moveTo>
                    <a:pt x="0" y="0"/>
                  </a:moveTo>
                  <a:lnTo>
                    <a:pt x="2391618" y="0"/>
                  </a:lnTo>
                  <a:lnTo>
                    <a:pt x="2391618" y="833423"/>
                  </a:lnTo>
                  <a:lnTo>
                    <a:pt x="0" y="833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1901" t="-120981" r="-6347" b="-11834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43820" y="241157"/>
              <a:ext cx="361740" cy="322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59"/>
                </a:lnSpc>
                <a:spcBef>
                  <a:spcPct val="0"/>
                </a:spcBef>
              </a:pPr>
              <a:r>
                <a:rPr lang="en-US" sz="1471">
                  <a:solidFill>
                    <a:srgbClr val="000000"/>
                  </a:solidFill>
                  <a:latin typeface="Bicubik"/>
                  <a:ea typeface="Bicubik"/>
                  <a:cs typeface="Bicubik"/>
                  <a:sym typeface="Bicubik"/>
                </a:rPr>
                <a:t>X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98827" y="241157"/>
              <a:ext cx="361740" cy="322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59"/>
                </a:lnSpc>
                <a:spcBef>
                  <a:spcPct val="0"/>
                </a:spcBef>
              </a:pPr>
              <a:r>
                <a:rPr lang="en-US" sz="1471">
                  <a:solidFill>
                    <a:srgbClr val="000000"/>
                  </a:solidFill>
                  <a:latin typeface="Bicubik"/>
                  <a:ea typeface="Bicubik"/>
                  <a:cs typeface="Bicubik"/>
                  <a:sym typeface="Bicubik"/>
                </a:rPr>
                <a:t>X</a:t>
              </a:r>
            </a:p>
          </p:txBody>
        </p:sp>
      </p:grpSp>
      <p:sp>
        <p:nvSpPr>
          <p:cNvPr id="16" name="Freeform 16"/>
          <p:cNvSpPr/>
          <p:nvPr/>
        </p:nvSpPr>
        <p:spPr>
          <a:xfrm>
            <a:off x="168180" y="232318"/>
            <a:ext cx="2648848" cy="1379161"/>
          </a:xfrm>
          <a:custGeom>
            <a:avLst/>
            <a:gdLst/>
            <a:ahLst/>
            <a:cxnLst/>
            <a:rect l="l" t="t" r="r" b="b"/>
            <a:pathLst>
              <a:path w="2648848" h="1379161">
                <a:moveTo>
                  <a:pt x="0" y="0"/>
                </a:moveTo>
                <a:lnTo>
                  <a:pt x="2648848" y="0"/>
                </a:lnTo>
                <a:lnTo>
                  <a:pt x="2648848" y="1379162"/>
                </a:lnTo>
                <a:lnTo>
                  <a:pt x="0" y="13791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9355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000000" y="2900000"/>
            <a:ext cx="14288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8934A"/>
                </a:solidFill>
                <a:latin typeface="Montserrat Bold"/>
              </a:defRPr>
            </a:pPr>
            <a:r>
              <a:t>Transforming Agricultural Waste into Rural Wealth &amp; Clean Energy via Three Core Pillars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00000" y="3650000"/>
            <a:ext cx="4650000" cy="4600000"/>
          </a:xfrm>
          <a:prstGeom prst="roundRect">
            <a:avLst/>
          </a:prstGeom>
          <a:solidFill>
            <a:srgbClr val="FCFAF6"/>
          </a:solidFill>
          <a:ln w="19050">
            <a:solidFill>
              <a:srgbClr val="B89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0" tIns="180000" rIns="200000" bIns="180000" rtlCol="0" anchor="ctr"/>
          <a:lstStyle/>
          <a:p>
            <a:pPr algn="ctr">
              <a:spcAft>
                <a:spcPts val="200"/>
              </a:spcAft>
              <a:defRPr sz="1300" b="1">
                <a:solidFill>
                  <a:srgbClr val="182D36"/>
                </a:solidFill>
                <a:latin typeface="Montserrat Bold"/>
              </a:defRPr>
            </a:pPr>
            <a:r>
              <a:rPr sz="1200" dirty="0"/>
              <a:t>1. P2P BIOMASS MARKETPLACE</a:t>
            </a:r>
          </a:p>
          <a:p>
            <a:pPr algn="ctr">
              <a:spcAft>
                <a:spcPts val="800"/>
              </a:spcAft>
              <a:defRPr sz="950" b="1">
                <a:solidFill>
                  <a:srgbClr val="B8934A"/>
                </a:solidFill>
                <a:latin typeface="Montserrat Bold"/>
              </a:defRPr>
            </a:pPr>
            <a:r>
              <a:rPr sz="1200" dirty="0"/>
              <a:t>[CIRCULAR BIO-ECONOMY]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00" b="1" dirty="0">
                <a:solidFill>
                  <a:srgbClr val="1E1E1E"/>
                </a:solidFill>
                <a:latin typeface="Montserrat Bold"/>
              </a:rPr>
              <a:t>• Direct B2B Stubble Trade: </a:t>
            </a:r>
            <a:r>
              <a:rPr sz="1200" dirty="0">
                <a:solidFill>
                  <a:srgbClr val="3C3C3C"/>
                </a:solidFill>
                <a:latin typeface="Montserrat"/>
              </a:rPr>
              <a:t>Farmers list surplus crop residue (paddy straw, wheat stubble, bagasse) directly to bioenergy &amp; packaging plants.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00" b="1" dirty="0">
                <a:solidFill>
                  <a:srgbClr val="1E1E1E"/>
                </a:solidFill>
                <a:latin typeface="Montserrat Bold"/>
              </a:rPr>
              <a:t>• Automated Carbon Calculator: </a:t>
            </a:r>
            <a:r>
              <a:rPr sz="1200" dirty="0">
                <a:solidFill>
                  <a:srgbClr val="3C3C3C"/>
                </a:solidFill>
                <a:latin typeface="Montserrat"/>
              </a:rPr>
              <a:t>Proprietary math instantly computes fair farmer earnings and metric </a:t>
            </a:r>
            <a:r>
              <a:rPr sz="1200" dirty="0" err="1">
                <a:solidFill>
                  <a:srgbClr val="3C3C3C"/>
                </a:solidFill>
                <a:latin typeface="Montserrat"/>
              </a:rPr>
              <a:t>tonnes</a:t>
            </a:r>
            <a:r>
              <a:rPr sz="1200" dirty="0">
                <a:solidFill>
                  <a:srgbClr val="3C3C3C"/>
                </a:solidFill>
                <a:latin typeface="Montserrat"/>
              </a:rPr>
              <a:t> of CO₂ emissions prevented from open fire.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00" b="1" dirty="0">
                <a:solidFill>
                  <a:srgbClr val="1E1E1E"/>
                </a:solidFill>
                <a:latin typeface="Montserrat Bold"/>
              </a:rPr>
              <a:t>• Proximity-Based Routing: </a:t>
            </a:r>
            <a:r>
              <a:rPr sz="1200" dirty="0">
                <a:solidFill>
                  <a:srgbClr val="3C3C3C"/>
                </a:solidFill>
                <a:latin typeface="Montserrat"/>
              </a:rPr>
              <a:t>Industrial buyers filter listings by GPS radius to minimize transit freight, optimize logistics, and place instant deal quotes.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0000" y="3650000"/>
            <a:ext cx="4650000" cy="4600000"/>
          </a:xfrm>
          <a:prstGeom prst="roundRect">
            <a:avLst/>
          </a:prstGeom>
          <a:solidFill>
            <a:srgbClr val="FCFAF6"/>
          </a:solidFill>
          <a:ln w="19050">
            <a:solidFill>
              <a:srgbClr val="B89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0" tIns="180000" rIns="200000" bIns="180000" rtlCol="0" anchor="ctr"/>
          <a:lstStyle/>
          <a:p>
            <a:pPr algn="ctr">
              <a:spcAft>
                <a:spcPts val="200"/>
              </a:spcAft>
              <a:defRPr sz="1300" b="1">
                <a:solidFill>
                  <a:srgbClr val="182D36"/>
                </a:solidFill>
                <a:latin typeface="Montserrat Bold"/>
              </a:defRPr>
            </a:pPr>
            <a:r>
              <a:rPr sz="1200" dirty="0"/>
              <a:t>2. VOICE AI &amp; VERNACULAR UX</a:t>
            </a:r>
          </a:p>
          <a:p>
            <a:pPr algn="ctr">
              <a:spcAft>
                <a:spcPts val="800"/>
              </a:spcAft>
              <a:defRPr sz="950" b="1">
                <a:solidFill>
                  <a:srgbClr val="B8934A"/>
                </a:solidFill>
                <a:latin typeface="Montserrat Bold"/>
              </a:defRPr>
            </a:pPr>
            <a:r>
              <a:rPr sz="1200" dirty="0"/>
              <a:t>[ZERO LITERACY BARRIER]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00" b="1" dirty="0">
                <a:solidFill>
                  <a:srgbClr val="1E1E1E"/>
                </a:solidFill>
                <a:latin typeface="Montserrat Bold"/>
              </a:rPr>
              <a:t>• Web Speech API Navigation: </a:t>
            </a:r>
            <a:r>
              <a:rPr sz="1200" dirty="0">
                <a:solidFill>
                  <a:srgbClr val="3C3C3C"/>
                </a:solidFill>
                <a:latin typeface="Montserrat"/>
              </a:rPr>
              <a:t>Floating microphone widget lets farmers navigate the platform verbally using natural spoken mother-tongue commands.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00" b="1" dirty="0">
                <a:solidFill>
                  <a:srgbClr val="1E1E1E"/>
                </a:solidFill>
                <a:latin typeface="Montserrat Bold"/>
              </a:rPr>
              <a:t>• 6 Regional Ind</a:t>
            </a:r>
            <a:r>
              <a:rPr lang="en-US" sz="1200" b="1" dirty="0">
                <a:solidFill>
                  <a:srgbClr val="1E1E1E"/>
                </a:solidFill>
                <a:latin typeface="Montserrat Bold"/>
              </a:rPr>
              <a:t>ian</a:t>
            </a:r>
            <a:r>
              <a:rPr sz="1200" b="1" dirty="0">
                <a:solidFill>
                  <a:srgbClr val="1E1E1E"/>
                </a:solidFill>
                <a:latin typeface="Montserrat Bold"/>
              </a:rPr>
              <a:t> Languages: </a:t>
            </a:r>
            <a:r>
              <a:rPr sz="1200" dirty="0">
                <a:solidFill>
                  <a:srgbClr val="3C3C3C"/>
                </a:solidFill>
                <a:latin typeface="Montserrat"/>
              </a:rPr>
              <a:t>Complete localization and UI toggle in Hindi, Kannada, Tamil, Telugu, Malayalam, and English.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00" b="1" dirty="0">
                <a:solidFill>
                  <a:srgbClr val="1E1E1E"/>
                </a:solidFill>
                <a:latin typeface="Montserrat Bold"/>
              </a:rPr>
              <a:t>• Voice-Assisted AI Chatbot: </a:t>
            </a:r>
            <a:r>
              <a:rPr sz="1200" dirty="0">
                <a:solidFill>
                  <a:srgbClr val="3C3C3C"/>
                </a:solidFill>
                <a:latin typeface="Montserrat"/>
              </a:rPr>
              <a:t>Converts spoken farmer queries into structured answers for crop protection, fertilizer schedules, and state subsidies.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900000" y="3650000"/>
            <a:ext cx="4650000" cy="4600000"/>
          </a:xfrm>
          <a:prstGeom prst="roundRect">
            <a:avLst/>
          </a:prstGeom>
          <a:solidFill>
            <a:srgbClr val="FCFAF6"/>
          </a:solidFill>
          <a:ln w="19050">
            <a:solidFill>
              <a:srgbClr val="B89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0" tIns="180000" rIns="200000" bIns="180000" rtlCol="0" anchor="ctr"/>
          <a:lstStyle/>
          <a:p>
            <a:pPr algn="ctr">
              <a:spcAft>
                <a:spcPts val="200"/>
              </a:spcAft>
              <a:defRPr sz="1300" b="1">
                <a:solidFill>
                  <a:srgbClr val="182D36"/>
                </a:solidFill>
                <a:latin typeface="Montserrat Bold"/>
              </a:defRPr>
            </a:pPr>
            <a:r>
              <a:rPr sz="1200" dirty="0"/>
              <a:t>3. AI PLANT DOCTOR &amp; MANDI</a:t>
            </a:r>
          </a:p>
          <a:p>
            <a:pPr algn="ctr">
              <a:spcAft>
                <a:spcPts val="800"/>
              </a:spcAft>
              <a:defRPr sz="950" b="1">
                <a:solidFill>
                  <a:srgbClr val="B8934A"/>
                </a:solidFill>
                <a:latin typeface="Montserrat Bold"/>
              </a:defRPr>
            </a:pPr>
            <a:r>
              <a:rPr sz="1200" dirty="0"/>
              <a:t>[FARM INTELLIGENCE &amp; ESG]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00" b="1" dirty="0">
                <a:solidFill>
                  <a:srgbClr val="1E1E1E"/>
                </a:solidFill>
                <a:latin typeface="Montserrat Bold"/>
              </a:rPr>
              <a:t>• Computer Vision Diagnostics: </a:t>
            </a:r>
            <a:r>
              <a:rPr sz="1200" dirty="0">
                <a:solidFill>
                  <a:srgbClr val="3C3C3C"/>
                </a:solidFill>
                <a:latin typeface="Montserrat"/>
              </a:rPr>
              <a:t>Farmers snap/upload leaf photos; animated canvas scanner diagnoses diseases and prescribes organic remedies.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00" b="1" dirty="0">
                <a:solidFill>
                  <a:srgbClr val="1E1E1E"/>
                </a:solidFill>
                <a:latin typeface="Montserrat Bold"/>
              </a:rPr>
              <a:t>• Dynamic APMC Mandi Ticker: </a:t>
            </a:r>
            <a:r>
              <a:rPr sz="1200" dirty="0">
                <a:solidFill>
                  <a:srgbClr val="3C3C3C"/>
                </a:solidFill>
                <a:latin typeface="Montserrat"/>
              </a:rPr>
              <a:t>Live crop prices with real-time rise/fall trend indicators to protect farmers against predatory middlemen sales.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00" b="1" dirty="0">
                <a:solidFill>
                  <a:srgbClr val="1E1E1E"/>
                </a:solidFill>
                <a:latin typeface="Montserrat Bold"/>
              </a:rPr>
              <a:t>• Carbon Credit Leaderboard: </a:t>
            </a:r>
            <a:r>
              <a:rPr sz="1200" dirty="0">
                <a:solidFill>
                  <a:srgbClr val="3C3C3C"/>
                </a:solidFill>
                <a:latin typeface="Montserrat"/>
              </a:rPr>
              <a:t>Gamifies stubble-free agriculture, ranking top regional farmers with Eco-Champion badges and green reputation points.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74252" cy="10279267"/>
          </a:xfrm>
          <a:custGeom>
            <a:avLst/>
            <a:gdLst/>
            <a:ahLst/>
            <a:cxnLst/>
            <a:rect l="l" t="t" r="r" b="b"/>
            <a:pathLst>
              <a:path w="18274252" h="10279267">
                <a:moveTo>
                  <a:pt x="0" y="0"/>
                </a:moveTo>
                <a:lnTo>
                  <a:pt x="18274252" y="0"/>
                </a:lnTo>
                <a:lnTo>
                  <a:pt x="18274252" y="10279267"/>
                </a:lnTo>
                <a:lnTo>
                  <a:pt x="0" y="102792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354215" y="3321574"/>
            <a:ext cx="15731705" cy="5972449"/>
            <a:chOff x="0" y="-38100"/>
            <a:chExt cx="4143330" cy="1572991"/>
          </a:xfrm>
        </p:grpSpPr>
        <p:sp>
          <p:nvSpPr>
            <p:cNvPr id="4" name="Freeform 4"/>
            <p:cNvSpPr/>
            <p:nvPr/>
          </p:nvSpPr>
          <p:spPr>
            <a:xfrm>
              <a:off x="36448" y="179855"/>
              <a:ext cx="4106882" cy="1355036"/>
            </a:xfrm>
            <a:custGeom>
              <a:avLst/>
              <a:gdLst/>
              <a:ahLst/>
              <a:cxnLst/>
              <a:rect l="l" t="t" r="r" b="b"/>
              <a:pathLst>
                <a:path w="4106882" h="1355036">
                  <a:moveTo>
                    <a:pt x="25321" y="0"/>
                  </a:moveTo>
                  <a:lnTo>
                    <a:pt x="4081561" y="0"/>
                  </a:lnTo>
                  <a:cubicBezTo>
                    <a:pt x="4088276" y="0"/>
                    <a:pt x="4094717" y="2668"/>
                    <a:pt x="4099466" y="7416"/>
                  </a:cubicBezTo>
                  <a:cubicBezTo>
                    <a:pt x="4104214" y="12165"/>
                    <a:pt x="4106882" y="18605"/>
                    <a:pt x="4106882" y="25321"/>
                  </a:cubicBezTo>
                  <a:lnTo>
                    <a:pt x="4106882" y="1329715"/>
                  </a:lnTo>
                  <a:cubicBezTo>
                    <a:pt x="4106882" y="1336430"/>
                    <a:pt x="4104214" y="1342871"/>
                    <a:pt x="4099466" y="1347619"/>
                  </a:cubicBezTo>
                  <a:cubicBezTo>
                    <a:pt x="4094717" y="1352368"/>
                    <a:pt x="4088276" y="1355036"/>
                    <a:pt x="4081561" y="1355036"/>
                  </a:cubicBezTo>
                  <a:lnTo>
                    <a:pt x="25321" y="1355036"/>
                  </a:lnTo>
                  <a:cubicBezTo>
                    <a:pt x="11337" y="1355036"/>
                    <a:pt x="0" y="1343699"/>
                    <a:pt x="0" y="1329715"/>
                  </a:cubicBezTo>
                  <a:lnTo>
                    <a:pt x="0" y="25321"/>
                  </a:lnTo>
                  <a:cubicBezTo>
                    <a:pt x="0" y="18605"/>
                    <a:pt x="2668" y="12165"/>
                    <a:pt x="7416" y="7416"/>
                  </a:cubicBezTo>
                  <a:cubicBezTo>
                    <a:pt x="12165" y="2668"/>
                    <a:pt x="18605" y="0"/>
                    <a:pt x="25321" y="0"/>
                  </a:cubicBezTo>
                  <a:close/>
                </a:path>
              </a:pathLst>
            </a:custGeom>
            <a:solidFill>
              <a:srgbClr val="D1A85B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106882" cy="13931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349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131324" y="980805"/>
            <a:ext cx="8087050" cy="111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99"/>
              </a:lnSpc>
              <a:spcBef>
                <a:spcPct val="0"/>
              </a:spcBef>
            </a:pPr>
            <a:r>
              <a:rPr lang="en-US" sz="6499" dirty="0">
                <a:solidFill>
                  <a:srgbClr val="000000"/>
                </a:solidFill>
                <a:latin typeface="Mokoto"/>
                <a:ea typeface="Mokoto"/>
                <a:cs typeface="Mokoto"/>
                <a:sym typeface="Mokoto"/>
              </a:rPr>
              <a:t>LEAN CANVAS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26880" y="3644482"/>
            <a:ext cx="15020492" cy="4636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156"/>
              </a:lnSpc>
            </a:pPr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0" y="10092690"/>
            <a:ext cx="18288000" cy="194310"/>
          </a:xfrm>
          <a:custGeom>
            <a:avLst/>
            <a:gdLst/>
            <a:ahLst/>
            <a:cxnLst/>
            <a:rect l="l" t="t" r="r" b="b"/>
            <a:pathLst>
              <a:path w="18288000" h="194310">
                <a:moveTo>
                  <a:pt x="0" y="0"/>
                </a:moveTo>
                <a:lnTo>
                  <a:pt x="18288000" y="0"/>
                </a:lnTo>
                <a:lnTo>
                  <a:pt x="18288000" y="194310"/>
                </a:lnTo>
                <a:lnTo>
                  <a:pt x="0" y="1943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12685895" y="373031"/>
            <a:ext cx="5341043" cy="625068"/>
            <a:chOff x="0" y="0"/>
            <a:chExt cx="7121391" cy="833423"/>
          </a:xfrm>
        </p:grpSpPr>
        <p:sp>
          <p:nvSpPr>
            <p:cNvPr id="10" name="Freeform 10"/>
            <p:cNvSpPr/>
            <p:nvPr/>
          </p:nvSpPr>
          <p:spPr>
            <a:xfrm>
              <a:off x="4980572" y="0"/>
              <a:ext cx="2140819" cy="833423"/>
            </a:xfrm>
            <a:custGeom>
              <a:avLst/>
              <a:gdLst/>
              <a:ahLst/>
              <a:cxnLst/>
              <a:rect l="l" t="t" r="r" b="b"/>
              <a:pathLst>
                <a:path w="2140819" h="833423">
                  <a:moveTo>
                    <a:pt x="0" y="0"/>
                  </a:moveTo>
                  <a:lnTo>
                    <a:pt x="2140819" y="0"/>
                  </a:lnTo>
                  <a:lnTo>
                    <a:pt x="2140819" y="833423"/>
                  </a:lnTo>
                  <a:lnTo>
                    <a:pt x="0" y="833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49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0"/>
              <a:ext cx="1419945" cy="833423"/>
            </a:xfrm>
            <a:custGeom>
              <a:avLst/>
              <a:gdLst/>
              <a:ahLst/>
              <a:cxnLst/>
              <a:rect l="l" t="t" r="r" b="b"/>
              <a:pathLst>
                <a:path w="1419945" h="833423">
                  <a:moveTo>
                    <a:pt x="0" y="0"/>
                  </a:moveTo>
                  <a:lnTo>
                    <a:pt x="1419945" y="0"/>
                  </a:lnTo>
                  <a:lnTo>
                    <a:pt x="1419945" y="833423"/>
                  </a:lnTo>
                  <a:lnTo>
                    <a:pt x="0" y="833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7178" t="-112928" r="-13043" b="-10092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2007209" y="0"/>
              <a:ext cx="2391618" cy="833423"/>
            </a:xfrm>
            <a:custGeom>
              <a:avLst/>
              <a:gdLst/>
              <a:ahLst/>
              <a:cxnLst/>
              <a:rect l="l" t="t" r="r" b="b"/>
              <a:pathLst>
                <a:path w="2391618" h="833423">
                  <a:moveTo>
                    <a:pt x="0" y="0"/>
                  </a:moveTo>
                  <a:lnTo>
                    <a:pt x="2391618" y="0"/>
                  </a:lnTo>
                  <a:lnTo>
                    <a:pt x="2391618" y="833423"/>
                  </a:lnTo>
                  <a:lnTo>
                    <a:pt x="0" y="833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1901" t="-120981" r="-6347" b="-11834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43820" y="241157"/>
              <a:ext cx="361740" cy="322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59"/>
                </a:lnSpc>
                <a:spcBef>
                  <a:spcPct val="0"/>
                </a:spcBef>
              </a:pPr>
              <a:r>
                <a:rPr lang="en-US" sz="1471">
                  <a:solidFill>
                    <a:srgbClr val="000000"/>
                  </a:solidFill>
                  <a:latin typeface="Bicubik"/>
                  <a:ea typeface="Bicubik"/>
                  <a:cs typeface="Bicubik"/>
                  <a:sym typeface="Bicubik"/>
                </a:rPr>
                <a:t>X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98827" y="241157"/>
              <a:ext cx="361740" cy="322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59"/>
                </a:lnSpc>
                <a:spcBef>
                  <a:spcPct val="0"/>
                </a:spcBef>
              </a:pPr>
              <a:r>
                <a:rPr lang="en-US" sz="1471">
                  <a:solidFill>
                    <a:srgbClr val="000000"/>
                  </a:solidFill>
                  <a:latin typeface="Bicubik"/>
                  <a:ea typeface="Bicubik"/>
                  <a:cs typeface="Bicubik"/>
                  <a:sym typeface="Bicubik"/>
                </a:rPr>
                <a:t>X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168180" y="232318"/>
            <a:ext cx="2648848" cy="1379161"/>
          </a:xfrm>
          <a:custGeom>
            <a:avLst/>
            <a:gdLst/>
            <a:ahLst/>
            <a:cxnLst/>
            <a:rect l="l" t="t" r="r" b="b"/>
            <a:pathLst>
              <a:path w="2648848" h="1379161">
                <a:moveTo>
                  <a:pt x="0" y="0"/>
                </a:moveTo>
                <a:lnTo>
                  <a:pt x="2648848" y="0"/>
                </a:lnTo>
                <a:lnTo>
                  <a:pt x="2648848" y="1379162"/>
                </a:lnTo>
                <a:lnTo>
                  <a:pt x="0" y="13791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9355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2000000" y="3235348"/>
            <a:ext cx="14288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8934A"/>
                </a:solidFill>
                <a:latin typeface="Montserrat Bold"/>
              </a:defRPr>
            </a:pPr>
            <a:r>
              <a:rPr dirty="0"/>
              <a:t>Commercial Viability, Business Model &amp; Sustainable Market Architecture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09832" y="4227548"/>
            <a:ext cx="4750000" cy="2350000"/>
          </a:xfrm>
          <a:prstGeom prst="roundRect">
            <a:avLst/>
          </a:prstGeom>
          <a:solidFill>
            <a:srgbClr val="FCFAF6"/>
          </a:solidFill>
          <a:ln w="19050">
            <a:solidFill>
              <a:srgbClr val="B89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40000" rIns="180000" bIns="140000" rtlCol="0" anchor="ctr"/>
          <a:lstStyle/>
          <a:p>
            <a:pPr algn="ctr">
              <a:spcAft>
                <a:spcPts val="400"/>
              </a:spcAft>
              <a:defRPr sz="1150" b="1">
                <a:solidFill>
                  <a:srgbClr val="DC2626"/>
                </a:solidFill>
                <a:latin typeface="Montserrat Bold"/>
              </a:defRPr>
            </a:pPr>
            <a:r>
              <a:rPr sz="1200" dirty="0"/>
              <a:t>1. PROBLEM</a:t>
            </a:r>
          </a:p>
          <a:p>
            <a:pPr algn="l">
              <a:spcBef>
                <a:spcPts val="100"/>
              </a:spcBef>
              <a:spcAft>
                <a:spcPts val="250"/>
              </a:spcAft>
            </a:pPr>
            <a:r>
              <a:rPr sz="1200" b="1" dirty="0">
                <a:solidFill>
                  <a:srgbClr val="1E1E1E"/>
                </a:solidFill>
                <a:latin typeface="Montserrat Bold"/>
              </a:rPr>
              <a:t>• Stubble Smog Emergency: </a:t>
            </a:r>
            <a:r>
              <a:rPr sz="1200" dirty="0">
                <a:solidFill>
                  <a:srgbClr val="3C3C3C"/>
                </a:solidFill>
                <a:latin typeface="Montserrat"/>
              </a:rPr>
              <a:t>149M+ </a:t>
            </a:r>
            <a:r>
              <a:rPr sz="1200" dirty="0" err="1">
                <a:solidFill>
                  <a:srgbClr val="3C3C3C"/>
                </a:solidFill>
                <a:latin typeface="Montserrat"/>
              </a:rPr>
              <a:t>tonnes</a:t>
            </a:r>
            <a:r>
              <a:rPr sz="1200" dirty="0">
                <a:solidFill>
                  <a:srgbClr val="3C3C3C"/>
                </a:solidFill>
                <a:latin typeface="Montserrat"/>
              </a:rPr>
              <a:t> crop residue burned annually causing lethal air pollution and soil damage.</a:t>
            </a:r>
          </a:p>
          <a:p>
            <a:pPr algn="l">
              <a:spcBef>
                <a:spcPts val="100"/>
              </a:spcBef>
              <a:spcAft>
                <a:spcPts val="250"/>
              </a:spcAft>
            </a:pPr>
            <a:r>
              <a:rPr sz="1200" b="1" dirty="0">
                <a:solidFill>
                  <a:srgbClr val="1E1E1E"/>
                </a:solidFill>
                <a:latin typeface="Montserrat Bold"/>
              </a:rPr>
              <a:t>• Farmer Economic Leakage: </a:t>
            </a:r>
            <a:r>
              <a:rPr sz="1200" dirty="0">
                <a:solidFill>
                  <a:srgbClr val="3C3C3C"/>
                </a:solidFill>
                <a:latin typeface="Montserrat"/>
              </a:rPr>
              <a:t>Smallholders lose 25-40% margin to middlemen with zero channels to monetize farm residue.</a:t>
            </a:r>
          </a:p>
          <a:p>
            <a:pPr algn="l">
              <a:spcBef>
                <a:spcPts val="100"/>
              </a:spcBef>
              <a:spcAft>
                <a:spcPts val="250"/>
              </a:spcAft>
            </a:pPr>
            <a:r>
              <a:rPr sz="1200" b="1" dirty="0">
                <a:solidFill>
                  <a:srgbClr val="1E1E1E"/>
                </a:solidFill>
                <a:latin typeface="Montserrat Bold"/>
              </a:rPr>
              <a:t>• Digital Accessibility Gap: </a:t>
            </a:r>
            <a:r>
              <a:rPr sz="1200" dirty="0">
                <a:solidFill>
                  <a:srgbClr val="3C3C3C"/>
                </a:solidFill>
                <a:latin typeface="Montserrat"/>
              </a:rPr>
              <a:t>Complex text-heavy apps fail rural farmers due to linguistic divide and lack of voice UX.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2126" y="4274461"/>
            <a:ext cx="4750000" cy="2350000"/>
          </a:xfrm>
          <a:prstGeom prst="roundRect">
            <a:avLst/>
          </a:prstGeom>
          <a:solidFill>
            <a:srgbClr val="FCFAF6"/>
          </a:solidFill>
          <a:ln w="19050">
            <a:solidFill>
              <a:srgbClr val="B89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40000" rIns="180000" bIns="140000" rtlCol="0" anchor="ctr"/>
          <a:lstStyle/>
          <a:p>
            <a:pPr algn="ctr">
              <a:spcAft>
                <a:spcPts val="400"/>
              </a:spcAft>
              <a:defRPr sz="1150" b="1">
                <a:solidFill>
                  <a:srgbClr val="B8934A"/>
                </a:solidFill>
                <a:latin typeface="Montserrat Bold"/>
              </a:defRPr>
            </a:pPr>
            <a:r>
              <a:rPr sz="1200" dirty="0"/>
              <a:t>2. UNIQUE VALUE PROP (USP)</a:t>
            </a:r>
          </a:p>
          <a:p>
            <a:pPr algn="l">
              <a:spcBef>
                <a:spcPts val="100"/>
              </a:spcBef>
              <a:spcAft>
                <a:spcPts val="250"/>
              </a:spcAft>
            </a:pPr>
            <a:r>
              <a:rPr sz="1200" b="1" dirty="0">
                <a:solidFill>
                  <a:srgbClr val="1E1E1E"/>
                </a:solidFill>
                <a:latin typeface="Montserrat Bold"/>
              </a:rPr>
              <a:t>• Voice-First Bio-Economy: </a:t>
            </a:r>
            <a:r>
              <a:rPr sz="1200" dirty="0">
                <a:solidFill>
                  <a:srgbClr val="3C3C3C"/>
                </a:solidFill>
                <a:latin typeface="Montserrat"/>
              </a:rPr>
              <a:t>First voice-driven circular platform linking smallholders directly with green industries.</a:t>
            </a:r>
          </a:p>
          <a:p>
            <a:pPr algn="l">
              <a:spcBef>
                <a:spcPts val="100"/>
              </a:spcBef>
              <a:spcAft>
                <a:spcPts val="250"/>
              </a:spcAft>
            </a:pPr>
            <a:r>
              <a:rPr sz="1200" b="1" dirty="0">
                <a:solidFill>
                  <a:srgbClr val="1E1E1E"/>
                </a:solidFill>
                <a:latin typeface="Montserrat Bold"/>
              </a:rPr>
              <a:t>• Automated Dual-Yield Engine: </a:t>
            </a:r>
            <a:r>
              <a:rPr sz="1200" dirty="0">
                <a:solidFill>
                  <a:srgbClr val="3C3C3C"/>
                </a:solidFill>
                <a:latin typeface="Montserrat"/>
              </a:rPr>
              <a:t>Converts crop stubble into instant fair ₹ profit + certified CO₂ abatement per deal.</a:t>
            </a:r>
          </a:p>
          <a:p>
            <a:pPr algn="l">
              <a:spcBef>
                <a:spcPts val="100"/>
              </a:spcBef>
              <a:spcAft>
                <a:spcPts val="250"/>
              </a:spcAft>
            </a:pPr>
            <a:r>
              <a:rPr sz="1200" b="1" dirty="0">
                <a:solidFill>
                  <a:srgbClr val="1E1E1E"/>
                </a:solidFill>
                <a:latin typeface="Montserrat Bold"/>
              </a:rPr>
              <a:t>• Zero Literacy Friction: </a:t>
            </a:r>
            <a:r>
              <a:rPr sz="1200" dirty="0">
                <a:solidFill>
                  <a:srgbClr val="3C3C3C"/>
                </a:solidFill>
                <a:latin typeface="Montserrat"/>
              </a:rPr>
              <a:t>Complete 6-language vernacular localization with AI plant disease diagnostics.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904246" y="4225340"/>
            <a:ext cx="4750000" cy="2350000"/>
          </a:xfrm>
          <a:prstGeom prst="roundRect">
            <a:avLst/>
          </a:prstGeom>
          <a:solidFill>
            <a:srgbClr val="FCFAF6"/>
          </a:solidFill>
          <a:ln w="19050">
            <a:solidFill>
              <a:srgbClr val="B89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40000" rIns="180000" bIns="140000" rtlCol="0" anchor="ctr"/>
          <a:lstStyle/>
          <a:p>
            <a:pPr algn="ctr">
              <a:spcAft>
                <a:spcPts val="400"/>
              </a:spcAft>
              <a:defRPr sz="1150" b="1">
                <a:solidFill>
                  <a:srgbClr val="166534"/>
                </a:solidFill>
                <a:latin typeface="Montserrat Bold"/>
              </a:defRPr>
            </a:pPr>
            <a:r>
              <a:rPr sz="1200" dirty="0"/>
              <a:t>3. CUSTOMER SEGMENTS</a:t>
            </a:r>
          </a:p>
          <a:p>
            <a:pPr algn="l">
              <a:spcBef>
                <a:spcPts val="100"/>
              </a:spcBef>
              <a:spcAft>
                <a:spcPts val="250"/>
              </a:spcAft>
            </a:pPr>
            <a:r>
              <a:rPr sz="1200" b="1" dirty="0">
                <a:solidFill>
                  <a:srgbClr val="1E1E1E"/>
                </a:solidFill>
                <a:latin typeface="Montserrat Bold"/>
              </a:rPr>
              <a:t>• Supply (Farmers): </a:t>
            </a:r>
            <a:r>
              <a:rPr sz="1200" dirty="0">
                <a:solidFill>
                  <a:srgbClr val="3C3C3C"/>
                </a:solidFill>
                <a:latin typeface="Montserrat"/>
              </a:rPr>
              <a:t>100M+ smallholder &amp; marginal farmers across Tier-2/Tier-3 agricultural belts in India.</a:t>
            </a:r>
          </a:p>
          <a:p>
            <a:pPr algn="l">
              <a:spcBef>
                <a:spcPts val="100"/>
              </a:spcBef>
              <a:spcAft>
                <a:spcPts val="250"/>
              </a:spcAft>
            </a:pPr>
            <a:r>
              <a:rPr sz="1200" b="1" dirty="0">
                <a:solidFill>
                  <a:srgbClr val="1E1E1E"/>
                </a:solidFill>
                <a:latin typeface="Montserrat Bold"/>
              </a:rPr>
              <a:t>• Demand (Industries): </a:t>
            </a:r>
            <a:r>
              <a:rPr sz="1200" dirty="0">
                <a:solidFill>
                  <a:srgbClr val="3C3C3C"/>
                </a:solidFill>
                <a:latin typeface="Montserrat"/>
              </a:rPr>
              <a:t>Biomass power plants, paper mills, bio-coal briquette manufacturers, composting units.</a:t>
            </a:r>
          </a:p>
          <a:p>
            <a:pPr algn="l">
              <a:spcBef>
                <a:spcPts val="100"/>
              </a:spcBef>
              <a:spcAft>
                <a:spcPts val="250"/>
              </a:spcAft>
            </a:pPr>
            <a:r>
              <a:rPr sz="1200" b="1" dirty="0">
                <a:solidFill>
                  <a:srgbClr val="1E1E1E"/>
                </a:solidFill>
                <a:latin typeface="Montserrat Bold"/>
              </a:rPr>
              <a:t>• Institutional Partners: </a:t>
            </a:r>
            <a:r>
              <a:rPr sz="1200" dirty="0">
                <a:solidFill>
                  <a:srgbClr val="3C3C3C"/>
                </a:solidFill>
                <a:latin typeface="Montserrat"/>
              </a:rPr>
              <a:t>Farmer Producer Organizations (FPOs), pollution control boards, corporate ESG buyers.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99840" y="6801418"/>
            <a:ext cx="4750000" cy="2350000"/>
          </a:xfrm>
          <a:prstGeom prst="roundRect">
            <a:avLst/>
          </a:prstGeom>
          <a:solidFill>
            <a:srgbClr val="FCFAF6"/>
          </a:solidFill>
          <a:ln w="19050">
            <a:solidFill>
              <a:srgbClr val="B89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40000" rIns="180000" bIns="140000" rtlCol="0" anchor="ctr"/>
          <a:lstStyle/>
          <a:p>
            <a:pPr algn="ctr">
              <a:spcAft>
                <a:spcPts val="400"/>
              </a:spcAft>
              <a:defRPr sz="1150" b="1">
                <a:solidFill>
                  <a:srgbClr val="4B5563"/>
                </a:solidFill>
                <a:latin typeface="Montserrat Bold"/>
              </a:defRPr>
            </a:pPr>
            <a:r>
              <a:rPr sz="1200" dirty="0"/>
              <a:t>4. COST STRUCTURE</a:t>
            </a:r>
          </a:p>
          <a:p>
            <a:pPr algn="l">
              <a:spcBef>
                <a:spcPts val="100"/>
              </a:spcBef>
              <a:spcAft>
                <a:spcPts val="250"/>
              </a:spcAft>
            </a:pPr>
            <a:r>
              <a:rPr sz="1200" b="1" dirty="0">
                <a:solidFill>
                  <a:srgbClr val="1E1E1E"/>
                </a:solidFill>
                <a:latin typeface="Montserrat Bold"/>
              </a:rPr>
              <a:t>• Cloud &amp; Infrastructure: </a:t>
            </a:r>
            <a:r>
              <a:rPr sz="1200" dirty="0">
                <a:solidFill>
                  <a:srgbClr val="3C3C3C"/>
                </a:solidFill>
                <a:latin typeface="Montserrat"/>
              </a:rPr>
              <a:t>Netlify CI/CD hosting, SSL security, serverless compute &amp; edge bandwidth (~20%).</a:t>
            </a:r>
          </a:p>
          <a:p>
            <a:pPr algn="l">
              <a:spcBef>
                <a:spcPts val="100"/>
              </a:spcBef>
              <a:spcAft>
                <a:spcPts val="250"/>
              </a:spcAft>
            </a:pPr>
            <a:r>
              <a:rPr sz="1200" b="1" dirty="0">
                <a:solidFill>
                  <a:srgbClr val="1E1E1E"/>
                </a:solidFill>
                <a:latin typeface="Montserrat Bold"/>
              </a:rPr>
              <a:t>• AI &amp; API Services: </a:t>
            </a:r>
            <a:r>
              <a:rPr sz="1200" dirty="0">
                <a:solidFill>
                  <a:srgbClr val="3C3C3C"/>
                </a:solidFill>
                <a:latin typeface="Montserrat"/>
              </a:rPr>
              <a:t>Web Speech API processing, computer vision model inference &amp; language pipelines (~35%).</a:t>
            </a:r>
          </a:p>
          <a:p>
            <a:pPr algn="l">
              <a:spcBef>
                <a:spcPts val="100"/>
              </a:spcBef>
              <a:spcAft>
                <a:spcPts val="250"/>
              </a:spcAft>
            </a:pPr>
            <a:r>
              <a:rPr sz="1200" b="1" dirty="0">
                <a:solidFill>
                  <a:srgbClr val="1E1E1E"/>
                </a:solidFill>
                <a:latin typeface="Montserrat Bold"/>
              </a:rPr>
              <a:t>• Field Operations: </a:t>
            </a:r>
            <a:r>
              <a:rPr sz="1200" dirty="0">
                <a:solidFill>
                  <a:srgbClr val="3C3C3C"/>
                </a:solidFill>
                <a:latin typeface="Montserrat"/>
              </a:rPr>
              <a:t>FPO grassroots partnerships, farmer onboarding workshops &amp; verification outreach (~45%).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2505" y="6749799"/>
            <a:ext cx="4750000" cy="2350000"/>
          </a:xfrm>
          <a:prstGeom prst="roundRect">
            <a:avLst/>
          </a:prstGeom>
          <a:solidFill>
            <a:srgbClr val="FCFAF6"/>
          </a:solidFill>
          <a:ln w="19050">
            <a:solidFill>
              <a:srgbClr val="B89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40000" rIns="180000" bIns="140000" rtlCol="0" anchor="ctr"/>
          <a:lstStyle/>
          <a:p>
            <a:pPr algn="ctr">
              <a:spcAft>
                <a:spcPts val="400"/>
              </a:spcAft>
              <a:defRPr sz="1150" b="1">
                <a:solidFill>
                  <a:srgbClr val="B8934A"/>
                </a:solidFill>
                <a:latin typeface="Montserrat Bold"/>
              </a:defRPr>
            </a:pPr>
            <a:r>
              <a:rPr sz="1200" dirty="0"/>
              <a:t>5. UNFAIR ADVANTAGE &amp; METRICS</a:t>
            </a:r>
          </a:p>
          <a:p>
            <a:pPr algn="l">
              <a:spcBef>
                <a:spcPts val="100"/>
              </a:spcBef>
              <a:spcAft>
                <a:spcPts val="250"/>
              </a:spcAft>
            </a:pPr>
            <a:r>
              <a:rPr sz="1200" b="1" dirty="0">
                <a:solidFill>
                  <a:srgbClr val="1E1E1E"/>
                </a:solidFill>
                <a:latin typeface="Montserrat Bold"/>
              </a:rPr>
              <a:t>• Unfair Advantage: </a:t>
            </a:r>
            <a:r>
              <a:rPr sz="1200" dirty="0">
                <a:solidFill>
                  <a:srgbClr val="3C3C3C"/>
                </a:solidFill>
                <a:latin typeface="Montserrat"/>
              </a:rPr>
              <a:t>Proprietary proximity routing algorithm + native voice navigation in 6 Indic dialects.</a:t>
            </a:r>
          </a:p>
          <a:p>
            <a:pPr algn="l">
              <a:spcBef>
                <a:spcPts val="100"/>
              </a:spcBef>
              <a:spcAft>
                <a:spcPts val="250"/>
              </a:spcAft>
            </a:pPr>
            <a:r>
              <a:rPr sz="1200" b="1" dirty="0">
                <a:solidFill>
                  <a:srgbClr val="1E1E1E"/>
                </a:solidFill>
                <a:latin typeface="Montserrat Bold"/>
              </a:rPr>
              <a:t>• Core Growth Metrics: </a:t>
            </a:r>
            <a:r>
              <a:rPr sz="1200" dirty="0">
                <a:solidFill>
                  <a:srgbClr val="3C3C3C"/>
                </a:solidFill>
                <a:latin typeface="Montserrat"/>
              </a:rPr>
              <a:t>Residue tonnage traded, CO₂ </a:t>
            </a:r>
            <a:r>
              <a:rPr sz="1200" dirty="0" err="1">
                <a:solidFill>
                  <a:srgbClr val="3C3C3C"/>
                </a:solidFill>
                <a:latin typeface="Montserrat"/>
              </a:rPr>
              <a:t>tonnes</a:t>
            </a:r>
            <a:r>
              <a:rPr sz="1200" dirty="0">
                <a:solidFill>
                  <a:srgbClr val="3C3C3C"/>
                </a:solidFill>
                <a:latin typeface="Montserrat"/>
              </a:rPr>
              <a:t> abated, average farmer net income boost (₹).</a:t>
            </a:r>
          </a:p>
          <a:p>
            <a:pPr algn="l">
              <a:spcBef>
                <a:spcPts val="100"/>
              </a:spcBef>
              <a:spcAft>
                <a:spcPts val="250"/>
              </a:spcAft>
            </a:pPr>
            <a:r>
              <a:rPr sz="1200" b="1" dirty="0">
                <a:solidFill>
                  <a:srgbClr val="1E1E1E"/>
                </a:solidFill>
                <a:latin typeface="Montserrat Bold"/>
              </a:rPr>
              <a:t>• Community Retention: </a:t>
            </a:r>
            <a:r>
              <a:rPr sz="1200" dirty="0">
                <a:solidFill>
                  <a:srgbClr val="3C3C3C"/>
                </a:solidFill>
                <a:latin typeface="Montserrat"/>
              </a:rPr>
              <a:t>Gamified Carbon Credit Leaderboard driving continuous post-harvest farmer engagement.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911120" y="6719231"/>
            <a:ext cx="4750000" cy="2350000"/>
          </a:xfrm>
          <a:prstGeom prst="roundRect">
            <a:avLst/>
          </a:prstGeom>
          <a:solidFill>
            <a:srgbClr val="FCFAF6"/>
          </a:solidFill>
          <a:ln w="19050">
            <a:solidFill>
              <a:srgbClr val="B89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40000" rIns="180000" bIns="140000" rtlCol="0" anchor="ctr"/>
          <a:lstStyle/>
          <a:p>
            <a:pPr algn="ctr">
              <a:spcAft>
                <a:spcPts val="400"/>
              </a:spcAft>
              <a:defRPr sz="1150" b="1">
                <a:solidFill>
                  <a:srgbClr val="166534"/>
                </a:solidFill>
                <a:latin typeface="Montserrat Bold"/>
              </a:defRPr>
            </a:pPr>
            <a:r>
              <a:rPr sz="1200" dirty="0"/>
              <a:t>6. REVENUE STREAMS</a:t>
            </a:r>
          </a:p>
          <a:p>
            <a:pPr algn="l">
              <a:spcBef>
                <a:spcPts val="100"/>
              </a:spcBef>
              <a:spcAft>
                <a:spcPts val="250"/>
              </a:spcAft>
            </a:pPr>
            <a:r>
              <a:rPr sz="1200" b="1" dirty="0">
                <a:solidFill>
                  <a:srgbClr val="1E1E1E"/>
                </a:solidFill>
                <a:latin typeface="Montserrat Bold"/>
              </a:rPr>
              <a:t>• Transaction Commission: </a:t>
            </a:r>
            <a:r>
              <a:rPr sz="1200" dirty="0">
                <a:solidFill>
                  <a:srgbClr val="3C3C3C"/>
                </a:solidFill>
                <a:latin typeface="Montserrat"/>
              </a:rPr>
              <a:t>2.5% platform brokerage fee on verified industrial biomass purchase contracts.</a:t>
            </a:r>
          </a:p>
          <a:p>
            <a:pPr algn="l">
              <a:spcBef>
                <a:spcPts val="100"/>
              </a:spcBef>
              <a:spcAft>
                <a:spcPts val="250"/>
              </a:spcAft>
            </a:pPr>
            <a:r>
              <a:rPr sz="1200" b="1" dirty="0">
                <a:solidFill>
                  <a:srgbClr val="1E1E1E"/>
                </a:solidFill>
                <a:latin typeface="Montserrat Bold"/>
              </a:rPr>
              <a:t>• Industrial SaaS Analytics: </a:t>
            </a:r>
            <a:r>
              <a:rPr sz="1200" dirty="0">
                <a:solidFill>
                  <a:srgbClr val="3C3C3C"/>
                </a:solidFill>
                <a:latin typeface="Montserrat"/>
              </a:rPr>
              <a:t>Subscription tier for bioenergy plants to track regional feedstock supply and radius.</a:t>
            </a:r>
          </a:p>
          <a:p>
            <a:pPr algn="l">
              <a:spcBef>
                <a:spcPts val="100"/>
              </a:spcBef>
              <a:spcAft>
                <a:spcPts val="250"/>
              </a:spcAft>
            </a:pPr>
            <a:r>
              <a:rPr sz="1200" b="1" dirty="0">
                <a:solidFill>
                  <a:srgbClr val="1E1E1E"/>
                </a:solidFill>
                <a:latin typeface="Montserrat Bold"/>
              </a:rPr>
              <a:t>• Carbon Token Brokerage: </a:t>
            </a:r>
            <a:r>
              <a:rPr sz="1200" dirty="0">
                <a:solidFill>
                  <a:srgbClr val="3C3C3C"/>
                </a:solidFill>
                <a:latin typeface="Montserrat"/>
              </a:rPr>
              <a:t>Aggregated verified emissions reductions monetized via voluntary carbon markets.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74252" cy="10279267"/>
          </a:xfrm>
          <a:custGeom>
            <a:avLst/>
            <a:gdLst/>
            <a:ahLst/>
            <a:cxnLst/>
            <a:rect l="l" t="t" r="r" b="b"/>
            <a:pathLst>
              <a:path w="18274252" h="10279267">
                <a:moveTo>
                  <a:pt x="0" y="0"/>
                </a:moveTo>
                <a:lnTo>
                  <a:pt x="18274252" y="0"/>
                </a:lnTo>
                <a:lnTo>
                  <a:pt x="18274252" y="10279267"/>
                </a:lnTo>
                <a:lnTo>
                  <a:pt x="0" y="102792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354215" y="3466235"/>
            <a:ext cx="15593317" cy="5144901"/>
            <a:chOff x="0" y="0"/>
            <a:chExt cx="4106882" cy="135503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106882" cy="1355036"/>
            </a:xfrm>
            <a:custGeom>
              <a:avLst/>
              <a:gdLst/>
              <a:ahLst/>
              <a:cxnLst/>
              <a:rect l="l" t="t" r="r" b="b"/>
              <a:pathLst>
                <a:path w="4106882" h="1355036">
                  <a:moveTo>
                    <a:pt x="25321" y="0"/>
                  </a:moveTo>
                  <a:lnTo>
                    <a:pt x="4081561" y="0"/>
                  </a:lnTo>
                  <a:cubicBezTo>
                    <a:pt x="4088276" y="0"/>
                    <a:pt x="4094717" y="2668"/>
                    <a:pt x="4099466" y="7416"/>
                  </a:cubicBezTo>
                  <a:cubicBezTo>
                    <a:pt x="4104214" y="12165"/>
                    <a:pt x="4106882" y="18605"/>
                    <a:pt x="4106882" y="25321"/>
                  </a:cubicBezTo>
                  <a:lnTo>
                    <a:pt x="4106882" y="1329715"/>
                  </a:lnTo>
                  <a:cubicBezTo>
                    <a:pt x="4106882" y="1336430"/>
                    <a:pt x="4104214" y="1342871"/>
                    <a:pt x="4099466" y="1347619"/>
                  </a:cubicBezTo>
                  <a:cubicBezTo>
                    <a:pt x="4094717" y="1352368"/>
                    <a:pt x="4088276" y="1355036"/>
                    <a:pt x="4081561" y="1355036"/>
                  </a:cubicBezTo>
                  <a:lnTo>
                    <a:pt x="25321" y="1355036"/>
                  </a:lnTo>
                  <a:cubicBezTo>
                    <a:pt x="11337" y="1355036"/>
                    <a:pt x="0" y="1343699"/>
                    <a:pt x="0" y="1329715"/>
                  </a:cubicBezTo>
                  <a:lnTo>
                    <a:pt x="0" y="25321"/>
                  </a:lnTo>
                  <a:cubicBezTo>
                    <a:pt x="0" y="18605"/>
                    <a:pt x="2668" y="12165"/>
                    <a:pt x="7416" y="7416"/>
                  </a:cubicBezTo>
                  <a:cubicBezTo>
                    <a:pt x="12165" y="2668"/>
                    <a:pt x="18605" y="0"/>
                    <a:pt x="25321" y="0"/>
                  </a:cubicBezTo>
                  <a:close/>
                </a:path>
              </a:pathLst>
            </a:custGeom>
            <a:solidFill>
              <a:srgbClr val="D1A85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106882" cy="13931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349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136096" y="566921"/>
            <a:ext cx="6498335" cy="1153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79"/>
              </a:lnSpc>
              <a:spcBef>
                <a:spcPct val="0"/>
              </a:spcBef>
            </a:pPr>
            <a:r>
              <a:rPr lang="en-US" sz="6699">
                <a:solidFill>
                  <a:srgbClr val="FFFFFF"/>
                </a:solidFill>
                <a:latin typeface="Bicubik"/>
                <a:ea typeface="Bicubik"/>
                <a:cs typeface="Bicubik"/>
                <a:sym typeface="Bicubik"/>
              </a:rPr>
              <a:t>Argonyx'26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037627" y="4077524"/>
            <a:ext cx="14198998" cy="3429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21" lvl="1" indent="-410210" algn="l">
              <a:lnSpc>
                <a:spcPts val="6954"/>
              </a:lnSpc>
              <a:buFont typeface="Arial"/>
              <a:buChar char="•"/>
            </a:pPr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0" y="10092690"/>
            <a:ext cx="18288000" cy="194310"/>
          </a:xfrm>
          <a:custGeom>
            <a:avLst/>
            <a:gdLst/>
            <a:ahLst/>
            <a:cxnLst/>
            <a:rect l="l" t="t" r="r" b="b"/>
            <a:pathLst>
              <a:path w="18288000" h="194310">
                <a:moveTo>
                  <a:pt x="0" y="0"/>
                </a:moveTo>
                <a:lnTo>
                  <a:pt x="18288000" y="0"/>
                </a:lnTo>
                <a:lnTo>
                  <a:pt x="18288000" y="194310"/>
                </a:lnTo>
                <a:lnTo>
                  <a:pt x="0" y="1943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775059" y="2028337"/>
            <a:ext cx="17499193" cy="916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78"/>
              </a:lnSpc>
              <a:spcBef>
                <a:spcPct val="0"/>
              </a:spcBef>
            </a:pPr>
            <a:r>
              <a:rPr lang="en-US" sz="5341">
                <a:solidFill>
                  <a:srgbClr val="000000"/>
                </a:solidFill>
                <a:latin typeface="Mokoto"/>
                <a:ea typeface="Mokoto"/>
                <a:cs typeface="Mokoto"/>
                <a:sym typeface="Mokoto"/>
              </a:rPr>
              <a:t>Execution Plan(MVP in 15 Hrs)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2685895" y="373031"/>
            <a:ext cx="5341043" cy="625068"/>
            <a:chOff x="0" y="0"/>
            <a:chExt cx="7121391" cy="833423"/>
          </a:xfrm>
        </p:grpSpPr>
        <p:sp>
          <p:nvSpPr>
            <p:cNvPr id="11" name="Freeform 11"/>
            <p:cNvSpPr/>
            <p:nvPr/>
          </p:nvSpPr>
          <p:spPr>
            <a:xfrm>
              <a:off x="4980572" y="0"/>
              <a:ext cx="2140819" cy="833423"/>
            </a:xfrm>
            <a:custGeom>
              <a:avLst/>
              <a:gdLst/>
              <a:ahLst/>
              <a:cxnLst/>
              <a:rect l="l" t="t" r="r" b="b"/>
              <a:pathLst>
                <a:path w="2140819" h="833423">
                  <a:moveTo>
                    <a:pt x="0" y="0"/>
                  </a:moveTo>
                  <a:lnTo>
                    <a:pt x="2140819" y="0"/>
                  </a:lnTo>
                  <a:lnTo>
                    <a:pt x="2140819" y="833423"/>
                  </a:lnTo>
                  <a:lnTo>
                    <a:pt x="0" y="833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49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0" y="0"/>
              <a:ext cx="1419945" cy="833423"/>
            </a:xfrm>
            <a:custGeom>
              <a:avLst/>
              <a:gdLst/>
              <a:ahLst/>
              <a:cxnLst/>
              <a:rect l="l" t="t" r="r" b="b"/>
              <a:pathLst>
                <a:path w="1419945" h="833423">
                  <a:moveTo>
                    <a:pt x="0" y="0"/>
                  </a:moveTo>
                  <a:lnTo>
                    <a:pt x="1419945" y="0"/>
                  </a:lnTo>
                  <a:lnTo>
                    <a:pt x="1419945" y="833423"/>
                  </a:lnTo>
                  <a:lnTo>
                    <a:pt x="0" y="833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7178" t="-112928" r="-13043" b="-10092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2007209" y="0"/>
              <a:ext cx="2391618" cy="833423"/>
            </a:xfrm>
            <a:custGeom>
              <a:avLst/>
              <a:gdLst/>
              <a:ahLst/>
              <a:cxnLst/>
              <a:rect l="l" t="t" r="r" b="b"/>
              <a:pathLst>
                <a:path w="2391618" h="833423">
                  <a:moveTo>
                    <a:pt x="0" y="0"/>
                  </a:moveTo>
                  <a:lnTo>
                    <a:pt x="2391618" y="0"/>
                  </a:lnTo>
                  <a:lnTo>
                    <a:pt x="2391618" y="833423"/>
                  </a:lnTo>
                  <a:lnTo>
                    <a:pt x="0" y="833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1901" t="-120981" r="-6347" b="-11834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43820" y="241157"/>
              <a:ext cx="361740" cy="322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59"/>
                </a:lnSpc>
                <a:spcBef>
                  <a:spcPct val="0"/>
                </a:spcBef>
              </a:pPr>
              <a:r>
                <a:rPr lang="en-US" sz="1471">
                  <a:solidFill>
                    <a:srgbClr val="000000"/>
                  </a:solidFill>
                  <a:latin typeface="Bicubik"/>
                  <a:ea typeface="Bicubik"/>
                  <a:cs typeface="Bicubik"/>
                  <a:sym typeface="Bicubik"/>
                </a:rPr>
                <a:t>X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98827" y="241157"/>
              <a:ext cx="361740" cy="322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59"/>
                </a:lnSpc>
                <a:spcBef>
                  <a:spcPct val="0"/>
                </a:spcBef>
              </a:pPr>
              <a:r>
                <a:rPr lang="en-US" sz="1471">
                  <a:solidFill>
                    <a:srgbClr val="000000"/>
                  </a:solidFill>
                  <a:latin typeface="Bicubik"/>
                  <a:ea typeface="Bicubik"/>
                  <a:cs typeface="Bicubik"/>
                  <a:sym typeface="Bicubik"/>
                </a:rPr>
                <a:t>X</a:t>
              </a:r>
            </a:p>
          </p:txBody>
        </p:sp>
      </p:grpSp>
      <p:sp>
        <p:nvSpPr>
          <p:cNvPr id="16" name="Freeform 16"/>
          <p:cNvSpPr/>
          <p:nvPr/>
        </p:nvSpPr>
        <p:spPr>
          <a:xfrm>
            <a:off x="168180" y="232318"/>
            <a:ext cx="2648848" cy="1379161"/>
          </a:xfrm>
          <a:custGeom>
            <a:avLst/>
            <a:gdLst/>
            <a:ahLst/>
            <a:cxnLst/>
            <a:rect l="l" t="t" r="r" b="b"/>
            <a:pathLst>
              <a:path w="2648848" h="1379161">
                <a:moveTo>
                  <a:pt x="0" y="0"/>
                </a:moveTo>
                <a:lnTo>
                  <a:pt x="2648848" y="0"/>
                </a:lnTo>
                <a:lnTo>
                  <a:pt x="2648848" y="1379162"/>
                </a:lnTo>
                <a:lnTo>
                  <a:pt x="0" y="13791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9355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000000" y="2950000"/>
            <a:ext cx="14288000" cy="4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8934A"/>
                </a:solidFill>
                <a:latin typeface="Montserrat Bold"/>
              </a:defRPr>
            </a:pPr>
            <a:r>
              <a:t>System Flow Architecture, 15-Hour Agile Roadmap &amp; Production Tech Stack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50000" y="3650000"/>
            <a:ext cx="3400000" cy="1300000"/>
          </a:xfrm>
          <a:prstGeom prst="roundRect">
            <a:avLst/>
          </a:prstGeom>
          <a:solidFill>
            <a:srgbClr val="FCFAF6"/>
          </a:solidFill>
          <a:ln w="19050">
            <a:solidFill>
              <a:srgbClr val="B89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B8934A"/>
                </a:solidFill>
                <a:latin typeface="Montserrat Bold"/>
              </a:defRPr>
            </a:pPr>
            <a:r>
              <a:rPr sz="1200" dirty="0"/>
              <a:t>1. USER TOUCHPOINT</a:t>
            </a:r>
          </a:p>
          <a:p>
            <a:pPr algn="ctr">
              <a:defRPr sz="950">
                <a:solidFill>
                  <a:srgbClr val="1E1E1E"/>
                </a:solidFill>
                <a:latin typeface="Montserrat"/>
              </a:defRPr>
            </a:pPr>
            <a:r>
              <a:rPr sz="1200" dirty="0"/>
              <a:t>Farmer / Industrial Buyer</a:t>
            </a:r>
            <a:br>
              <a:rPr sz="1200" dirty="0"/>
            </a:br>
            <a:r>
              <a:rPr sz="1200" dirty="0"/>
              <a:t>Voice Mic (Web Speech) or UI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190000" y="4070000"/>
            <a:ext cx="260000" cy="460000"/>
          </a:xfrm>
          <a:prstGeom prst="rightArrow">
            <a:avLst/>
          </a:prstGeom>
          <a:solidFill>
            <a:srgbClr val="B89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500000" y="3650000"/>
            <a:ext cx="3400000" cy="1300000"/>
          </a:xfrm>
          <a:prstGeom prst="roundRect">
            <a:avLst/>
          </a:prstGeom>
          <a:solidFill>
            <a:srgbClr val="FCFAF6"/>
          </a:solidFill>
          <a:ln w="19050">
            <a:solidFill>
              <a:srgbClr val="B89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B8934A"/>
                </a:solidFill>
                <a:latin typeface="Montserrat Bold"/>
              </a:defRPr>
            </a:pPr>
            <a:r>
              <a:rPr sz="1200" dirty="0"/>
              <a:t>2. MULTILINGUAL APP</a:t>
            </a:r>
          </a:p>
          <a:p>
            <a:pPr algn="ctr">
              <a:defRPr sz="950">
                <a:solidFill>
                  <a:srgbClr val="1E1E1E"/>
                </a:solidFill>
                <a:latin typeface="Montserrat"/>
              </a:defRPr>
            </a:pPr>
            <a:r>
              <a:rPr sz="1200" dirty="0"/>
              <a:t>React.js + Vite Client</a:t>
            </a:r>
            <a:br>
              <a:rPr sz="1200" dirty="0"/>
            </a:br>
            <a:r>
              <a:rPr sz="1200" dirty="0"/>
              <a:t>6 Indic Languages (PWA</a:t>
            </a:r>
            <a:r>
              <a:rPr dirty="0"/>
              <a:t>)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940000" y="4070000"/>
            <a:ext cx="260000" cy="460000"/>
          </a:xfrm>
          <a:prstGeom prst="rightArrow">
            <a:avLst/>
          </a:prstGeom>
          <a:solidFill>
            <a:srgbClr val="B89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250000" y="3650000"/>
            <a:ext cx="3400000" cy="1300000"/>
          </a:xfrm>
          <a:prstGeom prst="roundRect">
            <a:avLst/>
          </a:prstGeom>
          <a:solidFill>
            <a:srgbClr val="FCFAF6"/>
          </a:solidFill>
          <a:ln w="19050">
            <a:solidFill>
              <a:srgbClr val="B89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B8934A"/>
                </a:solidFill>
                <a:latin typeface="Montserrat Bold"/>
              </a:defRPr>
            </a:pPr>
            <a:r>
              <a:rPr sz="1200" dirty="0"/>
              <a:t>3. CORE ENGINES</a:t>
            </a:r>
          </a:p>
          <a:p>
            <a:pPr algn="ctr">
              <a:defRPr sz="950">
                <a:solidFill>
                  <a:srgbClr val="1E1E1E"/>
                </a:solidFill>
                <a:latin typeface="Montserrat"/>
              </a:defRPr>
            </a:pPr>
            <a:r>
              <a:rPr sz="1200" dirty="0"/>
              <a:t>Carbon Math &amp; Proximity Logic</a:t>
            </a:r>
            <a:br>
              <a:rPr sz="1200" dirty="0"/>
            </a:br>
            <a:r>
              <a:rPr sz="1200" dirty="0"/>
              <a:t>AI Plant Doctor Diagnostic Canvas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12690000" y="4070000"/>
            <a:ext cx="260000" cy="460000"/>
          </a:xfrm>
          <a:prstGeom prst="rightArrow">
            <a:avLst/>
          </a:prstGeom>
          <a:solidFill>
            <a:srgbClr val="B89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3000000" y="3650000"/>
            <a:ext cx="3400000" cy="1300000"/>
          </a:xfrm>
          <a:prstGeom prst="roundRect">
            <a:avLst/>
          </a:prstGeom>
          <a:solidFill>
            <a:srgbClr val="FCFAF6"/>
          </a:solidFill>
          <a:ln w="19050">
            <a:solidFill>
              <a:srgbClr val="B89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B8934A"/>
                </a:solidFill>
                <a:latin typeface="Montserrat Bold"/>
              </a:defRPr>
            </a:pPr>
            <a:r>
              <a:rPr sz="1200" dirty="0"/>
              <a:t>4. MARKET OUTCOMES</a:t>
            </a:r>
          </a:p>
          <a:p>
            <a:pPr algn="ctr">
              <a:defRPr sz="950">
                <a:solidFill>
                  <a:srgbClr val="1E1E1E"/>
                </a:solidFill>
                <a:latin typeface="Montserrat"/>
              </a:defRPr>
            </a:pPr>
            <a:r>
              <a:rPr sz="1200" dirty="0"/>
              <a:t>B2B Deals + Carbon Credits</a:t>
            </a:r>
            <a:br>
              <a:rPr sz="1200" dirty="0"/>
            </a:br>
            <a:r>
              <a:rPr sz="1200" dirty="0"/>
              <a:t>Live APMC Mandi Price Ticker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750000" y="5200000"/>
            <a:ext cx="7800000" cy="3250000"/>
          </a:xfrm>
          <a:prstGeom prst="roundRect">
            <a:avLst/>
          </a:prstGeom>
          <a:solidFill>
            <a:srgbClr val="FCFAF6"/>
          </a:solidFill>
          <a:ln w="19050">
            <a:solidFill>
              <a:srgbClr val="B89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0000" tIns="160000" rIns="220000" bIns="160000" rtlCol="0" anchor="ctr"/>
          <a:lstStyle/>
          <a:p>
            <a:pPr algn="ctr">
              <a:spcAft>
                <a:spcPts val="500"/>
              </a:spcAft>
              <a:defRPr sz="1200" b="1">
                <a:solidFill>
                  <a:srgbClr val="182D36"/>
                </a:solidFill>
                <a:latin typeface="Montserrat Bold"/>
              </a:defRPr>
            </a:pPr>
            <a:r>
              <a:rPr sz="1200" dirty="0"/>
              <a:t>15-HOUR AGILE SPRINT ROADMAP (FEASIBILITY)</a:t>
            </a: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1200" b="1" dirty="0">
                <a:solidFill>
                  <a:srgbClr val="B8934A"/>
                </a:solidFill>
                <a:latin typeface="Montserrat Bold"/>
              </a:rPr>
              <a:t>• Hours 0 – 3: Architecture &amp; Vernacular Core: </a:t>
            </a:r>
            <a:r>
              <a:rPr sz="1200" dirty="0">
                <a:solidFill>
                  <a:srgbClr val="1E1E1E"/>
                </a:solidFill>
                <a:latin typeface="Montserrat"/>
              </a:rPr>
              <a:t>Scaffold Vite + React repo, implement responsive </a:t>
            </a:r>
            <a:r>
              <a:rPr sz="1200" dirty="0" err="1">
                <a:solidFill>
                  <a:srgbClr val="1E1E1E"/>
                </a:solidFill>
                <a:latin typeface="Montserrat"/>
              </a:rPr>
              <a:t>glassmorphism</a:t>
            </a:r>
            <a:r>
              <a:rPr sz="1200" dirty="0">
                <a:solidFill>
                  <a:srgbClr val="1E1E1E"/>
                </a:solidFill>
                <a:latin typeface="Montserrat"/>
              </a:rPr>
              <a:t> UI, configure 6-language i18n translation dictionary engine.</a:t>
            </a: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1200" b="1" dirty="0">
                <a:solidFill>
                  <a:srgbClr val="B8934A"/>
                </a:solidFill>
                <a:latin typeface="Montserrat Bold"/>
              </a:rPr>
              <a:t>• Hours 4 – 8: Marketplace &amp; Carbon Math: </a:t>
            </a:r>
            <a:r>
              <a:rPr sz="1200" dirty="0">
                <a:solidFill>
                  <a:srgbClr val="1E1E1E"/>
                </a:solidFill>
                <a:latin typeface="Montserrat"/>
              </a:rPr>
              <a:t>Build farmer residue listing flow, implement dynamic formula computing ₹ profit + CO₂ </a:t>
            </a:r>
            <a:r>
              <a:rPr sz="1200" dirty="0" err="1">
                <a:solidFill>
                  <a:srgbClr val="1E1E1E"/>
                </a:solidFill>
                <a:latin typeface="Montserrat"/>
              </a:rPr>
              <a:t>tonnes</a:t>
            </a:r>
            <a:r>
              <a:rPr sz="1200" dirty="0">
                <a:solidFill>
                  <a:srgbClr val="1E1E1E"/>
                </a:solidFill>
                <a:latin typeface="Montserrat"/>
              </a:rPr>
              <a:t> saved, and create buyer quote portal.</a:t>
            </a: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1200" b="1" dirty="0">
                <a:solidFill>
                  <a:srgbClr val="B8934A"/>
                </a:solidFill>
                <a:latin typeface="Montserrat Bold"/>
              </a:rPr>
              <a:t>• Hours 9 – 12: Voice AI &amp; AI Plant Doctor: </a:t>
            </a:r>
            <a:r>
              <a:rPr sz="1200" dirty="0">
                <a:solidFill>
                  <a:srgbClr val="1E1E1E"/>
                </a:solidFill>
                <a:latin typeface="Montserrat"/>
              </a:rPr>
              <a:t>Integrate Web Speech API for hands-free floating voice nav; implement HTML5 canvas laser scanner for disease diagnosis &amp; remedies.</a:t>
            </a: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1200" b="1" dirty="0">
                <a:solidFill>
                  <a:srgbClr val="B8934A"/>
                </a:solidFill>
                <a:latin typeface="Montserrat Bold"/>
              </a:rPr>
              <a:t>• Hours 13 – 15: Mandi Ticker, QA &amp; Live Deploy: </a:t>
            </a:r>
            <a:r>
              <a:rPr sz="1200" dirty="0">
                <a:solidFill>
                  <a:srgbClr val="1E1E1E"/>
                </a:solidFill>
                <a:latin typeface="Montserrat"/>
              </a:rPr>
              <a:t>Connect live APMC mandi price feeds, assemble carbon credit leaderboard, run end-to-end testing, and deploy live to Netlify CI/CD.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50000" y="5200000"/>
            <a:ext cx="6800000" cy="3250000"/>
          </a:xfrm>
          <a:prstGeom prst="roundRect">
            <a:avLst/>
          </a:prstGeom>
          <a:solidFill>
            <a:srgbClr val="FCFAF6"/>
          </a:solidFill>
          <a:ln w="19050">
            <a:solidFill>
              <a:srgbClr val="B89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0000" tIns="160000" rIns="220000" bIns="160000" rtlCol="0" anchor="ctr"/>
          <a:lstStyle/>
          <a:p>
            <a:pPr algn="ctr">
              <a:spcAft>
                <a:spcPts val="500"/>
              </a:spcAft>
              <a:defRPr sz="1200" b="1">
                <a:solidFill>
                  <a:srgbClr val="182D36"/>
                </a:solidFill>
                <a:latin typeface="Montserrat Bold"/>
              </a:defRPr>
            </a:pPr>
            <a:r>
              <a:rPr sz="1200" dirty="0"/>
              <a:t>TECHNOLOGY STACK &amp; TOOLS</a:t>
            </a: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1200" b="1" dirty="0">
                <a:solidFill>
                  <a:srgbClr val="166534"/>
                </a:solidFill>
                <a:latin typeface="Montserrat Bold"/>
              </a:rPr>
              <a:t>• Frontend UI / UX: </a:t>
            </a:r>
            <a:r>
              <a:rPr sz="1200" dirty="0">
                <a:solidFill>
                  <a:srgbClr val="1E1E1E"/>
                </a:solidFill>
                <a:latin typeface="Montserrat"/>
              </a:rPr>
              <a:t>React.js 18, Vite, CSS3, Tailwind, </a:t>
            </a:r>
            <a:r>
              <a:rPr sz="1200" dirty="0" err="1">
                <a:solidFill>
                  <a:srgbClr val="1E1E1E"/>
                </a:solidFill>
                <a:latin typeface="Montserrat"/>
              </a:rPr>
              <a:t>Glassmorphic</a:t>
            </a:r>
            <a:r>
              <a:rPr sz="1200" dirty="0">
                <a:solidFill>
                  <a:srgbClr val="1E1E1E"/>
                </a:solidFill>
                <a:latin typeface="Montserrat"/>
              </a:rPr>
              <a:t> responsive layouts.</a:t>
            </a: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1200" b="1" dirty="0">
                <a:solidFill>
                  <a:srgbClr val="166534"/>
                </a:solidFill>
                <a:latin typeface="Montserrat Bold"/>
              </a:rPr>
              <a:t>• Speech &amp; Device APIs: </a:t>
            </a:r>
            <a:r>
              <a:rPr sz="1200" dirty="0">
                <a:solidFill>
                  <a:srgbClr val="1E1E1E"/>
                </a:solidFill>
                <a:latin typeface="Montserrat"/>
              </a:rPr>
              <a:t>Web Speech API (</a:t>
            </a:r>
            <a:r>
              <a:rPr sz="1200" dirty="0" err="1">
                <a:solidFill>
                  <a:srgbClr val="1E1E1E"/>
                </a:solidFill>
                <a:latin typeface="Montserrat"/>
              </a:rPr>
              <a:t>SpeechRecognition</a:t>
            </a:r>
            <a:r>
              <a:rPr sz="1200" dirty="0">
                <a:solidFill>
                  <a:srgbClr val="1E1E1E"/>
                </a:solidFill>
                <a:latin typeface="Montserrat"/>
              </a:rPr>
              <a:t> &amp; Synthesis), </a:t>
            </a:r>
            <a:r>
              <a:rPr sz="1200" dirty="0" err="1">
                <a:solidFill>
                  <a:srgbClr val="1E1E1E"/>
                </a:solidFill>
                <a:latin typeface="Montserrat"/>
              </a:rPr>
              <a:t>MediaDevices</a:t>
            </a:r>
            <a:r>
              <a:rPr sz="1200" dirty="0">
                <a:solidFill>
                  <a:srgbClr val="1E1E1E"/>
                </a:solidFill>
                <a:latin typeface="Montserrat"/>
              </a:rPr>
              <a:t> API, </a:t>
            </a:r>
            <a:r>
              <a:rPr sz="1200" dirty="0" err="1">
                <a:solidFill>
                  <a:srgbClr val="1E1E1E"/>
                </a:solidFill>
                <a:latin typeface="Montserrat"/>
              </a:rPr>
              <a:t>FileReader</a:t>
            </a:r>
            <a:r>
              <a:rPr sz="1200" dirty="0">
                <a:solidFill>
                  <a:srgbClr val="1E1E1E"/>
                </a:solidFill>
                <a:latin typeface="Montserrat"/>
              </a:rPr>
              <a:t> API.</a:t>
            </a: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1200" b="1" dirty="0">
                <a:solidFill>
                  <a:srgbClr val="166534"/>
                </a:solidFill>
                <a:latin typeface="Montserrat Bold"/>
              </a:rPr>
              <a:t>• Computational Logic: </a:t>
            </a:r>
            <a:r>
              <a:rPr sz="1200" dirty="0">
                <a:solidFill>
                  <a:srgbClr val="1E1E1E"/>
                </a:solidFill>
                <a:latin typeface="Montserrat"/>
              </a:rPr>
              <a:t>Rule-based carbon offset formulas, GPS proximity filters, APMC mandi datasets.</a:t>
            </a: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1200" b="1" dirty="0">
                <a:solidFill>
                  <a:srgbClr val="166534"/>
                </a:solidFill>
                <a:latin typeface="Montserrat Bold"/>
              </a:rPr>
              <a:t>• Deployment &amp; DevOps: </a:t>
            </a:r>
            <a:r>
              <a:rPr sz="1200" dirty="0">
                <a:solidFill>
                  <a:srgbClr val="1E1E1E"/>
                </a:solidFill>
                <a:latin typeface="Montserrat"/>
              </a:rPr>
              <a:t>Netlify CI/CD, SSL encryption, Progressive Web App (PWA) offline caching</a:t>
            </a:r>
            <a:r>
              <a:rPr sz="919" dirty="0">
                <a:solidFill>
                  <a:srgbClr val="1E1E1E"/>
                </a:solidFill>
                <a:latin typeface="Montserrat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74252" cy="10279267"/>
          </a:xfrm>
          <a:custGeom>
            <a:avLst/>
            <a:gdLst/>
            <a:ahLst/>
            <a:cxnLst/>
            <a:rect l="l" t="t" r="r" b="b"/>
            <a:pathLst>
              <a:path w="18274252" h="10279267">
                <a:moveTo>
                  <a:pt x="0" y="0"/>
                </a:moveTo>
                <a:lnTo>
                  <a:pt x="18274252" y="0"/>
                </a:lnTo>
                <a:lnTo>
                  <a:pt x="18274252" y="10279267"/>
                </a:lnTo>
                <a:lnTo>
                  <a:pt x="0" y="102792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354215" y="3466235"/>
            <a:ext cx="15593317" cy="5144901"/>
            <a:chOff x="0" y="0"/>
            <a:chExt cx="4106882" cy="135503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106882" cy="1355036"/>
            </a:xfrm>
            <a:custGeom>
              <a:avLst/>
              <a:gdLst/>
              <a:ahLst/>
              <a:cxnLst/>
              <a:rect l="l" t="t" r="r" b="b"/>
              <a:pathLst>
                <a:path w="4106882" h="1355036">
                  <a:moveTo>
                    <a:pt x="25321" y="0"/>
                  </a:moveTo>
                  <a:lnTo>
                    <a:pt x="4081561" y="0"/>
                  </a:lnTo>
                  <a:cubicBezTo>
                    <a:pt x="4088276" y="0"/>
                    <a:pt x="4094717" y="2668"/>
                    <a:pt x="4099466" y="7416"/>
                  </a:cubicBezTo>
                  <a:cubicBezTo>
                    <a:pt x="4104214" y="12165"/>
                    <a:pt x="4106882" y="18605"/>
                    <a:pt x="4106882" y="25321"/>
                  </a:cubicBezTo>
                  <a:lnTo>
                    <a:pt x="4106882" y="1329715"/>
                  </a:lnTo>
                  <a:cubicBezTo>
                    <a:pt x="4106882" y="1336430"/>
                    <a:pt x="4104214" y="1342871"/>
                    <a:pt x="4099466" y="1347619"/>
                  </a:cubicBezTo>
                  <a:cubicBezTo>
                    <a:pt x="4094717" y="1352368"/>
                    <a:pt x="4088276" y="1355036"/>
                    <a:pt x="4081561" y="1355036"/>
                  </a:cubicBezTo>
                  <a:lnTo>
                    <a:pt x="25321" y="1355036"/>
                  </a:lnTo>
                  <a:cubicBezTo>
                    <a:pt x="11337" y="1355036"/>
                    <a:pt x="0" y="1343699"/>
                    <a:pt x="0" y="1329715"/>
                  </a:cubicBezTo>
                  <a:lnTo>
                    <a:pt x="0" y="25321"/>
                  </a:lnTo>
                  <a:cubicBezTo>
                    <a:pt x="0" y="18605"/>
                    <a:pt x="2668" y="12165"/>
                    <a:pt x="7416" y="7416"/>
                  </a:cubicBezTo>
                  <a:cubicBezTo>
                    <a:pt x="12165" y="2668"/>
                    <a:pt x="18605" y="0"/>
                    <a:pt x="25321" y="0"/>
                  </a:cubicBezTo>
                  <a:close/>
                </a:path>
              </a:pathLst>
            </a:custGeom>
            <a:solidFill>
              <a:srgbClr val="D1A85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106882" cy="13931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349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482439" y="4175716"/>
            <a:ext cx="15196719" cy="317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50" lvl="1" indent="-485775" algn="l">
              <a:lnSpc>
                <a:spcPts val="6299"/>
              </a:lnSpc>
              <a:buFont typeface="Arial"/>
              <a:buChar char="•"/>
            </a:pPr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0" y="10092690"/>
            <a:ext cx="18288000" cy="194310"/>
          </a:xfrm>
          <a:custGeom>
            <a:avLst/>
            <a:gdLst/>
            <a:ahLst/>
            <a:cxnLst/>
            <a:rect l="l" t="t" r="r" b="b"/>
            <a:pathLst>
              <a:path w="18288000" h="194310">
                <a:moveTo>
                  <a:pt x="0" y="0"/>
                </a:moveTo>
                <a:lnTo>
                  <a:pt x="18288000" y="0"/>
                </a:lnTo>
                <a:lnTo>
                  <a:pt x="18288000" y="194310"/>
                </a:lnTo>
                <a:lnTo>
                  <a:pt x="0" y="1943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2079692" y="1839839"/>
            <a:ext cx="14128616" cy="916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78"/>
              </a:lnSpc>
              <a:spcBef>
                <a:spcPct val="0"/>
              </a:spcBef>
            </a:pPr>
            <a:r>
              <a:rPr lang="en-US" sz="5341">
                <a:solidFill>
                  <a:srgbClr val="000000"/>
                </a:solidFill>
                <a:latin typeface="Mokoto"/>
                <a:ea typeface="Mokoto"/>
                <a:cs typeface="Mokoto"/>
                <a:sym typeface="Mokoto"/>
              </a:rPr>
              <a:t>Impact &amp; Future Potential​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2685895" y="373031"/>
            <a:ext cx="5341043" cy="625068"/>
            <a:chOff x="0" y="0"/>
            <a:chExt cx="7121391" cy="833423"/>
          </a:xfrm>
        </p:grpSpPr>
        <p:sp>
          <p:nvSpPr>
            <p:cNvPr id="10" name="Freeform 10"/>
            <p:cNvSpPr/>
            <p:nvPr/>
          </p:nvSpPr>
          <p:spPr>
            <a:xfrm>
              <a:off x="4980572" y="0"/>
              <a:ext cx="2140819" cy="833423"/>
            </a:xfrm>
            <a:custGeom>
              <a:avLst/>
              <a:gdLst/>
              <a:ahLst/>
              <a:cxnLst/>
              <a:rect l="l" t="t" r="r" b="b"/>
              <a:pathLst>
                <a:path w="2140819" h="833423">
                  <a:moveTo>
                    <a:pt x="0" y="0"/>
                  </a:moveTo>
                  <a:lnTo>
                    <a:pt x="2140819" y="0"/>
                  </a:lnTo>
                  <a:lnTo>
                    <a:pt x="2140819" y="833423"/>
                  </a:lnTo>
                  <a:lnTo>
                    <a:pt x="0" y="833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49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0"/>
              <a:ext cx="1419945" cy="833423"/>
            </a:xfrm>
            <a:custGeom>
              <a:avLst/>
              <a:gdLst/>
              <a:ahLst/>
              <a:cxnLst/>
              <a:rect l="l" t="t" r="r" b="b"/>
              <a:pathLst>
                <a:path w="1419945" h="833423">
                  <a:moveTo>
                    <a:pt x="0" y="0"/>
                  </a:moveTo>
                  <a:lnTo>
                    <a:pt x="1419945" y="0"/>
                  </a:lnTo>
                  <a:lnTo>
                    <a:pt x="1419945" y="833423"/>
                  </a:lnTo>
                  <a:lnTo>
                    <a:pt x="0" y="833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7178" t="-112928" r="-13043" b="-10092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2007209" y="0"/>
              <a:ext cx="2391618" cy="833423"/>
            </a:xfrm>
            <a:custGeom>
              <a:avLst/>
              <a:gdLst/>
              <a:ahLst/>
              <a:cxnLst/>
              <a:rect l="l" t="t" r="r" b="b"/>
              <a:pathLst>
                <a:path w="2391618" h="833423">
                  <a:moveTo>
                    <a:pt x="0" y="0"/>
                  </a:moveTo>
                  <a:lnTo>
                    <a:pt x="2391618" y="0"/>
                  </a:lnTo>
                  <a:lnTo>
                    <a:pt x="2391618" y="833423"/>
                  </a:lnTo>
                  <a:lnTo>
                    <a:pt x="0" y="833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1901" t="-120981" r="-6347" b="-11834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43820" y="241157"/>
              <a:ext cx="361740" cy="322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59"/>
                </a:lnSpc>
                <a:spcBef>
                  <a:spcPct val="0"/>
                </a:spcBef>
              </a:pPr>
              <a:r>
                <a:rPr lang="en-US" sz="1471">
                  <a:solidFill>
                    <a:srgbClr val="000000"/>
                  </a:solidFill>
                  <a:latin typeface="Bicubik"/>
                  <a:ea typeface="Bicubik"/>
                  <a:cs typeface="Bicubik"/>
                  <a:sym typeface="Bicubik"/>
                </a:rPr>
                <a:t>X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98827" y="241157"/>
              <a:ext cx="361740" cy="322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59"/>
                </a:lnSpc>
                <a:spcBef>
                  <a:spcPct val="0"/>
                </a:spcBef>
              </a:pPr>
              <a:r>
                <a:rPr lang="en-US" sz="1471">
                  <a:solidFill>
                    <a:srgbClr val="000000"/>
                  </a:solidFill>
                  <a:latin typeface="Bicubik"/>
                  <a:ea typeface="Bicubik"/>
                  <a:cs typeface="Bicubik"/>
                  <a:sym typeface="Bicubik"/>
                </a:rPr>
                <a:t>X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168180" y="232318"/>
            <a:ext cx="2648848" cy="1379161"/>
          </a:xfrm>
          <a:custGeom>
            <a:avLst/>
            <a:gdLst/>
            <a:ahLst/>
            <a:cxnLst/>
            <a:rect l="l" t="t" r="r" b="b"/>
            <a:pathLst>
              <a:path w="2648848" h="1379161">
                <a:moveTo>
                  <a:pt x="0" y="0"/>
                </a:moveTo>
                <a:lnTo>
                  <a:pt x="2648848" y="0"/>
                </a:lnTo>
                <a:lnTo>
                  <a:pt x="2648848" y="1379162"/>
                </a:lnTo>
                <a:lnTo>
                  <a:pt x="0" y="13791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9355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2000000" y="2900000"/>
            <a:ext cx="14288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8934A"/>
                </a:solidFill>
                <a:latin typeface="Montserrat Bold"/>
              </a:defRPr>
            </a:pPr>
            <a:r>
              <a:t>Socio-Economic Value Creation, Decarbonization Metrics &amp; Post-Hackathon Vision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00000" y="3650000"/>
            <a:ext cx="4650000" cy="4600000"/>
          </a:xfrm>
          <a:prstGeom prst="roundRect">
            <a:avLst/>
          </a:prstGeom>
          <a:solidFill>
            <a:srgbClr val="FCFAF6"/>
          </a:solidFill>
          <a:ln w="19050">
            <a:solidFill>
              <a:srgbClr val="B89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0" tIns="180000" rIns="200000" bIns="180000" rtlCol="0" anchor="ctr"/>
          <a:lstStyle/>
          <a:p>
            <a:pPr algn="ctr">
              <a:spcAft>
                <a:spcPts val="200"/>
              </a:spcAft>
              <a:defRPr sz="1300" b="1">
                <a:solidFill>
                  <a:srgbClr val="166534"/>
                </a:solidFill>
                <a:latin typeface="Montserrat Bold"/>
              </a:defRPr>
            </a:pPr>
            <a:r>
              <a:rPr sz="1200" dirty="0"/>
              <a:t>1. WHO BENEFITS?</a:t>
            </a:r>
          </a:p>
          <a:p>
            <a:pPr algn="ctr">
              <a:spcAft>
                <a:spcPts val="1000"/>
              </a:spcAft>
              <a:defRPr sz="950" b="1">
                <a:solidFill>
                  <a:srgbClr val="B8934A"/>
                </a:solidFill>
                <a:latin typeface="Montserrat Bold"/>
              </a:defRPr>
            </a:pPr>
            <a:r>
              <a:rPr sz="1200" dirty="0"/>
              <a:t>[MULTI-STAKEHOLDER VALUE]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200" b="1" dirty="0">
                <a:solidFill>
                  <a:srgbClr val="1E1E1E"/>
                </a:solidFill>
                <a:latin typeface="Montserrat Bold"/>
              </a:rPr>
              <a:t>• Smallholder Farmers: </a:t>
            </a:r>
            <a:r>
              <a:rPr sz="1200" dirty="0">
                <a:solidFill>
                  <a:srgbClr val="3C3C3C"/>
                </a:solidFill>
                <a:latin typeface="Montserrat"/>
              </a:rPr>
              <a:t>Earn ₹15,000–₹25,000 supplementary income per harvest season from upcycled residue; eliminate middleman commission loss.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200" b="1" dirty="0">
                <a:solidFill>
                  <a:srgbClr val="1E1E1E"/>
                </a:solidFill>
                <a:latin typeface="Montserrat Bold"/>
              </a:rPr>
              <a:t>• Industrial Biomass Buyers: </a:t>
            </a:r>
            <a:r>
              <a:rPr sz="1200" dirty="0">
                <a:solidFill>
                  <a:srgbClr val="3C3C3C"/>
                </a:solidFill>
                <a:latin typeface="Montserrat"/>
              </a:rPr>
              <a:t>Secure a predictable, traceable supply of </a:t>
            </a:r>
            <a:r>
              <a:rPr sz="1200" dirty="0" err="1">
                <a:solidFill>
                  <a:srgbClr val="3C3C3C"/>
                </a:solidFill>
                <a:latin typeface="Montserrat"/>
              </a:rPr>
              <a:t>agro</a:t>
            </a:r>
            <a:r>
              <a:rPr sz="1200" dirty="0">
                <a:solidFill>
                  <a:srgbClr val="3C3C3C"/>
                </a:solidFill>
                <a:latin typeface="Montserrat"/>
              </a:rPr>
              <a:t>-waste feedstock for bio-energy, paper pulp, and sustainable packaging at lower haulage costs.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200" b="1" dirty="0">
                <a:solidFill>
                  <a:srgbClr val="1E1E1E"/>
                </a:solidFill>
                <a:latin typeface="Montserrat Bold"/>
              </a:rPr>
              <a:t>• Rural Society &amp; Public Health: </a:t>
            </a:r>
            <a:r>
              <a:rPr sz="1200" dirty="0">
                <a:solidFill>
                  <a:srgbClr val="3C3C3C"/>
                </a:solidFill>
                <a:latin typeface="Montserrat"/>
              </a:rPr>
              <a:t>Curbs seasonal smog crises and PM2.5 emissions; preserves soil microbial ecology damaged by open field fires.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0000" y="3650000"/>
            <a:ext cx="4650000" cy="4600000"/>
          </a:xfrm>
          <a:prstGeom prst="roundRect">
            <a:avLst/>
          </a:prstGeom>
          <a:solidFill>
            <a:srgbClr val="FCFAF6"/>
          </a:solidFill>
          <a:ln w="19050">
            <a:solidFill>
              <a:srgbClr val="B89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0" tIns="180000" rIns="200000" bIns="180000" rtlCol="0" anchor="ctr"/>
          <a:lstStyle/>
          <a:p>
            <a:pPr algn="ctr">
              <a:spcAft>
                <a:spcPts val="200"/>
              </a:spcAft>
              <a:defRPr sz="1300" b="1">
                <a:solidFill>
                  <a:srgbClr val="B8934A"/>
                </a:solidFill>
                <a:latin typeface="Montserrat Bold"/>
              </a:defRPr>
            </a:pPr>
            <a:r>
              <a:rPr sz="1200" dirty="0"/>
              <a:t>2. QUANTIFIED IMPACT</a:t>
            </a:r>
          </a:p>
          <a:p>
            <a:pPr algn="ctr">
              <a:spcAft>
                <a:spcPts val="1000"/>
              </a:spcAft>
              <a:defRPr sz="950" b="1">
                <a:solidFill>
                  <a:srgbClr val="B8934A"/>
                </a:solidFill>
                <a:latin typeface="Montserrat Bold"/>
              </a:defRPr>
            </a:pPr>
            <a:r>
              <a:rPr sz="1200" dirty="0"/>
              <a:t>[MEASURABLE ECOLOGICAL METRICS]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200" b="1" dirty="0">
                <a:solidFill>
                  <a:srgbClr val="1E1E1E"/>
                </a:solidFill>
                <a:latin typeface="Montserrat Bold"/>
              </a:rPr>
              <a:t>• 10,000+ </a:t>
            </a:r>
            <a:r>
              <a:rPr sz="1200" b="1" dirty="0" err="1">
                <a:solidFill>
                  <a:srgbClr val="1E1E1E"/>
                </a:solidFill>
                <a:latin typeface="Montserrat Bold"/>
              </a:rPr>
              <a:t>Tonnes</a:t>
            </a:r>
            <a:r>
              <a:rPr sz="1200" b="1" dirty="0">
                <a:solidFill>
                  <a:srgbClr val="1E1E1E"/>
                </a:solidFill>
                <a:latin typeface="Montserrat Bold"/>
              </a:rPr>
              <a:t> Stubble: </a:t>
            </a:r>
            <a:r>
              <a:rPr sz="1200" dirty="0">
                <a:solidFill>
                  <a:srgbClr val="3C3C3C"/>
                </a:solidFill>
                <a:latin typeface="Montserrat"/>
              </a:rPr>
              <a:t>Diverted from open combustion per agricultural cluster annually.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200" b="1" dirty="0">
                <a:solidFill>
                  <a:srgbClr val="1E1E1E"/>
                </a:solidFill>
                <a:latin typeface="Montserrat Bold"/>
              </a:rPr>
              <a:t>• 15,000+ </a:t>
            </a:r>
            <a:r>
              <a:rPr sz="1200" b="1" dirty="0" err="1">
                <a:solidFill>
                  <a:srgbClr val="1E1E1E"/>
                </a:solidFill>
                <a:latin typeface="Montserrat Bold"/>
              </a:rPr>
              <a:t>Tonnes</a:t>
            </a:r>
            <a:r>
              <a:rPr sz="1200" b="1" dirty="0">
                <a:solidFill>
                  <a:srgbClr val="1E1E1E"/>
                </a:solidFill>
                <a:latin typeface="Montserrat Bold"/>
              </a:rPr>
              <a:t> </a:t>
            </a:r>
            <a:r>
              <a:rPr sz="1200" b="1" dirty="0" err="1">
                <a:solidFill>
                  <a:srgbClr val="1E1E1E"/>
                </a:solidFill>
                <a:latin typeface="Montserrat Bold"/>
              </a:rPr>
              <a:t>CO₂e</a:t>
            </a:r>
            <a:r>
              <a:rPr sz="1200" b="1" dirty="0">
                <a:solidFill>
                  <a:srgbClr val="1E1E1E"/>
                </a:solidFill>
                <a:latin typeface="Montserrat Bold"/>
              </a:rPr>
              <a:t>: </a:t>
            </a:r>
            <a:r>
              <a:rPr sz="1200" dirty="0">
                <a:solidFill>
                  <a:srgbClr val="3C3C3C"/>
                </a:solidFill>
                <a:latin typeface="Montserrat"/>
              </a:rPr>
              <a:t>Greenhouse gas emissions abated, aligning with India's Net-Zero climate mission.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200" b="1" dirty="0">
                <a:solidFill>
                  <a:srgbClr val="1E1E1E"/>
                </a:solidFill>
                <a:latin typeface="Montserrat Bold"/>
              </a:rPr>
              <a:t>• +25% to 35% Income Uplift: </a:t>
            </a:r>
            <a:r>
              <a:rPr sz="1200" dirty="0">
                <a:solidFill>
                  <a:srgbClr val="3C3C3C"/>
                </a:solidFill>
                <a:latin typeface="Montserrat"/>
              </a:rPr>
              <a:t>Direct economic empowerment injected into rural farming households.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200" b="1" dirty="0">
                <a:solidFill>
                  <a:srgbClr val="1E1E1E"/>
                </a:solidFill>
                <a:latin typeface="Montserrat Bold"/>
              </a:rPr>
              <a:t>• 100% Linguistic Inclusion: </a:t>
            </a:r>
            <a:r>
              <a:rPr sz="1200" dirty="0">
                <a:solidFill>
                  <a:srgbClr val="3C3C3C"/>
                </a:solidFill>
                <a:latin typeface="Montserrat"/>
              </a:rPr>
              <a:t>Zero-literacy voice interface enabling democratic access for all rural demographics.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900000" y="3650000"/>
            <a:ext cx="4650000" cy="4600000"/>
          </a:xfrm>
          <a:prstGeom prst="roundRect">
            <a:avLst/>
          </a:prstGeom>
          <a:solidFill>
            <a:srgbClr val="FCFAF6"/>
          </a:solidFill>
          <a:ln w="19050">
            <a:solidFill>
              <a:srgbClr val="B89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0" tIns="180000" rIns="200000" bIns="180000" rtlCol="0" anchor="ctr"/>
          <a:lstStyle/>
          <a:p>
            <a:pPr algn="ctr">
              <a:spcAft>
                <a:spcPts val="200"/>
              </a:spcAft>
              <a:defRPr sz="1300" b="1">
                <a:solidFill>
                  <a:srgbClr val="182D36"/>
                </a:solidFill>
                <a:latin typeface="Montserrat Bold"/>
              </a:defRPr>
            </a:pPr>
            <a:r>
              <a:rPr sz="1200" dirty="0"/>
              <a:t>3. FUTURE VISION &amp; ROADMAP</a:t>
            </a:r>
          </a:p>
          <a:p>
            <a:pPr algn="ctr">
              <a:spcAft>
                <a:spcPts val="1000"/>
              </a:spcAft>
              <a:defRPr sz="950" b="1">
                <a:solidFill>
                  <a:srgbClr val="B8934A"/>
                </a:solidFill>
                <a:latin typeface="Montserrat Bold"/>
              </a:defRPr>
            </a:pPr>
            <a:r>
              <a:rPr sz="1200" dirty="0"/>
              <a:t>[SCALING BEYOND 15-HOUR MVP]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200" b="1" dirty="0">
                <a:solidFill>
                  <a:srgbClr val="1E1E1E"/>
                </a:solidFill>
                <a:latin typeface="Montserrat Bold"/>
              </a:rPr>
              <a:t>• Phase 1 - Field Pilot: </a:t>
            </a:r>
            <a:r>
              <a:rPr sz="1200" dirty="0">
                <a:solidFill>
                  <a:srgbClr val="3C3C3C"/>
                </a:solidFill>
                <a:latin typeface="Montserrat"/>
              </a:rPr>
              <a:t>Partner with 5 Farmer Producer Organizations (FPOs) across Karnataka &amp; Punjab to onboard 1,000+ active farmers.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200" b="1" dirty="0">
                <a:solidFill>
                  <a:srgbClr val="1E1E1E"/>
                </a:solidFill>
                <a:latin typeface="Montserrat Bold"/>
              </a:rPr>
              <a:t>• Phase 2 - Offline Edge AI: </a:t>
            </a:r>
            <a:r>
              <a:rPr sz="1200" dirty="0">
                <a:solidFill>
                  <a:srgbClr val="3C3C3C"/>
                </a:solidFill>
                <a:latin typeface="Montserrat"/>
              </a:rPr>
              <a:t>Deploy quantized lightweight computer vision models (TensorFlow Lite) for 100% offline plant diagnosis in remote fields.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200" b="1" dirty="0">
                <a:solidFill>
                  <a:srgbClr val="1E1E1E"/>
                </a:solidFill>
                <a:latin typeface="Montserrat Bold"/>
              </a:rPr>
              <a:t>• Phase 3 - Carbon Finance: </a:t>
            </a:r>
            <a:r>
              <a:rPr sz="1200" dirty="0">
                <a:solidFill>
                  <a:srgbClr val="3C3C3C"/>
                </a:solidFill>
                <a:latin typeface="Montserrat"/>
              </a:rPr>
              <a:t>Tokenize verified emissions offsets into certified carbon credits for direct corporate ESG compliance trading.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1627</Words>
  <Application>Microsoft Office PowerPoint</Application>
  <PresentationFormat>Custom</PresentationFormat>
  <Paragraphs>134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Montserrat Bold</vt:lpstr>
      <vt:lpstr>Bicubik</vt:lpstr>
      <vt:lpstr>Arial</vt:lpstr>
      <vt:lpstr>Calibri</vt:lpstr>
      <vt:lpstr>Mokoto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Argonyx'26-PPT</dc:title>
  <dc:creator>Prakruthi Devanga</dc:creator>
  <cp:lastModifiedBy>Prakruthi Devanga</cp:lastModifiedBy>
  <cp:revision>2</cp:revision>
  <dcterms:created xsi:type="dcterms:W3CDTF">2006-08-16T00:00:00Z</dcterms:created>
  <dcterms:modified xsi:type="dcterms:W3CDTF">2026-09-11T18:04:12Z</dcterms:modified>
  <dc:identifier>DAHUHZnmQhw</dc:identifier>
</cp:coreProperties>
</file>